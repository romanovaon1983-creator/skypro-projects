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3" r:id="rId9"/>
    <p:sldId id="284" r:id="rId10"/>
    <p:sldId id="282" r:id="rId11"/>
    <p:sldId id="275" r:id="rId12"/>
    <p:sldId id="285" r:id="rId13"/>
    <p:sldId id="27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андр Фунтов" initials="АФ" lastIdx="1" clrIdx="0">
    <p:extLst>
      <p:ext uri="{19B8F6BF-5375-455C-9EA6-DF929625EA0E}">
        <p15:presenceInfo xmlns:p15="http://schemas.microsoft.com/office/powerpoint/2012/main" userId="01b599af3d433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CCFFFF"/>
    <a:srgbClr val="0066FF"/>
    <a:srgbClr val="333399"/>
    <a:srgbClr val="C9FFF1"/>
    <a:srgbClr val="9933FF"/>
    <a:srgbClr val="FF9900"/>
    <a:srgbClr val="CC6600"/>
    <a:srgbClr val="FFCC00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0"/>
  </p:normalViewPr>
  <p:slideViewPr>
    <p:cSldViewPr snapToGrid="0">
      <p:cViewPr>
        <p:scale>
          <a:sx n="125" d="100"/>
          <a:sy n="12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60D62BE-2249-43E9-ACFC-9A1E45AEBE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85EBA1-2475-4D83-B553-36225D7424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8C196-DA73-4A65-A99E-179246111B2E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320B46-4868-44FA-B355-056E598778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2226E9-C082-4BCE-A631-F6274FD94E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784C9-0000-4056-9659-72BBE2301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827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26FD8-D575-4668-B407-310C6FB55AB4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FB6EC-DDA5-4D2B-A68A-757D400047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1911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1BF97-9715-4478-BBB2-D3159D944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71BC2A-2293-44DC-A51A-D1E2538CE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D8E653-70D1-4458-85C6-0A89917C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FFB610-4419-410A-A0FE-EFAC977E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92828D-5D3B-46A2-84D4-EEBAC875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3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CD530-2EAE-426B-889A-362190E2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AEEA1C-D3C8-44A4-9C70-E771FB2CE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F32D70-87B8-47F1-A065-304597A3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C49193-9341-438B-8A1E-1F617C5D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3F3720-2E8C-4120-836F-B77F12D2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85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B2E9F-DDD4-4728-96C8-479B724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D1D51E-EDBF-4462-A326-A099FEEA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2C7BE8-8C7E-4F47-AE5B-1F503640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C08F54-7F65-41E4-8726-E5C5B476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3CC13B-D8F9-48E9-BD03-6C7790AD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95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12F66-0D9C-49D8-9199-1B907912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E8584-E504-4B2E-B319-7BD3387A9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B3B363-CFDA-4F5E-B64E-9BE1D556C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D77171-AD29-4BA7-9AC8-D2157E84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F8784E-3D09-49DD-8BDC-E32B370A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E416A4-3B65-4860-9125-90C97E6E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49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7AB66-9835-442E-8AEC-C9C3E1CD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91A4AC-9D49-4800-89C0-0F9971398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5024BC-6DAB-4E98-820C-4C9989AF4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DD9610-C478-4E47-B0CF-9A7584B5F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07ED1D-D675-468F-B619-2E791A8F0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71901C-6C4B-4338-BFD8-2164C635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89288-8C5D-4A98-982D-AF6BBB64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4C19A8-155D-4B77-A7BA-C3F8CF8F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91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9F3B-0966-4F0A-802A-0A4CE775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FD9E1A-6F85-484C-8CF5-BB2C8B32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B318F8-F2DD-44A1-B3FB-92EC4F10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8ADA1C-3F3C-41E7-9B9F-7972AF9E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93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A14681-37AC-4A4C-A514-CFA8328D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0E66F9-2B53-4403-99CE-811C4258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23BF80-6017-4F22-87F8-A22FF461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75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922A6-8939-4A4F-9262-8B0C48F4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75A97A-3326-4F34-8FFE-B810D57A9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009FD1-0C4B-4F4F-978B-67A1D71BA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C99AB-FA25-4B37-96CB-562592F6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CA45FD-7C87-4E8A-AD0C-1F1F81277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DF59B8-01AA-4158-BE82-8197EB3D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6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D0C3D-988A-4772-9FA0-2DD059DB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C8C480-4FEA-4C28-BCD4-9C178AC07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2B516C-60D3-4160-A9CD-D03776945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F9E974-44B0-411C-A657-6C66C94D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2EED9C-C87E-4770-ACD3-38F0F67F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1A184-DB64-46D9-A3EB-F725846D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71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4BBC9-10F7-49BC-BB85-05C98F7A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95021D-0FE9-4DD4-AFEF-AE1BF7C6E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FD7C3-2C5E-4930-9958-C02A8AE7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D93686-6BFC-4D00-B37B-A80CC18F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2920A8-7422-4C7C-A6BA-A83DB9AF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28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699179-795E-4F16-AFEA-E88A9C756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37B997-8A04-469B-97A8-79BF103F1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6B8483-03D8-4781-9C82-5DB4F9CD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A15BA3-8985-4837-97D1-E8944FE8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7F1405-908F-4B96-87B2-CB8AE2A4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30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2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5D661-A55A-44B4-89BE-63DF94D5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6C7561-29F5-42C2-90AB-95B7440E9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CAE801-14FA-47EE-AF4C-F1F7D3396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2173F-A424-4BB6-AA2C-ECEE83F37A8C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C424CA-0D23-4A85-B640-DE90E9AF2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514A6D-EA52-410C-9781-027A36770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A4121-6301-4835-BA69-AC75EE1B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78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458368" y="1742567"/>
            <a:ext cx="11343477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5C2C03C-46E7-4B57-9F7B-D45218F2780E}"/>
              </a:ext>
            </a:extLst>
          </p:cNvPr>
          <p:cNvCxnSpPr>
            <a:cxnSpLocks/>
          </p:cNvCxnSpPr>
          <p:nvPr/>
        </p:nvCxnSpPr>
        <p:spPr>
          <a:xfrm flipV="1">
            <a:off x="9790452" y="266603"/>
            <a:ext cx="3431" cy="642183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267769" y="583962"/>
            <a:ext cx="95744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результатов A/B-теста в приложении </a:t>
            </a:r>
          </a:p>
          <a:p>
            <a:pPr algn="ctr"/>
            <a:r>
              <a:rPr lang="ru-RU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ретейлера SkyLenta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10153653" y="3486080"/>
            <a:ext cx="2092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</a:t>
            </a:r>
            <a:r>
              <a:rPr lang="en-US" sz="11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проекта: студент курса «Аналитик данных»</a:t>
            </a:r>
          </a:p>
          <a:p>
            <a:pPr algn="ctr"/>
            <a:endParaRPr lang="ru-RU" sz="1100" b="1" dirty="0">
              <a:solidFill>
                <a:srgbClr val="6666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1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Фунтова О.</a:t>
            </a:r>
          </a:p>
        </p:txBody>
      </p:sp>
      <p:graphicFrame>
        <p:nvGraphicFramePr>
          <p:cNvPr id="22" name="Таблица 22">
            <a:extLst>
              <a:ext uri="{FF2B5EF4-FFF2-40B4-BE49-F238E27FC236}">
                <a16:creationId xmlns:a16="http://schemas.microsoft.com/office/drawing/2014/main" id="{BAD2E598-5A31-4FE1-BFCA-A9D586417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15821"/>
              </p:ext>
            </p:extLst>
          </p:nvPr>
        </p:nvGraphicFramePr>
        <p:xfrm>
          <a:off x="1863543" y="2832543"/>
          <a:ext cx="6395735" cy="365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334">
                  <a:extLst>
                    <a:ext uri="{9D8B030D-6E8A-4147-A177-3AD203B41FA5}">
                      <a16:colId xmlns:a16="http://schemas.microsoft.com/office/drawing/2014/main" val="713448914"/>
                    </a:ext>
                  </a:extLst>
                </a:gridCol>
                <a:gridCol w="5581401">
                  <a:extLst>
                    <a:ext uri="{9D8B030D-6E8A-4147-A177-3AD203B41FA5}">
                      <a16:colId xmlns:a16="http://schemas.microsoft.com/office/drawing/2014/main" val="1201963320"/>
                    </a:ext>
                  </a:extLst>
                </a:gridCol>
              </a:tblGrid>
              <a:tr h="47166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 1.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Постановка задачи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b="0" baseline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840373"/>
                  </a:ext>
                </a:extLst>
              </a:tr>
              <a:tr h="48623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 2.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Предобработка и </a:t>
                      </a:r>
                      <a:r>
                        <a:rPr lang="en-US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EDA</a:t>
                      </a:r>
                      <a:endParaRPr lang="ru-RU" sz="1600" b="0" baseline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lang="ru-RU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826091"/>
                  </a:ext>
                </a:extLst>
              </a:tr>
              <a:tr h="48623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3. 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Статистическая проверка гипотез</a:t>
                      </a:r>
                    </a:p>
                    <a:p>
                      <a:pPr algn="l"/>
                      <a:endParaRPr lang="ru-RU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056044"/>
                  </a:ext>
                </a:extLst>
              </a:tr>
              <a:tr h="48623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4. 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Сегментация результатов </a:t>
                      </a:r>
                      <a:r>
                        <a:rPr lang="en-US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A/B-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тестирования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86055923"/>
                  </a:ext>
                </a:extLst>
              </a:tr>
              <a:tr h="8956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5. 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Экономический эффект (калькулятор)</a:t>
                      </a:r>
                      <a:endParaRPr lang="en-US" sz="1600" b="1" baseline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baseline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ru-RU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1600" b="1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b="0" baseline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Итоги и рекомендации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lang="ru-RU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837463"/>
                  </a:ext>
                </a:extLst>
              </a:tr>
              <a:tr h="307096"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ru-RU" sz="18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7777068"/>
                  </a:ext>
                </a:extLst>
              </a:tr>
            </a:tbl>
          </a:graphicData>
        </a:graphic>
      </p:graphicFrame>
      <p:pic>
        <p:nvPicPr>
          <p:cNvPr id="37" name="Рисунок 36" descr="Квадратная академическая шапочка со сплошной заливкой">
            <a:extLst>
              <a:ext uri="{FF2B5EF4-FFF2-40B4-BE49-F238E27FC236}">
                <a16:creationId xmlns:a16="http://schemas.microsoft.com/office/drawing/2014/main" id="{67724652-D1B6-49FF-B2A4-D39B93E430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8919" y="810079"/>
            <a:ext cx="550105" cy="5501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10551407" y="1191818"/>
            <a:ext cx="945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Skypro</a:t>
            </a:r>
            <a:endParaRPr lang="ru-RU" sz="1300" b="1" dirty="0">
              <a:solidFill>
                <a:srgbClr val="6666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4463359" y="6466167"/>
            <a:ext cx="11832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9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Апрель</a:t>
            </a:r>
            <a:r>
              <a:rPr lang="ru-RU" sz="900" b="1" dirty="0">
                <a:solidFill>
                  <a:srgbClr val="666633"/>
                </a:solidFill>
                <a:latin typeface="Sylfaen" panose="010A0502050306030303" pitchFamily="18" charset="0"/>
              </a:rPr>
              <a:t> </a:t>
            </a:r>
            <a:r>
              <a:rPr lang="ru-RU" sz="9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r>
              <a:rPr lang="ru-RU" sz="900" b="1" dirty="0">
                <a:solidFill>
                  <a:srgbClr val="666633"/>
                </a:solidFill>
                <a:latin typeface="Sylfaen" panose="010A0502050306030303" pitchFamily="18" charset="0"/>
              </a:rPr>
              <a:t> г.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10153654" y="2151022"/>
            <a:ext cx="2092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Дипломная работа</a:t>
            </a:r>
            <a:r>
              <a:rPr lang="en-US" sz="14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A/B</a:t>
            </a:r>
            <a:r>
              <a:rPr lang="ru-RU" sz="14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-тесты.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1232096" y="1947066"/>
            <a:ext cx="765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10076985" y="5850764"/>
            <a:ext cx="18939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Инструменты: </a:t>
            </a:r>
            <a:r>
              <a:rPr lang="en-US" sz="9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(Pandas, Numpy, Matplotlib, Seaborn, Scipy), Excel</a:t>
            </a:r>
            <a:r>
              <a:rPr lang="ru-RU" sz="900" b="1" dirty="0">
                <a:solidFill>
                  <a:srgbClr val="666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278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88353" y="93442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</a:t>
            </a:r>
            <a:r>
              <a:rPr lang="ru-RU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41730" y="6134070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D223CC-F3D4-42D2-98B7-85ABCE39CC18}"/>
              </a:ext>
            </a:extLst>
          </p:cNvPr>
          <p:cNvSpPr txBox="1"/>
          <p:nvPr/>
        </p:nvSpPr>
        <p:spPr>
          <a:xfrm>
            <a:off x="588353" y="532608"/>
            <a:ext cx="5064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 1.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A73C51-FB88-4F94-AE04-822D32E7DD97}"/>
              </a:ext>
            </a:extLst>
          </p:cNvPr>
          <p:cNvSpPr txBox="1"/>
          <p:nvPr/>
        </p:nvSpPr>
        <p:spPr>
          <a:xfrm>
            <a:off x="799785" y="1485199"/>
            <a:ext cx="107274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эксперимента: </a:t>
            </a:r>
            <a:r>
              <a:rPr lang="ru-RU" sz="12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Оценить влияние новой механики </a:t>
            </a:r>
            <a:r>
              <a:rPr lang="ru-RU" sz="1200" b="0" baseline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2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-уведомлений на ключевую бизнес-метрику (средний чек).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Гипотеза: </a:t>
            </a: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 от баннерной рекламы к персонализированным </a:t>
            </a:r>
            <a:r>
              <a:rPr lang="ru-RU" sz="1200" baseline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-уведомлениям приведет к росту среднего чека (или выручки).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Масштаб: </a:t>
            </a: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Эксперимент проводился в сети магазинов 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StratosSkyeng"/>
              </a:rPr>
              <a:t> 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SkyLenta, который присутствует во многих российских городах страны, в течение 3 месяцев.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104B0-BA90-4E00-861E-C78BC6BFED16}"/>
              </a:ext>
            </a:extLst>
          </p:cNvPr>
          <p:cNvSpPr txBox="1"/>
          <p:nvPr/>
        </p:nvSpPr>
        <p:spPr>
          <a:xfrm>
            <a:off x="541730" y="1062533"/>
            <a:ext cx="10727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Контекст и Цель эксперимента</a:t>
            </a:r>
            <a:endParaRPr lang="ru-RU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336F8-4EBE-4319-BCE3-90B51E880CCA}"/>
              </a:ext>
            </a:extLst>
          </p:cNvPr>
          <p:cNvSpPr txBox="1"/>
          <p:nvPr/>
        </p:nvSpPr>
        <p:spPr>
          <a:xfrm>
            <a:off x="541729" y="3077360"/>
            <a:ext cx="10727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 Дизайн эксперимента</a:t>
            </a:r>
            <a:endParaRPr lang="ru-RU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FF073-8A45-440C-83FB-89D20D983856}"/>
              </a:ext>
            </a:extLst>
          </p:cNvPr>
          <p:cNvSpPr txBox="1"/>
          <p:nvPr/>
        </p:nvSpPr>
        <p:spPr>
          <a:xfrm>
            <a:off x="732272" y="3486533"/>
            <a:ext cx="107274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 теста: </a:t>
            </a:r>
            <a:r>
              <a:rPr lang="ru-RU" sz="12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А/В тестирование (разбиение пользователей на контрольную и  тестовую 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lang="ru-RU" sz="12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руппы).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Ключевая метрика</a:t>
            </a: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чек (</a:t>
            </a:r>
            <a:r>
              <a:rPr lang="en-US" sz="1200" baseline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amt_payment</a:t>
            </a: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Условия: </a:t>
            </a:r>
          </a:p>
          <a:p>
            <a:pPr marL="1085850" lvl="2" indent="-171450">
              <a:buFont typeface="Wingdings" panose="05000000000000000000" pitchFamily="2" charset="2"/>
              <a:buChar char="§"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Группа 0 (Контроль) - стандартная баннерная реклама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5850" lvl="2" indent="-171450">
              <a:buFont typeface="Wingdings" panose="05000000000000000000" pitchFamily="2" charset="2"/>
              <a:buChar char="§"/>
              <a:defRPr/>
            </a:pP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Группа 1 (Тест) – новая механика </a:t>
            </a:r>
            <a:r>
              <a:rPr lang="ru-RU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-уведомлений.</a:t>
            </a:r>
          </a:p>
          <a:p>
            <a:pPr lvl="2">
              <a:defRPr/>
            </a:pPr>
            <a:endParaRPr lang="ru-RU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Критерии успеха: 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Статистически значимое изменение средней выручки при заданном уровне значимости альфа=0,05 и мощности 95%.</a:t>
            </a:r>
          </a:p>
          <a:p>
            <a:pPr>
              <a:defRPr/>
            </a:pPr>
            <a:endParaRPr lang="ru-RU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Ограничения: 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проводится на данных, очищенных от некорректных транзакций.</a:t>
            </a:r>
            <a:endParaRPr lang="ru-RU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78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7084CC3-99F4-48E9-98FB-6F5AE08467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0" r="2333" b="1"/>
          <a:stretch/>
        </p:blipFill>
        <p:spPr>
          <a:xfrm>
            <a:off x="3849306" y="2100199"/>
            <a:ext cx="7484788" cy="3545298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467973" y="793532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495107" y="5896957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EFC4A4-CB8D-42AD-83F6-17AD308B76FE}"/>
              </a:ext>
            </a:extLst>
          </p:cNvPr>
          <p:cNvSpPr txBox="1"/>
          <p:nvPr/>
        </p:nvSpPr>
        <p:spPr>
          <a:xfrm>
            <a:off x="3346567" y="1096497"/>
            <a:ext cx="5784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Распределение торговых точек по городам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58CFE23E-7C01-4A64-9876-26EE01D1A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285848"/>
              </p:ext>
            </p:extLst>
          </p:nvPr>
        </p:nvGraphicFramePr>
        <p:xfrm>
          <a:off x="709404" y="1856964"/>
          <a:ext cx="2793654" cy="373267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661263">
                  <a:extLst>
                    <a:ext uri="{9D8B030D-6E8A-4147-A177-3AD203B41FA5}">
                      <a16:colId xmlns:a16="http://schemas.microsoft.com/office/drawing/2014/main" val="1980453098"/>
                    </a:ext>
                  </a:extLst>
                </a:gridCol>
                <a:gridCol w="1132391">
                  <a:extLst>
                    <a:ext uri="{9D8B030D-6E8A-4147-A177-3AD203B41FA5}">
                      <a16:colId xmlns:a16="http://schemas.microsoft.com/office/drawing/2014/main" val="131615642"/>
                    </a:ext>
                  </a:extLst>
                </a:gridCol>
              </a:tblGrid>
              <a:tr h="396622"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/>
                        <a:t>город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/>
                        <a:t>Кол-во торг. точек (т.г.)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788797"/>
                  </a:ext>
                </a:extLst>
              </a:tr>
              <a:tr h="2359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Москва, </a:t>
                      </a:r>
                      <a:r>
                        <a:rPr lang="ru-RU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Санкт-Петербург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dirty="0"/>
                        <a:t>по 11 т.г.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876354"/>
                  </a:ext>
                </a:extLst>
              </a:tr>
              <a:tr h="274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Казань, Новосибирск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dirty="0"/>
                        <a:t>по 6 т.г.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43877"/>
                  </a:ext>
                </a:extLst>
              </a:tr>
              <a:tr h="2402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Красноярск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dirty="0"/>
                        <a:t>5 т.г.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234417"/>
                  </a:ext>
                </a:extLst>
              </a:tr>
              <a:tr h="2284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Краснодар, Самара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dirty="0"/>
                        <a:t>по 4 т.г.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817705"/>
                  </a:ext>
                </a:extLst>
              </a:tr>
              <a:tr h="2571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Саратов, Сочи, Мурманск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по 2 т.г.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54870"/>
                  </a:ext>
                </a:extLst>
              </a:tr>
              <a:tr h="2250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Ярославль,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Дмитров,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Волгоград,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Сахалинск,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Ростов-на-Дону,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Великий Новгород, Тольятти,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Тюмень,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Нижний Новгород, Владимир,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Ростов Великий,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Чехов,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Петрозаводск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000" dirty="0"/>
                    </a:p>
                    <a:p>
                      <a:pPr algn="r"/>
                      <a:endParaRPr lang="ru-RU" sz="1000" dirty="0"/>
                    </a:p>
                    <a:p>
                      <a:pPr algn="r"/>
                      <a:endParaRPr lang="ru-RU" sz="1000" dirty="0"/>
                    </a:p>
                    <a:p>
                      <a:pPr algn="r"/>
                      <a:endParaRPr lang="ru-RU" sz="1000" dirty="0"/>
                    </a:p>
                    <a:p>
                      <a:pPr algn="r"/>
                      <a:r>
                        <a:rPr lang="ru-RU" sz="1000" dirty="0"/>
                        <a:t>по 1 т.г.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75294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981EA0A-C93B-49CB-8DCD-8E2CE5FE11CC}"/>
              </a:ext>
            </a:extLst>
          </p:cNvPr>
          <p:cNvSpPr txBox="1"/>
          <p:nvPr/>
        </p:nvSpPr>
        <p:spPr>
          <a:xfrm>
            <a:off x="429208" y="469522"/>
            <a:ext cx="5784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 2.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Предобработка и </a:t>
            </a:r>
            <a:r>
              <a:rPr lang="en-US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ru-RU" sz="14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97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8964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41730" y="5668357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EFC4A4-CB8D-42AD-83F6-17AD308B76FE}"/>
              </a:ext>
            </a:extLst>
          </p:cNvPr>
          <p:cNvSpPr txBox="1"/>
          <p:nvPr/>
        </p:nvSpPr>
        <p:spPr>
          <a:xfrm>
            <a:off x="2587954" y="819784"/>
            <a:ext cx="740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Наличие тестовой и контрольной группы в торговых точек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30A93D-C6F1-479A-AFCD-A36539C64F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7" t="6066" r="187" b="-2980"/>
          <a:stretch/>
        </p:blipFill>
        <p:spPr>
          <a:xfrm>
            <a:off x="849175" y="1613974"/>
            <a:ext cx="10493649" cy="4047248"/>
          </a:xfrm>
          <a:prstGeom prst="rect">
            <a:avLst/>
          </a:prstGeom>
        </p:spPr>
      </p:pic>
      <p:sp>
        <p:nvSpPr>
          <p:cNvPr id="37" name="Стрелка: вниз 36">
            <a:extLst>
              <a:ext uri="{FF2B5EF4-FFF2-40B4-BE49-F238E27FC236}">
                <a16:creationId xmlns:a16="http://schemas.microsoft.com/office/drawing/2014/main" id="{5767A1C8-C7D6-4B83-B6E2-279A5237944C}"/>
              </a:ext>
            </a:extLst>
          </p:cNvPr>
          <p:cNvSpPr/>
          <p:nvPr/>
        </p:nvSpPr>
        <p:spPr>
          <a:xfrm>
            <a:off x="8397240" y="2705588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rgbClr val="0066FF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трелка: вниз 37">
            <a:extLst>
              <a:ext uri="{FF2B5EF4-FFF2-40B4-BE49-F238E27FC236}">
                <a16:creationId xmlns:a16="http://schemas.microsoft.com/office/drawing/2014/main" id="{F8EDC8D7-8B17-47DC-91E7-99E1D5BC0A44}"/>
              </a:ext>
            </a:extLst>
          </p:cNvPr>
          <p:cNvSpPr/>
          <p:nvPr/>
        </p:nvSpPr>
        <p:spPr>
          <a:xfrm>
            <a:off x="9311640" y="2647167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rgbClr val="0066FF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: вниз 38">
            <a:extLst>
              <a:ext uri="{FF2B5EF4-FFF2-40B4-BE49-F238E27FC236}">
                <a16:creationId xmlns:a16="http://schemas.microsoft.com/office/drawing/2014/main" id="{B6D69D38-F433-41C1-9A14-4C37BA86D967}"/>
              </a:ext>
            </a:extLst>
          </p:cNvPr>
          <p:cNvSpPr/>
          <p:nvPr/>
        </p:nvSpPr>
        <p:spPr>
          <a:xfrm>
            <a:off x="9111694" y="2929460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rgbClr val="0066FF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: вниз 39">
            <a:extLst>
              <a:ext uri="{FF2B5EF4-FFF2-40B4-BE49-F238E27FC236}">
                <a16:creationId xmlns:a16="http://schemas.microsoft.com/office/drawing/2014/main" id="{8251221E-3518-4AB8-A834-0558EDD46F31}"/>
              </a:ext>
            </a:extLst>
          </p:cNvPr>
          <p:cNvSpPr/>
          <p:nvPr/>
        </p:nvSpPr>
        <p:spPr>
          <a:xfrm>
            <a:off x="7906622" y="2959330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Стрелка: вниз 40">
            <a:extLst>
              <a:ext uri="{FF2B5EF4-FFF2-40B4-BE49-F238E27FC236}">
                <a16:creationId xmlns:a16="http://schemas.microsoft.com/office/drawing/2014/main" id="{C6E515F9-895E-4C53-B919-3599F83405EE}"/>
              </a:ext>
            </a:extLst>
          </p:cNvPr>
          <p:cNvSpPr/>
          <p:nvPr/>
        </p:nvSpPr>
        <p:spPr>
          <a:xfrm>
            <a:off x="8239760" y="3637598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rgbClr val="0066FF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трелка: вниз 41">
            <a:extLst>
              <a:ext uri="{FF2B5EF4-FFF2-40B4-BE49-F238E27FC236}">
                <a16:creationId xmlns:a16="http://schemas.microsoft.com/office/drawing/2014/main" id="{29F8FC75-E52D-4B36-924C-4FD97E8DF72D}"/>
              </a:ext>
            </a:extLst>
          </p:cNvPr>
          <p:cNvSpPr/>
          <p:nvPr/>
        </p:nvSpPr>
        <p:spPr>
          <a:xfrm>
            <a:off x="7564120" y="3667435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rgbClr val="0066FF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Стрелка: вниз 42">
            <a:extLst>
              <a:ext uri="{FF2B5EF4-FFF2-40B4-BE49-F238E27FC236}">
                <a16:creationId xmlns:a16="http://schemas.microsoft.com/office/drawing/2014/main" id="{3C0D76CE-F159-45B2-8EFB-2E7E8FF94DA7}"/>
              </a:ext>
            </a:extLst>
          </p:cNvPr>
          <p:cNvSpPr/>
          <p:nvPr/>
        </p:nvSpPr>
        <p:spPr>
          <a:xfrm>
            <a:off x="7837328" y="3840797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rgbClr val="0066FF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85D3E7-7BB7-4F71-89D9-76AA52C564B8}"/>
              </a:ext>
            </a:extLst>
          </p:cNvPr>
          <p:cNvSpPr txBox="1"/>
          <p:nvPr/>
        </p:nvSpPr>
        <p:spPr>
          <a:xfrm>
            <a:off x="849175" y="5814413"/>
            <a:ext cx="10493649" cy="568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графике видим, что есть торговые точки, где присутствует только одна группа (тестовая или контрольная). </a:t>
            </a:r>
          </a:p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них мы физически не сможем провести сравнение, поэтому необходимо их вывести из анализа.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Стрелка: вниз 44">
            <a:extLst>
              <a:ext uri="{FF2B5EF4-FFF2-40B4-BE49-F238E27FC236}">
                <a16:creationId xmlns:a16="http://schemas.microsoft.com/office/drawing/2014/main" id="{FB1246A7-F779-476E-8EA1-89C7FF91DE02}"/>
              </a:ext>
            </a:extLst>
          </p:cNvPr>
          <p:cNvSpPr/>
          <p:nvPr/>
        </p:nvSpPr>
        <p:spPr>
          <a:xfrm>
            <a:off x="5630509" y="3365728"/>
            <a:ext cx="172720" cy="406398"/>
          </a:xfrm>
          <a:prstGeom prst="downArrow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DD3C3E-F741-4E1E-B1D0-D6059E637E75}"/>
              </a:ext>
            </a:extLst>
          </p:cNvPr>
          <p:cNvSpPr txBox="1"/>
          <p:nvPr/>
        </p:nvSpPr>
        <p:spPr>
          <a:xfrm>
            <a:off x="429208" y="445301"/>
            <a:ext cx="5784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 2.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Предобработка и </a:t>
            </a:r>
            <a:r>
              <a:rPr lang="en-US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ru-RU" sz="14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4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5154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41730" y="5668357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EFC4A4-CB8D-42AD-83F6-17AD308B76FE}"/>
              </a:ext>
            </a:extLst>
          </p:cNvPr>
          <p:cNvSpPr txBox="1"/>
          <p:nvPr/>
        </p:nvSpPr>
        <p:spPr>
          <a:xfrm>
            <a:off x="2587954" y="913632"/>
            <a:ext cx="740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торговых точек с нулевой выручкой в группе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85D3E7-7BB7-4F71-89D9-76AA52C564B8}"/>
              </a:ext>
            </a:extLst>
          </p:cNvPr>
          <p:cNvSpPr txBox="1"/>
          <p:nvPr/>
        </p:nvSpPr>
        <p:spPr>
          <a:xfrm>
            <a:off x="868781" y="5693914"/>
            <a:ext cx="10493649" cy="107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графике видим, что в 7 городах есть по одной торговой точке, где отсутствует выручка: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6 точках выручки нет и в  тестовой и в контрольной группе,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Ярославле - нет выручки только в тестевой группе. </a:t>
            </a:r>
          </a:p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Мы не можем провести сравнение чеков и конверсии, поэтому необходимо удалить данные по этим торговым точкам.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61C2D0-2297-421A-B641-7D5AA0C77B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" b="577"/>
          <a:stretch/>
        </p:blipFill>
        <p:spPr>
          <a:xfrm>
            <a:off x="2407556" y="1570209"/>
            <a:ext cx="7089047" cy="40673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B07B7F-1461-479A-8D23-4FC079BC60A2}"/>
              </a:ext>
            </a:extLst>
          </p:cNvPr>
          <p:cNvSpPr txBox="1"/>
          <p:nvPr/>
        </p:nvSpPr>
        <p:spPr>
          <a:xfrm>
            <a:off x="429208" y="420610"/>
            <a:ext cx="5784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 2.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Предобработка и </a:t>
            </a:r>
            <a:r>
              <a:rPr lang="en-US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ru-RU" sz="14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4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54033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</a:t>
            </a:r>
            <a:r>
              <a:rPr lang="ru-RU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5028709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EFC4A4-CB8D-42AD-83F6-17AD308B76FE}"/>
              </a:ext>
            </a:extLst>
          </p:cNvPr>
          <p:cNvSpPr txBox="1"/>
          <p:nvPr/>
        </p:nvSpPr>
        <p:spPr>
          <a:xfrm>
            <a:off x="3085587" y="917865"/>
            <a:ext cx="740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Расчет общих результатов A/B-теста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85D3E7-7BB7-4F71-89D9-76AA52C564B8}"/>
              </a:ext>
            </a:extLst>
          </p:cNvPr>
          <p:cNvSpPr txBox="1"/>
          <p:nvPr/>
        </p:nvSpPr>
        <p:spPr>
          <a:xfrm>
            <a:off x="849175" y="5132798"/>
            <a:ext cx="10493649" cy="1330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1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графике видно, что платежи в тестовой группе (красные столбики) стабильно выше платежей в контрольной группе (синие столбики) в диапазоне чеков (или их сумм) выше 4000-5000 руб.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1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 есть, пуш-уведомления не только увеличили общую выручку на 10,07% (с 50,07 до 55,12 </a:t>
            </a:r>
            <a:r>
              <a:rPr lang="ru-RU" sz="1100" baseline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млн.руб</a:t>
            </a:r>
            <a:r>
              <a:rPr lang="ru-RU" sz="11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 но и стимулировали клиентов покупать чаще и на большие суммы.</a:t>
            </a:r>
            <a:endParaRPr lang="ru-RU" sz="11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1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 привело к увеличению общей конверсии в покупку более чем на 4 </a:t>
            </a:r>
            <a:r>
              <a:rPr lang="ru-RU" sz="1100" baseline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п.п</a:t>
            </a:r>
            <a:r>
              <a:rPr lang="ru-RU" sz="11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7456D-A0FC-4A3E-93B4-206E00A87188}"/>
              </a:ext>
            </a:extLst>
          </p:cNvPr>
          <p:cNvSpPr txBox="1"/>
          <p:nvPr/>
        </p:nvSpPr>
        <p:spPr>
          <a:xfrm>
            <a:off x="429208" y="441445"/>
            <a:ext cx="522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Статистическая проверка гипотез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818914-49D1-4ECB-9AE5-93E028B87A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" t="1065" r="-370"/>
          <a:stretch/>
        </p:blipFill>
        <p:spPr>
          <a:xfrm>
            <a:off x="3986773" y="1632079"/>
            <a:ext cx="7580387" cy="33343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228B0A-C726-4BD0-810F-3D32DFD0BAF4}"/>
              </a:ext>
            </a:extLst>
          </p:cNvPr>
          <p:cNvSpPr txBox="1"/>
          <p:nvPr/>
        </p:nvSpPr>
        <p:spPr>
          <a:xfrm>
            <a:off x="5769717" y="1368628"/>
            <a:ext cx="4823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распределения платежей в Тесте и Контроле</a:t>
            </a:r>
            <a:endParaRPr lang="ru-RU" sz="12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D3AAB0-9C1C-4475-AB3F-281C99BC2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38" y="2246796"/>
            <a:ext cx="3876177" cy="177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9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63382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6057409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EFC4A4-CB8D-42AD-83F6-17AD308B76FE}"/>
              </a:ext>
            </a:extLst>
          </p:cNvPr>
          <p:cNvSpPr txBox="1"/>
          <p:nvPr/>
        </p:nvSpPr>
        <p:spPr>
          <a:xfrm>
            <a:off x="4242093" y="866517"/>
            <a:ext cx="436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Статистические вычисления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85D3E7-7BB7-4F71-89D9-76AA52C564B8}"/>
              </a:ext>
            </a:extLst>
          </p:cNvPr>
          <p:cNvSpPr txBox="1"/>
          <p:nvPr/>
        </p:nvSpPr>
        <p:spPr>
          <a:xfrm>
            <a:off x="685650" y="4336305"/>
            <a:ext cx="10676561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результатам проведенных вычислений, видим, что полученные различия в группах не случайны: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 для среднего чека, конверсии, а также для критерия Манна-Уитни значительно меньше уровня значимости (0,05), что позволяет нам отвергнуть нулевую гипотезу об их равенстве. 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различия статистически значимы, то есть пуш-уведомления положительно повлияли на бизнес-метрики в целом на  весь ретейлер SkyLenta.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7456D-A0FC-4A3E-93B4-206E00A87188}"/>
              </a:ext>
            </a:extLst>
          </p:cNvPr>
          <p:cNvSpPr txBox="1"/>
          <p:nvPr/>
        </p:nvSpPr>
        <p:spPr>
          <a:xfrm>
            <a:off x="541730" y="417505"/>
            <a:ext cx="522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Статистическая проверка гипотез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228B0A-C726-4BD0-810F-3D32DFD0BAF4}"/>
              </a:ext>
            </a:extLst>
          </p:cNvPr>
          <p:cNvSpPr txBox="1"/>
          <p:nvPr/>
        </p:nvSpPr>
        <p:spPr>
          <a:xfrm>
            <a:off x="541730" y="1628058"/>
            <a:ext cx="304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средних чеков в контрольной и тестовой группах</a:t>
            </a:r>
            <a:endParaRPr lang="ru-RU" sz="11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6E19BC-9AE1-4B1E-AC4C-4C5B6DCB54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7"/>
          <a:stretch/>
        </p:blipFill>
        <p:spPr>
          <a:xfrm>
            <a:off x="541730" y="2394704"/>
            <a:ext cx="3815132" cy="11892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4CB1AB-454C-4D2D-BDDA-3540F8C6BE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2"/>
          <a:stretch/>
        </p:blipFill>
        <p:spPr>
          <a:xfrm>
            <a:off x="4468346" y="2409944"/>
            <a:ext cx="3540619" cy="11354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43D588-7CE0-49AF-B38F-3A501495737E}"/>
              </a:ext>
            </a:extLst>
          </p:cNvPr>
          <p:cNvSpPr txBox="1"/>
          <p:nvPr/>
        </p:nvSpPr>
        <p:spPr>
          <a:xfrm>
            <a:off x="4500285" y="1614939"/>
            <a:ext cx="304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конверсии в контрольной и тестовой группах</a:t>
            </a:r>
            <a:endParaRPr lang="ru-RU" sz="11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0B8EC0-A909-4A9D-95F5-56B7B934FD8B}"/>
              </a:ext>
            </a:extLst>
          </p:cNvPr>
          <p:cNvSpPr txBox="1"/>
          <p:nvPr/>
        </p:nvSpPr>
        <p:spPr>
          <a:xfrm>
            <a:off x="8221895" y="1601737"/>
            <a:ext cx="304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конверсии в контрольной и тестовой группах</a:t>
            </a:r>
            <a:endParaRPr lang="ru-RU" sz="11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074071-F246-4302-B490-4557F05CA0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55"/>
          <a:stretch/>
        </p:blipFill>
        <p:spPr>
          <a:xfrm>
            <a:off x="8120449" y="2428324"/>
            <a:ext cx="3616173" cy="6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0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63382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6399532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485D3E7-7BB7-4F71-89D9-76AA52C564B8}"/>
              </a:ext>
            </a:extLst>
          </p:cNvPr>
          <p:cNvSpPr txBox="1"/>
          <p:nvPr/>
        </p:nvSpPr>
        <p:spPr>
          <a:xfrm>
            <a:off x="643417" y="5095378"/>
            <a:ext cx="11363281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результатам проведенных вычислений в Москве, видим, что полученные различия в группах не случайны: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 для среднего чека, конверсии, а также для критерия Манна-Уитни по Москве значительно меньше уровня значимости (0,05), т.е. изменения   в тестовой и контрольной группах не случайны и статистически значимы.. 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графике видим, что в тестовой группе количество транзакций со средним чеком выше 4000 руб. выше, чем в контрольной.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FFB41D-3C8B-47A9-85A1-D0C08D58A591}"/>
              </a:ext>
            </a:extLst>
          </p:cNvPr>
          <p:cNvSpPr txBox="1"/>
          <p:nvPr/>
        </p:nvSpPr>
        <p:spPr>
          <a:xfrm>
            <a:off x="541730" y="417505"/>
            <a:ext cx="522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 </a:t>
            </a:r>
            <a:r>
              <a:rPr lang="ru-RU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Сегментация результатов </a:t>
            </a:r>
            <a:r>
              <a:rPr lang="en-US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A/B-</a:t>
            </a:r>
            <a:r>
              <a:rPr lang="ru-RU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2C97EF-5BFC-4ED6-B4B9-ADA653C937F2}"/>
              </a:ext>
            </a:extLst>
          </p:cNvPr>
          <p:cNvSpPr txBox="1"/>
          <p:nvPr/>
        </p:nvSpPr>
        <p:spPr>
          <a:xfrm>
            <a:off x="3085587" y="917865"/>
            <a:ext cx="740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Расчет результатов A/B-теста в г. Москва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262711-9A1D-4E80-B5D1-0033610E1F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" b="1"/>
          <a:stretch/>
        </p:blipFill>
        <p:spPr>
          <a:xfrm>
            <a:off x="4551707" y="1727057"/>
            <a:ext cx="7356956" cy="318084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BF1163-EF5D-43F8-BE69-A3E2B056E128}"/>
              </a:ext>
            </a:extLst>
          </p:cNvPr>
          <p:cNvSpPr txBox="1"/>
          <p:nvPr/>
        </p:nvSpPr>
        <p:spPr>
          <a:xfrm>
            <a:off x="6079972" y="1390516"/>
            <a:ext cx="5282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распределения платежей в Тесте и Контроле г. Москва</a:t>
            </a:r>
            <a:endParaRPr lang="ru-RU" sz="12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C6A51C-D9BF-485A-81C6-E96EEAB1CA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8"/>
          <a:stretch/>
        </p:blipFill>
        <p:spPr>
          <a:xfrm>
            <a:off x="745476" y="1900108"/>
            <a:ext cx="3246401" cy="99117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891BC7B-BD58-47CD-B30B-CF5A28CF98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4"/>
          <a:stretch/>
        </p:blipFill>
        <p:spPr>
          <a:xfrm>
            <a:off x="745476" y="3103791"/>
            <a:ext cx="2941575" cy="99149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153414C-F05E-4A5D-B51A-B25B9E3E44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7"/>
          <a:stretch/>
        </p:blipFill>
        <p:spPr>
          <a:xfrm>
            <a:off x="745476" y="4356635"/>
            <a:ext cx="3025402" cy="5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3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63382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6399532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485D3E7-7BB7-4F71-89D9-76AA52C564B8}"/>
              </a:ext>
            </a:extLst>
          </p:cNvPr>
          <p:cNvSpPr txBox="1"/>
          <p:nvPr/>
        </p:nvSpPr>
        <p:spPr>
          <a:xfrm>
            <a:off x="685650" y="5144398"/>
            <a:ext cx="11363281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результатам проведенных вычислений в Санкт-Петербург, видим, что полученные различия в группах не случайны: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 для среднего чека, конверсии, а также для критерия Манна-Уитни 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г.</a:t>
            </a: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Санкт-Петербург значительно меньше уровня значимости (0,05), т.е. изменения   в тестовой и контрольной группах не случайны и статистически значимы.. 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графике видим, что в тестовой группе количество транзакций выше, чем в контрольной..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FFB41D-3C8B-47A9-85A1-D0C08D58A591}"/>
              </a:ext>
            </a:extLst>
          </p:cNvPr>
          <p:cNvSpPr txBox="1"/>
          <p:nvPr/>
        </p:nvSpPr>
        <p:spPr>
          <a:xfrm>
            <a:off x="541730" y="417505"/>
            <a:ext cx="522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 </a:t>
            </a:r>
            <a:r>
              <a:rPr lang="ru-RU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Сегментация результатов </a:t>
            </a:r>
            <a:r>
              <a:rPr lang="en-US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A/B-</a:t>
            </a:r>
            <a:r>
              <a:rPr lang="ru-RU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2C97EF-5BFC-4ED6-B4B9-ADA653C937F2}"/>
              </a:ext>
            </a:extLst>
          </p:cNvPr>
          <p:cNvSpPr txBox="1"/>
          <p:nvPr/>
        </p:nvSpPr>
        <p:spPr>
          <a:xfrm>
            <a:off x="3085587" y="917865"/>
            <a:ext cx="740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Расчет результатов A/B-теста в г. Санкт-Петербург</a:t>
            </a:r>
            <a:endParaRPr lang="ru-RU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BF1163-EF5D-43F8-BE69-A3E2B056E128}"/>
              </a:ext>
            </a:extLst>
          </p:cNvPr>
          <p:cNvSpPr txBox="1"/>
          <p:nvPr/>
        </p:nvSpPr>
        <p:spPr>
          <a:xfrm>
            <a:off x="5424196" y="1423671"/>
            <a:ext cx="6006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распределения платежей в Тесте и Контроле г. Санкт-Петербург</a:t>
            </a:r>
            <a:endParaRPr lang="ru-RU" sz="1200" b="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AA3695-A321-4401-ABEE-6081B1A3B3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"/>
          <a:stretch/>
        </p:blipFill>
        <p:spPr>
          <a:xfrm>
            <a:off x="4788936" y="1818484"/>
            <a:ext cx="7093479" cy="31628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9C9831-2655-48A8-9E1A-398ABDBE83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510"/>
          <a:stretch/>
        </p:blipFill>
        <p:spPr>
          <a:xfrm>
            <a:off x="777096" y="1808542"/>
            <a:ext cx="3322608" cy="100930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5E08AE0-BC4F-40AF-A736-06A831334A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1" t="40064" r="1311" b="25446"/>
          <a:stretch/>
        </p:blipFill>
        <p:spPr>
          <a:xfrm>
            <a:off x="777096" y="3038705"/>
            <a:ext cx="3322608" cy="10093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59D8C86-170C-4097-A6E2-CB84BF27C8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973" b="123"/>
          <a:stretch/>
        </p:blipFill>
        <p:spPr>
          <a:xfrm>
            <a:off x="845520" y="4240212"/>
            <a:ext cx="3322608" cy="49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6">
                <a:lumMod val="5000"/>
                <a:lumOff val="9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93000">
              <a:schemeClr val="bg1"/>
            </a:gs>
            <a:gs pos="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B640535B-E4FF-418B-9A66-8BC2CD7206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" t="8556" r="5385" b="6088"/>
          <a:stretch/>
        </p:blipFill>
        <p:spPr>
          <a:xfrm>
            <a:off x="3035064" y="942079"/>
            <a:ext cx="8350626" cy="4818925"/>
          </a:xfrm>
          <a:prstGeom prst="rect">
            <a:avLst/>
          </a:prstGeom>
          <a:effectLst>
            <a:softEdge rad="63500"/>
          </a:effectLst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41730" y="763382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пуш-уведомлений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85650" y="6156934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317456D-A0FC-4A3E-93B4-206E00A87188}"/>
              </a:ext>
            </a:extLst>
          </p:cNvPr>
          <p:cNvSpPr txBox="1"/>
          <p:nvPr/>
        </p:nvSpPr>
        <p:spPr>
          <a:xfrm>
            <a:off x="541730" y="417505"/>
            <a:ext cx="522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 </a:t>
            </a:r>
            <a:r>
              <a:rPr lang="ru-RU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Сегментация результатов </a:t>
            </a:r>
            <a:r>
              <a:rPr lang="en-US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A/B-</a:t>
            </a:r>
            <a:r>
              <a:rPr lang="ru-RU" sz="14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тестирования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3D317329-F927-4D3E-9878-7952DB9F348B}"/>
              </a:ext>
            </a:extLst>
          </p:cNvPr>
          <p:cNvSpPr/>
          <p:nvPr/>
        </p:nvSpPr>
        <p:spPr>
          <a:xfrm>
            <a:off x="4518007" y="4023832"/>
            <a:ext cx="81715" cy="8150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99F194CF-54B4-4818-88FF-07B3B2A37AC4}"/>
              </a:ext>
            </a:extLst>
          </p:cNvPr>
          <p:cNvSpPr/>
          <p:nvPr/>
        </p:nvSpPr>
        <p:spPr>
          <a:xfrm>
            <a:off x="481306" y="2005301"/>
            <a:ext cx="228600" cy="21861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92E45DF9-771F-44B7-8CE2-25FBE02C893D}"/>
              </a:ext>
            </a:extLst>
          </p:cNvPr>
          <p:cNvSpPr/>
          <p:nvPr/>
        </p:nvSpPr>
        <p:spPr>
          <a:xfrm>
            <a:off x="481306" y="2546122"/>
            <a:ext cx="228600" cy="218614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3C497AF0-709E-4076-8CE5-5B2FD56E8CE6}"/>
              </a:ext>
            </a:extLst>
          </p:cNvPr>
          <p:cNvSpPr/>
          <p:nvPr/>
        </p:nvSpPr>
        <p:spPr>
          <a:xfrm>
            <a:off x="4463415" y="3975408"/>
            <a:ext cx="156210" cy="160743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FC4A4-CB8D-42AD-83F6-17AD308B76FE}"/>
              </a:ext>
            </a:extLst>
          </p:cNvPr>
          <p:cNvSpPr txBox="1"/>
          <p:nvPr/>
        </p:nvSpPr>
        <p:spPr>
          <a:xfrm>
            <a:off x="4656872" y="987533"/>
            <a:ext cx="2667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География успеха</a:t>
            </a:r>
            <a:endParaRPr lang="ru-RU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D2EB00-132A-400D-BBFE-F1B8AB07E13E}"/>
              </a:ext>
            </a:extLst>
          </p:cNvPr>
          <p:cNvSpPr txBox="1"/>
          <p:nvPr/>
        </p:nvSpPr>
        <p:spPr>
          <a:xfrm>
            <a:off x="814220" y="1940956"/>
            <a:ext cx="21939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Нейтральная зона: </a:t>
            </a: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города, где разницы нет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28E9FA-6A65-433A-988A-FD0652085386}"/>
              </a:ext>
            </a:extLst>
          </p:cNvPr>
          <p:cNvSpPr txBox="1"/>
          <p:nvPr/>
        </p:nvSpPr>
        <p:spPr>
          <a:xfrm>
            <a:off x="842488" y="2466770"/>
            <a:ext cx="2226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Зона риска: </a:t>
            </a: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города, где пуши сработали хуже баннеров</a:t>
            </a:r>
            <a:endParaRPr lang="ru-RU" sz="11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F8A72D3F-7ECF-496A-85FB-00C2F6DEB129}"/>
              </a:ext>
            </a:extLst>
          </p:cNvPr>
          <p:cNvSpPr/>
          <p:nvPr/>
        </p:nvSpPr>
        <p:spPr>
          <a:xfrm>
            <a:off x="4518007" y="3626857"/>
            <a:ext cx="81715" cy="8150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63E2E1B4-767E-457C-8BBD-280EFBB90522}"/>
              </a:ext>
            </a:extLst>
          </p:cNvPr>
          <p:cNvSpPr/>
          <p:nvPr/>
        </p:nvSpPr>
        <p:spPr>
          <a:xfrm>
            <a:off x="4029086" y="3081295"/>
            <a:ext cx="143269" cy="147966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188241D4-4423-430F-8717-F11E16C952FA}"/>
              </a:ext>
            </a:extLst>
          </p:cNvPr>
          <p:cNvSpPr/>
          <p:nvPr/>
        </p:nvSpPr>
        <p:spPr>
          <a:xfrm>
            <a:off x="3897641" y="3998450"/>
            <a:ext cx="156211" cy="160743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DF06C464-4109-48F7-A5E8-CE30B9AD42C9}"/>
              </a:ext>
            </a:extLst>
          </p:cNvPr>
          <p:cNvSpPr/>
          <p:nvPr/>
        </p:nvSpPr>
        <p:spPr>
          <a:xfrm>
            <a:off x="4361797" y="3271171"/>
            <a:ext cx="156210" cy="160743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5B41FF5B-5A70-4BBF-9D21-EE30C36B296A}"/>
              </a:ext>
            </a:extLst>
          </p:cNvPr>
          <p:cNvSpPr/>
          <p:nvPr/>
        </p:nvSpPr>
        <p:spPr>
          <a:xfrm>
            <a:off x="4218922" y="2455504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B32A53DC-3C92-4476-A342-B62C830D603F}"/>
              </a:ext>
            </a:extLst>
          </p:cNvPr>
          <p:cNvSpPr/>
          <p:nvPr/>
        </p:nvSpPr>
        <p:spPr>
          <a:xfrm>
            <a:off x="3232216" y="3938190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22D959FC-CD0F-4F25-81BB-8EAA54CA4005}"/>
              </a:ext>
            </a:extLst>
          </p:cNvPr>
          <p:cNvSpPr/>
          <p:nvPr/>
        </p:nvSpPr>
        <p:spPr>
          <a:xfrm>
            <a:off x="4164330" y="2535278"/>
            <a:ext cx="228600" cy="218617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078BAF0F-7EE6-4F38-B49E-9AEEF8DAF3D5}"/>
              </a:ext>
            </a:extLst>
          </p:cNvPr>
          <p:cNvSpPr/>
          <p:nvPr/>
        </p:nvSpPr>
        <p:spPr>
          <a:xfrm>
            <a:off x="4193544" y="3096472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EAC6C680-E023-4D9E-9B5D-727E9C780F5D}"/>
              </a:ext>
            </a:extLst>
          </p:cNvPr>
          <p:cNvSpPr/>
          <p:nvPr/>
        </p:nvSpPr>
        <p:spPr>
          <a:xfrm>
            <a:off x="3178964" y="3998450"/>
            <a:ext cx="156211" cy="160743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0466DE2D-972B-4698-B766-A3DEBE24FF12}"/>
              </a:ext>
            </a:extLst>
          </p:cNvPr>
          <p:cNvSpPr/>
          <p:nvPr/>
        </p:nvSpPr>
        <p:spPr>
          <a:xfrm>
            <a:off x="4500662" y="3522274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61330FA7-4365-439B-8BDC-0D43E79C97BC}"/>
              </a:ext>
            </a:extLst>
          </p:cNvPr>
          <p:cNvSpPr/>
          <p:nvPr/>
        </p:nvSpPr>
        <p:spPr>
          <a:xfrm>
            <a:off x="4463415" y="3578433"/>
            <a:ext cx="156210" cy="160743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1A3983B0-EA1E-4E3C-9CE7-4F77B1C35970}"/>
              </a:ext>
            </a:extLst>
          </p:cNvPr>
          <p:cNvSpPr/>
          <p:nvPr/>
        </p:nvSpPr>
        <p:spPr>
          <a:xfrm>
            <a:off x="7178040" y="4299181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2C7898D5-1179-4E6C-911E-3A8FE5B56684}"/>
              </a:ext>
            </a:extLst>
          </p:cNvPr>
          <p:cNvSpPr/>
          <p:nvPr/>
        </p:nvSpPr>
        <p:spPr>
          <a:xfrm>
            <a:off x="5024102" y="1988144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4BCED638-D636-4F7D-AF61-552B4EFD7F8C}"/>
              </a:ext>
            </a:extLst>
          </p:cNvPr>
          <p:cNvSpPr/>
          <p:nvPr/>
        </p:nvSpPr>
        <p:spPr>
          <a:xfrm>
            <a:off x="4164330" y="3857819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5149A0DD-3463-46A4-BC64-053A138EDB36}"/>
              </a:ext>
            </a:extLst>
          </p:cNvPr>
          <p:cNvSpPr/>
          <p:nvPr/>
        </p:nvSpPr>
        <p:spPr>
          <a:xfrm>
            <a:off x="4114499" y="2994135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574E3E3F-F184-4174-9FDC-81ABDB813A48}"/>
              </a:ext>
            </a:extLst>
          </p:cNvPr>
          <p:cNvSpPr/>
          <p:nvPr/>
        </p:nvSpPr>
        <p:spPr>
          <a:xfrm>
            <a:off x="4430591" y="3868818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F2F122E0-3F97-4486-9B94-8945910F1C24}"/>
              </a:ext>
            </a:extLst>
          </p:cNvPr>
          <p:cNvSpPr/>
          <p:nvPr/>
        </p:nvSpPr>
        <p:spPr>
          <a:xfrm>
            <a:off x="3166417" y="4180708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C7EFEC64-25D1-42ED-A966-B27B57C00D01}"/>
              </a:ext>
            </a:extLst>
          </p:cNvPr>
          <p:cNvSpPr/>
          <p:nvPr/>
        </p:nvSpPr>
        <p:spPr>
          <a:xfrm>
            <a:off x="5381279" y="4075022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D8E715BD-128E-4002-8C83-610B5CCFCEFC}"/>
              </a:ext>
            </a:extLst>
          </p:cNvPr>
          <p:cNvSpPr/>
          <p:nvPr/>
        </p:nvSpPr>
        <p:spPr>
          <a:xfrm>
            <a:off x="10586720" y="4299181"/>
            <a:ext cx="156210" cy="16074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08BE2B9D-20D4-40EE-A978-4BB5C842C3A3}"/>
              </a:ext>
            </a:extLst>
          </p:cNvPr>
          <p:cNvSpPr/>
          <p:nvPr/>
        </p:nvSpPr>
        <p:spPr>
          <a:xfrm>
            <a:off x="4061336" y="3135882"/>
            <a:ext cx="228600" cy="218617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A30500-183D-4CDF-A4DB-3932EE9478B4}"/>
              </a:ext>
            </a:extLst>
          </p:cNvPr>
          <p:cNvSpPr txBox="1"/>
          <p:nvPr/>
        </p:nvSpPr>
        <p:spPr>
          <a:xfrm>
            <a:off x="768501" y="1355937"/>
            <a:ext cx="24729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Зона успеха: </a:t>
            </a:r>
            <a:r>
              <a:rPr lang="ru-RU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города, где пуши дали значимы прирост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4A08577-217C-4DA2-8566-3EC226159D82}"/>
              </a:ext>
            </a:extLst>
          </p:cNvPr>
          <p:cNvSpPr txBox="1"/>
          <p:nvPr/>
        </p:nvSpPr>
        <p:spPr>
          <a:xfrm>
            <a:off x="3151240" y="2878719"/>
            <a:ext cx="7953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  <a:endParaRPr lang="ru-RU" sz="11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10BC933-D4DE-4BD3-94F6-9A3BB06AD287}"/>
              </a:ext>
            </a:extLst>
          </p:cNvPr>
          <p:cNvSpPr txBox="1"/>
          <p:nvPr/>
        </p:nvSpPr>
        <p:spPr>
          <a:xfrm>
            <a:off x="3453573" y="2206478"/>
            <a:ext cx="1375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Санкт-Петербург</a:t>
            </a:r>
            <a:endParaRPr lang="ru-RU" sz="11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Овал 130">
            <a:extLst>
              <a:ext uri="{FF2B5EF4-FFF2-40B4-BE49-F238E27FC236}">
                <a16:creationId xmlns:a16="http://schemas.microsoft.com/office/drawing/2014/main" id="{54D0BE5A-513D-41A9-836C-C55481E48583}"/>
              </a:ext>
            </a:extLst>
          </p:cNvPr>
          <p:cNvSpPr/>
          <p:nvPr/>
        </p:nvSpPr>
        <p:spPr>
          <a:xfrm>
            <a:off x="481307" y="1427647"/>
            <a:ext cx="228600" cy="218617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50465E8-CF55-4856-B1EF-259F1012AF06}"/>
              </a:ext>
            </a:extLst>
          </p:cNvPr>
          <p:cNvSpPr txBox="1"/>
          <p:nvPr/>
        </p:nvSpPr>
        <p:spPr>
          <a:xfrm>
            <a:off x="6895939" y="3932378"/>
            <a:ext cx="10474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Красноярск</a:t>
            </a:r>
            <a:endParaRPr lang="ru-RU" sz="9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4261517-E4F0-466D-8478-67851959E87A}"/>
              </a:ext>
            </a:extLst>
          </p:cNvPr>
          <p:cNvSpPr txBox="1"/>
          <p:nvPr/>
        </p:nvSpPr>
        <p:spPr>
          <a:xfrm>
            <a:off x="5061697" y="1788733"/>
            <a:ext cx="795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Мурманск</a:t>
            </a:r>
            <a:endParaRPr lang="ru-RU" sz="8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4755E1E-98E6-476D-8670-B3A25605944E}"/>
              </a:ext>
            </a:extLst>
          </p:cNvPr>
          <p:cNvSpPr txBox="1"/>
          <p:nvPr/>
        </p:nvSpPr>
        <p:spPr>
          <a:xfrm>
            <a:off x="3282705" y="2712865"/>
            <a:ext cx="6885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Дмитров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13085D9-AB7E-42A0-8807-4BEF1D33F529}"/>
              </a:ext>
            </a:extLst>
          </p:cNvPr>
          <p:cNvSpPr txBox="1"/>
          <p:nvPr/>
        </p:nvSpPr>
        <p:spPr>
          <a:xfrm>
            <a:off x="2915603" y="3426682"/>
            <a:ext cx="7953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Казань</a:t>
            </a:r>
            <a:endParaRPr lang="ru-RU" sz="10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22BD596-BA0D-4019-B96A-88F6F1229889}"/>
              </a:ext>
            </a:extLst>
          </p:cNvPr>
          <p:cNvSpPr txBox="1"/>
          <p:nvPr/>
        </p:nvSpPr>
        <p:spPr>
          <a:xfrm>
            <a:off x="2843742" y="3220510"/>
            <a:ext cx="795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Владимир</a:t>
            </a:r>
            <a:endParaRPr lang="ru-RU" sz="9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9D3A8AD-437F-42BD-89AD-27601324C61B}"/>
              </a:ext>
            </a:extLst>
          </p:cNvPr>
          <p:cNvSpPr txBox="1"/>
          <p:nvPr/>
        </p:nvSpPr>
        <p:spPr>
          <a:xfrm>
            <a:off x="2409594" y="3890728"/>
            <a:ext cx="795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Краснодар</a:t>
            </a:r>
            <a:endParaRPr lang="ru-RU" sz="8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D4C580E-7E99-4EB8-BCA4-B1B2158C8E86}"/>
              </a:ext>
            </a:extLst>
          </p:cNvPr>
          <p:cNvSpPr txBox="1"/>
          <p:nvPr/>
        </p:nvSpPr>
        <p:spPr>
          <a:xfrm>
            <a:off x="2658199" y="4171823"/>
            <a:ext cx="795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Сочи</a:t>
            </a:r>
            <a:endParaRPr lang="ru-RU" sz="9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B407289-AC84-4913-8DD3-47CDE99D8643}"/>
              </a:ext>
            </a:extLst>
          </p:cNvPr>
          <p:cNvSpPr txBox="1"/>
          <p:nvPr/>
        </p:nvSpPr>
        <p:spPr>
          <a:xfrm>
            <a:off x="2671080" y="3617152"/>
            <a:ext cx="795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Саратов</a:t>
            </a:r>
            <a:endParaRPr lang="ru-RU" sz="8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6500FD7-71A3-4611-91AD-EC7B7C350C12}"/>
              </a:ext>
            </a:extLst>
          </p:cNvPr>
          <p:cNvSpPr txBox="1"/>
          <p:nvPr/>
        </p:nvSpPr>
        <p:spPr>
          <a:xfrm>
            <a:off x="10664825" y="4047671"/>
            <a:ext cx="795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Сахалинск</a:t>
            </a:r>
            <a:endParaRPr lang="ru-RU" sz="8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277BF97-D954-4846-AF2E-59EFA3B0B79B}"/>
              </a:ext>
            </a:extLst>
          </p:cNvPr>
          <p:cNvSpPr txBox="1"/>
          <p:nvPr/>
        </p:nvSpPr>
        <p:spPr>
          <a:xfrm>
            <a:off x="3922533" y="4143698"/>
            <a:ext cx="795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Тольятти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E035541-3B7C-46FA-81A2-4FBDE8B3A22E}"/>
              </a:ext>
            </a:extLst>
          </p:cNvPr>
          <p:cNvSpPr txBox="1"/>
          <p:nvPr/>
        </p:nvSpPr>
        <p:spPr>
          <a:xfrm>
            <a:off x="4574267" y="4075009"/>
            <a:ext cx="795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Самара</a:t>
            </a:r>
            <a:endParaRPr lang="ru-RU" sz="9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F567467-58E5-4639-9A30-C117052EE22E}"/>
              </a:ext>
            </a:extLst>
          </p:cNvPr>
          <p:cNvSpPr txBox="1"/>
          <p:nvPr/>
        </p:nvSpPr>
        <p:spPr>
          <a:xfrm>
            <a:off x="5116054" y="4536380"/>
            <a:ext cx="795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Тюмень</a:t>
            </a:r>
            <a:endParaRPr lang="ru-RU" sz="9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11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88353" y="93442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</a:t>
            </a:r>
            <a:r>
              <a:rPr lang="ru-RU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588353" y="5817078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D223CC-F3D4-42D2-98B7-85ABCE39CC18}"/>
              </a:ext>
            </a:extLst>
          </p:cNvPr>
          <p:cNvSpPr txBox="1"/>
          <p:nvPr/>
        </p:nvSpPr>
        <p:spPr>
          <a:xfrm>
            <a:off x="541730" y="570040"/>
            <a:ext cx="506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Экономический эффект (калькулятор)</a:t>
            </a:r>
            <a:endParaRPr lang="en-US" sz="14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104B0-BA90-4E00-861E-C78BC6BFED16}"/>
              </a:ext>
            </a:extLst>
          </p:cNvPr>
          <p:cNvSpPr txBox="1"/>
          <p:nvPr/>
        </p:nvSpPr>
        <p:spPr>
          <a:xfrm>
            <a:off x="706837" y="1768274"/>
            <a:ext cx="3972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Интерактивный калькулятор</a:t>
            </a:r>
            <a:endParaRPr lang="ru-RU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3738B3-2E74-4751-9735-7E1F91D7B7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1" b="7868"/>
          <a:stretch/>
        </p:blipFill>
        <p:spPr>
          <a:xfrm>
            <a:off x="588353" y="2180564"/>
            <a:ext cx="4132026" cy="21268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61A7F3-0198-4D75-A8D8-DD56F08F5362}"/>
              </a:ext>
            </a:extLst>
          </p:cNvPr>
          <p:cNvSpPr txBox="1"/>
          <p:nvPr/>
        </p:nvSpPr>
        <p:spPr>
          <a:xfrm>
            <a:off x="706837" y="1070517"/>
            <a:ext cx="10820700" cy="335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Основываясь на результатах проведенного А/В-теста, был создан интерактивный калькулятор для прогнозирования баланса на будущее.</a:t>
            </a:r>
            <a:endParaRPr lang="ru-RU" sz="12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237370-741D-4DB7-B06A-B7C3F65F0B4C}"/>
              </a:ext>
            </a:extLst>
          </p:cNvPr>
          <p:cNvSpPr txBox="1"/>
          <p:nvPr/>
        </p:nvSpPr>
        <p:spPr>
          <a:xfrm>
            <a:off x="4685751" y="4064045"/>
            <a:ext cx="5547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общий план по клиентам для всех нейтральных торговых точек  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4D1E4-045D-4EFD-A42D-711C252A1CFF}"/>
              </a:ext>
            </a:extLst>
          </p:cNvPr>
          <p:cNvSpPr txBox="1"/>
          <p:nvPr/>
        </p:nvSpPr>
        <p:spPr>
          <a:xfrm>
            <a:off x="4695995" y="3549551"/>
            <a:ext cx="6359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потери, понесенные по трем торговым точкам, где пуши сработали хуже баннеров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E7BEFE-E5D7-4624-8D33-788ACD4612AE}"/>
              </a:ext>
            </a:extLst>
          </p:cNvPr>
          <p:cNvSpPr txBox="1"/>
          <p:nvPr/>
        </p:nvSpPr>
        <p:spPr>
          <a:xfrm>
            <a:off x="4689899" y="3272261"/>
            <a:ext cx="6359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доход от торговых точек, где пуши сработали в плюс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62D065-AA93-4FC1-A54E-21E8314BBBDD}"/>
              </a:ext>
            </a:extLst>
          </p:cNvPr>
          <p:cNvSpPr txBox="1"/>
          <p:nvPr/>
        </p:nvSpPr>
        <p:spPr>
          <a:xfrm>
            <a:off x="4695995" y="3803157"/>
            <a:ext cx="6359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чистая прибыль </a:t>
            </a:r>
            <a:endParaRPr lang="ru-RU" sz="11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343002-346A-493C-8297-7EEE434D5C88}"/>
              </a:ext>
            </a:extLst>
          </p:cNvPr>
          <p:cNvSpPr txBox="1"/>
          <p:nvPr/>
        </p:nvSpPr>
        <p:spPr>
          <a:xfrm>
            <a:off x="588353" y="4940540"/>
            <a:ext cx="11363281" cy="335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Таким образом, Баланс (240 191 руб.) достигнут при прогнозном количестве клиентов в каждой торговой точке равном 1000. </a:t>
            </a:r>
          </a:p>
        </p:txBody>
      </p:sp>
    </p:spTree>
    <p:extLst>
      <p:ext uri="{BB962C8B-B14F-4D97-AF65-F5344CB8AC3E}">
        <p14:creationId xmlns:p14="http://schemas.microsoft.com/office/powerpoint/2010/main" val="302997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588353" y="934425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429208" y="15307"/>
            <a:ext cx="10766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 новой механики </a:t>
            </a:r>
            <a:r>
              <a:rPr lang="ru-RU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пуш</a:t>
            </a:r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-уведомлений и ее влияния на бизнес-метрики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73696" y="5963382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D223CC-F3D4-42D2-98B7-85ABCE39CC18}"/>
              </a:ext>
            </a:extLst>
          </p:cNvPr>
          <p:cNvSpPr txBox="1"/>
          <p:nvPr/>
        </p:nvSpPr>
        <p:spPr>
          <a:xfrm>
            <a:off x="541730" y="570040"/>
            <a:ext cx="506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Раздел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ru-RU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4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Итоги и рекомендации</a:t>
            </a:r>
            <a:endParaRPr lang="ru-RU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C00C3-A3C1-444B-B59B-911593871F60}"/>
              </a:ext>
            </a:extLst>
          </p:cNvPr>
          <p:cNvSpPr txBox="1"/>
          <p:nvPr/>
        </p:nvSpPr>
        <p:spPr>
          <a:xfrm>
            <a:off x="673696" y="1399922"/>
            <a:ext cx="10727456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Вывод:</a:t>
            </a:r>
          </a:p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Новая механика пуш-уведомлений показала положительное влияние на бизнес-метрики: увеличение общей выручки составило  10,07% (с 50,07 до 55,12 </a:t>
            </a:r>
            <a:r>
              <a:rPr lang="ru-RU" sz="1200" b="1" baseline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млн.руб</a:t>
            </a: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 .</a:t>
            </a:r>
          </a:p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sz="1200" baseline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B28FF7-68C4-42EF-9547-C43F22A01399}"/>
              </a:ext>
            </a:extLst>
          </p:cNvPr>
          <p:cNvSpPr txBox="1"/>
          <p:nvPr/>
        </p:nvSpPr>
        <p:spPr>
          <a:xfrm>
            <a:off x="673696" y="3047415"/>
            <a:ext cx="10969663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Рекомендации :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Внедрить новую механику пуш-уведомлений на постоянной основе в торговых точках, показавших статистически значимый рост среднего чека и конверсии.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торговых точках без значимых изменений (нейтральный исход) сохранить текущую 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механику и провести дополнительный сбор данных .</a:t>
            </a:r>
          </a:p>
          <a:p>
            <a:pPr marL="171450" marR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точках с отрицательным исходом остановить действие новой механики.</a:t>
            </a:r>
          </a:p>
        </p:txBody>
      </p:sp>
    </p:spTree>
    <p:extLst>
      <p:ext uri="{BB962C8B-B14F-4D97-AF65-F5344CB8AC3E}">
        <p14:creationId xmlns:p14="http://schemas.microsoft.com/office/powerpoint/2010/main" val="1220321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>
            <a:off x="688768" y="823131"/>
            <a:ext cx="107274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62A411-6CB6-4476-BC35-C9ECE21AB0CB}"/>
              </a:ext>
            </a:extLst>
          </p:cNvPr>
          <p:cNvSpPr txBox="1"/>
          <p:nvPr/>
        </p:nvSpPr>
        <p:spPr>
          <a:xfrm>
            <a:off x="2204605" y="1687020"/>
            <a:ext cx="71719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БЛАГОДАРЮ</a:t>
            </a:r>
          </a:p>
          <a:p>
            <a:pPr algn="ctr"/>
            <a:r>
              <a:rPr lang="ru-RU" sz="6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 за </a:t>
            </a:r>
          </a:p>
          <a:p>
            <a:pPr algn="ctr"/>
            <a:r>
              <a:rPr lang="ru-RU" sz="6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lfaen" panose="010A0502050306030303" pitchFamily="18" charset="0"/>
              </a:rPr>
              <a:t>ВНИМАНИЕ!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FBF2145-C129-485F-A24E-063BFBE65E76}"/>
              </a:ext>
            </a:extLst>
          </p:cNvPr>
          <p:cNvCxnSpPr>
            <a:cxnSpLocks/>
          </p:cNvCxnSpPr>
          <p:nvPr/>
        </p:nvCxnSpPr>
        <p:spPr>
          <a:xfrm>
            <a:off x="642145" y="6166301"/>
            <a:ext cx="10820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 flipV="1">
            <a:off x="2584428" y="6553082"/>
            <a:ext cx="7254799" cy="19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B6230AF-BA1E-4690-A999-EE339DF4D900}"/>
              </a:ext>
            </a:extLst>
          </p:cNvPr>
          <p:cNvCxnSpPr>
            <a:cxnSpLocks/>
          </p:cNvCxnSpPr>
          <p:nvPr/>
        </p:nvCxnSpPr>
        <p:spPr>
          <a:xfrm flipV="1">
            <a:off x="2585233" y="288833"/>
            <a:ext cx="6791325" cy="398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4" name="Рисунок 13" descr="Квадратная академическая шапочка со сплошной заливкой">
            <a:extLst>
              <a:ext uri="{FF2B5EF4-FFF2-40B4-BE49-F238E27FC236}">
                <a16:creationId xmlns:a16="http://schemas.microsoft.com/office/drawing/2014/main" id="{67724652-D1B6-49FF-B2A4-D39B93E430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0790" y="170649"/>
            <a:ext cx="550105" cy="5501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5317144" y="529387"/>
            <a:ext cx="7788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dirty="0">
                <a:solidFill>
                  <a:srgbClr val="666633"/>
                </a:solidFill>
                <a:latin typeface="Sylfaen" panose="010A0502050306030303" pitchFamily="18" charset="0"/>
              </a:rPr>
              <a:t>Skypro</a:t>
            </a:r>
            <a:endParaRPr lang="ru-RU" sz="1300" b="1" dirty="0">
              <a:solidFill>
                <a:srgbClr val="666633"/>
              </a:solidFill>
              <a:latin typeface="Sylfaen" panose="010A050205030603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6571D-5B9A-4CC0-9D79-CC4A33319BE1}"/>
              </a:ext>
            </a:extLst>
          </p:cNvPr>
          <p:cNvSpPr txBox="1"/>
          <p:nvPr/>
        </p:nvSpPr>
        <p:spPr>
          <a:xfrm>
            <a:off x="5484794" y="6213498"/>
            <a:ext cx="138539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300" b="1" dirty="0">
                <a:solidFill>
                  <a:srgbClr val="666633"/>
                </a:solidFill>
                <a:latin typeface="Sylfaen" panose="010A0502050306030303" pitchFamily="18" charset="0"/>
              </a:rPr>
              <a:t>Апрель 2026 г.</a:t>
            </a:r>
          </a:p>
        </p:txBody>
      </p:sp>
    </p:spTree>
    <p:extLst>
      <p:ext uri="{BB962C8B-B14F-4D97-AF65-F5344CB8AC3E}">
        <p14:creationId xmlns:p14="http://schemas.microsoft.com/office/powerpoint/2010/main" val="114408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2360</TotalTime>
  <Words>1210</Words>
  <Application>Microsoft Office PowerPoint</Application>
  <PresentationFormat>Широкоэкранный</PresentationFormat>
  <Paragraphs>153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StratosSkyeng</vt:lpstr>
      <vt:lpstr>Sylfaen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Фунтов</dc:creator>
  <cp:lastModifiedBy>Александр Фунтов</cp:lastModifiedBy>
  <cp:revision>194</cp:revision>
  <dcterms:created xsi:type="dcterms:W3CDTF">2025-07-19T07:40:26Z</dcterms:created>
  <dcterms:modified xsi:type="dcterms:W3CDTF">2026-04-18T14:16:59Z</dcterms:modified>
</cp:coreProperties>
</file>