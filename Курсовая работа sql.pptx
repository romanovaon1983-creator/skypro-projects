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82" r:id="rId4"/>
    <p:sldId id="267" r:id="rId5"/>
    <p:sldId id="258" r:id="rId6"/>
    <p:sldId id="268" r:id="rId7"/>
    <p:sldId id="259" r:id="rId8"/>
    <p:sldId id="266" r:id="rId9"/>
    <p:sldId id="260" r:id="rId10"/>
    <p:sldId id="265" r:id="rId11"/>
    <p:sldId id="278" r:id="rId12"/>
    <p:sldId id="261" r:id="rId13"/>
    <p:sldId id="269" r:id="rId14"/>
    <p:sldId id="279" r:id="rId15"/>
    <p:sldId id="280" r:id="rId16"/>
    <p:sldId id="281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сследования в SkyCrossroads" id="{45D33331-C106-4F46-84CC-155A3B257C39}">
          <p14:sldIdLst>
            <p14:sldId id="256"/>
          </p14:sldIdLst>
        </p14:section>
        <p14:section name="Базовые метрики и когортный анализ игры" id="{DB3264C3-8E47-4249-919F-BC472B2D123E}">
          <p14:sldIdLst>
            <p14:sldId id="257"/>
            <p14:sldId id="282"/>
            <p14:sldId id="267"/>
            <p14:sldId id="258"/>
            <p14:sldId id="268"/>
            <p14:sldId id="259"/>
            <p14:sldId id="266"/>
            <p14:sldId id="260"/>
          </p14:sldIdLst>
        </p14:section>
        <p14:section name="Маркетинговые и финансовые метрики игры" id="{B683E0B3-D152-4430-BD70-58A3BB1B10E2}">
          <p14:sldIdLst>
            <p14:sldId id="265"/>
            <p14:sldId id="278"/>
            <p14:sldId id="261"/>
          </p14:sldIdLst>
        </p14:section>
        <p14:section name="Loyal MAU/DAU/WAU" id="{7F258823-6244-4D42-B1C6-8193BF8B9F38}">
          <p14:sldIdLst>
            <p14:sldId id="269"/>
            <p14:sldId id="279"/>
            <p14:sldId id="280"/>
            <p14:sldId id="281"/>
          </p14:sldIdLst>
        </p14:section>
        <p14:section name="Благодарю за внимание" id="{F284C941-DA4D-4F4D-8DE6-EEAF16C7F459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андр Фунтов" initials="АФ" lastIdx="3" clrIdx="0">
    <p:extLst>
      <p:ext uri="{19B8F6BF-5375-455C-9EA6-DF929625EA0E}">
        <p15:presenceInfo xmlns:p15="http://schemas.microsoft.com/office/powerpoint/2012/main" userId="01b599af3d433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71215C"/>
    <a:srgbClr val="008000"/>
    <a:srgbClr val="525129"/>
    <a:srgbClr val="666633"/>
    <a:srgbClr val="9C7FDD"/>
    <a:srgbClr val="E3A1D2"/>
    <a:srgbClr val="9933FF"/>
    <a:srgbClr val="3333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/>
  </p:normalViewPr>
  <p:slideViewPr>
    <p:cSldViewPr snapToGrid="0">
      <p:cViewPr>
        <p:scale>
          <a:sx n="100" d="100"/>
          <a:sy n="100" d="100"/>
        </p:scale>
        <p:origin x="33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6768\Documents\__&#1056;&#1054;&#1052;&#1040;&#1053;&#1054;&#1042;&#1040;\0_&#1056;&#1072;&#1073;&#1086;&#1095;&#1080;&#1077;%20&#1076;&#1086;&#1082;&#1091;&#1084;&#1077;&#1085;&#1090;&#1099;\SkyPro\&#1050;&#1059;&#1056;&#1057;&#1054;&#1042;&#1040;&#1071;%20SQL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&#1050;&#1059;&#1056;&#1057;&#1054;&#1042;&#1040;&#1071;%20SQL\&#1050;&#1059;&#1056;&#1057;&#1054;&#1042;&#1040;&#1071;%20SQL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20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b="1" kern="120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пользовательской базой</a:t>
            </a:r>
          </a:p>
        </c:rich>
      </c:tx>
      <c:layout>
        <c:manualLayout>
          <c:xMode val="edge"/>
          <c:yMode val="edge"/>
          <c:x val="0.25418394054370125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2000" b="1" i="0" u="none" strike="noStrike" kern="1200" spc="0" baseline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'Анализ польз.-й базы'!$B$1</c:f>
              <c:strCache>
                <c:ptCount val="1"/>
                <c:pt idx="0">
                  <c:v>cnt_user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F8943"/>
              </a:solidFill>
              <a:ln w="9525" cap="sq">
                <a:solidFill>
                  <a:srgbClr val="71215C"/>
                </a:solidFill>
              </a:ln>
              <a:effectLst/>
            </c:spPr>
          </c:marker>
          <c:cat>
            <c:numRef>
              <c:f>'Анализ польз.-й базы'!$A$2:$A$10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'Анализ польз.-й базы'!$B$2:$B$10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D3-4676-84BB-D70291800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3095855"/>
        <c:axId val="1373095023"/>
      </c:lineChart>
      <c:dateAx>
        <c:axId val="13730958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dirty="0" smtClean="0"/>
                  <a:t>Месяц (период)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373095023"/>
        <c:crosses val="autoZero"/>
        <c:auto val="1"/>
        <c:lblOffset val="100"/>
        <c:baseTimeUnit val="months"/>
      </c:dateAx>
      <c:valAx>
        <c:axId val="1373095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dirty="0" smtClean="0"/>
                  <a:t>Кол-во пользователей, чел.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373095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b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Объем когорт </a:t>
            </a:r>
            <a:endParaRPr lang="en-US" sz="2000" b="1">
              <a:solidFill>
                <a:srgbClr val="71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1159983477576006"/>
          <c:y val="0.18492490051646771"/>
          <c:w val="0.85363901012401677"/>
          <c:h val="0.49980458894251123"/>
        </c:manualLayout>
      </c:layout>
      <c:lineChart>
        <c:grouping val="standard"/>
        <c:varyColors val="0"/>
        <c:ser>
          <c:idx val="0"/>
          <c:order val="0"/>
          <c:tx>
            <c:strRef>
              <c:f>Когорты!$B$1</c:f>
              <c:strCache>
                <c:ptCount val="1"/>
                <c:pt idx="0">
                  <c:v>Количество пользователей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1215C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Когорты!$A$2:$A$10</c:f>
              <c:numCache>
                <c:formatCode>dd/mm/yyyy\ 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Когорты!$B$2:$B$10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58-4E7B-A9BC-0486A28B057D}"/>
            </c:ext>
          </c:extLst>
        </c:ser>
        <c:ser>
          <c:idx val="1"/>
          <c:order val="1"/>
          <c:tx>
            <c:strRef>
              <c:f>Когорты!$C$1</c:f>
              <c:strCache>
                <c:ptCount val="1"/>
                <c:pt idx="0">
                  <c:v>Среднее количество пользователей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71215C"/>
                </a:solidFill>
              </a:ln>
              <a:effectLst/>
            </c:spPr>
          </c:marker>
          <c:val>
            <c:numRef>
              <c:f>Когорты!$C$2:$C$10</c:f>
              <c:numCache>
                <c:formatCode>General</c:formatCode>
                <c:ptCount val="9"/>
                <c:pt idx="0">
                  <c:v>342</c:v>
                </c:pt>
                <c:pt idx="1">
                  <c:v>342</c:v>
                </c:pt>
                <c:pt idx="2">
                  <c:v>342</c:v>
                </c:pt>
                <c:pt idx="3">
                  <c:v>342</c:v>
                </c:pt>
                <c:pt idx="4">
                  <c:v>342</c:v>
                </c:pt>
                <c:pt idx="5">
                  <c:v>342</c:v>
                </c:pt>
                <c:pt idx="6">
                  <c:v>342</c:v>
                </c:pt>
                <c:pt idx="7">
                  <c:v>342</c:v>
                </c:pt>
                <c:pt idx="8">
                  <c:v>342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58-4E7B-A9BC-0486A28B0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3027632"/>
        <c:axId val="1213033040"/>
      </c:lineChart>
      <c:dateAx>
        <c:axId val="1213027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Когорта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dd/mm/yyyy\ 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033040"/>
        <c:crosses val="autoZero"/>
        <c:auto val="1"/>
        <c:lblOffset val="100"/>
        <c:baseTimeUnit val="months"/>
      </c:dateAx>
      <c:valAx>
        <c:axId val="1213033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</a:t>
                </a:r>
                <a:r>
                  <a:rPr lang="ru-RU" baseline="0"/>
                  <a:t> пользователей, чел.</a:t>
                </a:r>
                <a:endParaRPr lang="ru-RU"/>
              </a:p>
            </c:rich>
          </c:tx>
          <c:layout>
            <c:manualLayout>
              <c:xMode val="edge"/>
              <c:yMode val="edge"/>
              <c:x val="4.131478383854869E-3"/>
              <c:y val="0.298224844080985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02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количества игровых сессий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'Анализ игровых сессий'!$B$1</c:f>
              <c:strCache>
                <c:ptCount val="1"/>
                <c:pt idx="0">
                  <c:v>Количество игровых сессий всего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'Анализ игровых сессий'!$A$2:$A$11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'Анализ игровых сессий'!$B$2:$B$11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80-4E18-958D-0F56CC8859E4}"/>
            </c:ext>
          </c:extLst>
        </c:ser>
        <c:ser>
          <c:idx val="1"/>
          <c:order val="1"/>
          <c:tx>
            <c:strRef>
              <c:f>'Анализ игровых сессий'!$C$1</c:f>
              <c:strCache>
                <c:ptCount val="1"/>
                <c:pt idx="0">
                  <c:v>Количество сессий свыше 5 минут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'Анализ игровых сессий'!$A$2:$A$11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'Анализ игровых сессий'!$C$2:$C$11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80-4E18-958D-0F56CC885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7641327"/>
        <c:axId val="1467639247"/>
      </c:lineChart>
      <c:lineChart>
        <c:grouping val="standard"/>
        <c:varyColors val="0"/>
        <c:ser>
          <c:idx val="2"/>
          <c:order val="2"/>
          <c:tx>
            <c:strRef>
              <c:f>'Анализ игровых сессий'!$D$1</c:f>
              <c:strCache>
                <c:ptCount val="1"/>
                <c:pt idx="0">
                  <c:v>Доля сессий свыше 5 минут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cat>
            <c:numRef>
              <c:f>'Анализ игровых сессий'!$A$2:$A$11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'Анализ игровых сессий'!$D$2:$D$11</c:f>
              <c:numCache>
                <c:formatCode>0.00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80-4E18-958D-0F56CC885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0452495"/>
        <c:axId val="1500454575"/>
      </c:lineChart>
      <c:dateAx>
        <c:axId val="14676413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>
            <c:manualLayout>
              <c:xMode val="edge"/>
              <c:yMode val="edge"/>
              <c:x val="0.42753633405554953"/>
              <c:y val="0.847967214746144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7639247"/>
        <c:crosses val="autoZero"/>
        <c:auto val="1"/>
        <c:lblOffset val="100"/>
        <c:baseTimeUnit val="months"/>
      </c:dateAx>
      <c:valAx>
        <c:axId val="1467639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 сессий,</a:t>
                </a:r>
                <a:r>
                  <a:rPr lang="ru-RU" baseline="0"/>
                  <a:t> шт.</a:t>
                </a:r>
                <a:endParaRPr lang="ru-RU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7641327"/>
        <c:crosses val="autoZero"/>
        <c:crossBetween val="between"/>
      </c:valAx>
      <c:valAx>
        <c:axId val="150045457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Доля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0452495"/>
        <c:crosses val="max"/>
        <c:crossBetween val="between"/>
      </c:valAx>
      <c:dateAx>
        <c:axId val="150045249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0045457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средней длительности игровой сессии</a:t>
            </a:r>
            <a:r>
              <a:rPr lang="en-US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</a:t>
            </a:r>
            <a:r>
              <a:rPr lang="en-US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0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доли сессий свыше 1 часа</a:t>
            </a:r>
          </a:p>
        </c:rich>
      </c:tx>
      <c:layout>
        <c:manualLayout>
          <c:xMode val="edge"/>
          <c:yMode val="edge"/>
          <c:x val="0.10746936737619839"/>
          <c:y val="6.37958532695374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'Длительность сессии'!$B$1</c:f>
              <c:strCache>
                <c:ptCount val="1"/>
                <c:pt idx="0">
                  <c:v>Средняя длительность, ч.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'Длительность сессии'!$A$2:$A$11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'Длительность сессии'!$B$2:$B$11</c:f>
              <c:numCache>
                <c:formatCode>General</c:formatCode>
                <c:ptCount val="10"/>
                <c:pt idx="0">
                  <c:v>2.2188248095756253</c:v>
                </c:pt>
                <c:pt idx="1">
                  <c:v>2.3230326108181996</c:v>
                </c:pt>
                <c:pt idx="2">
                  <c:v>2.2760932944606416</c:v>
                </c:pt>
                <c:pt idx="3">
                  <c:v>2.3715035931453845</c:v>
                </c:pt>
                <c:pt idx="4">
                  <c:v>2.5163474328278799</c:v>
                </c:pt>
                <c:pt idx="5">
                  <c:v>2.7311819172113294</c:v>
                </c:pt>
                <c:pt idx="6">
                  <c:v>2.3998779342723009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E4-4260-8447-B82FA6C1A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5130480"/>
        <c:axId val="1375134224"/>
      </c:lineChart>
      <c:lineChart>
        <c:grouping val="standard"/>
        <c:varyColors val="0"/>
        <c:ser>
          <c:idx val="1"/>
          <c:order val="1"/>
          <c:tx>
            <c:strRef>
              <c:f>'Длительность сессии'!$C$1</c:f>
              <c:strCache>
                <c:ptCount val="1"/>
                <c:pt idx="0">
                  <c:v>Доля сессий свыше 1 часа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cat>
            <c:numRef>
              <c:f>'Длительность сессии'!$A$2:$A$11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'Длительность сессии'!$C$2:$C$11</c:f>
              <c:numCache>
                <c:formatCode>General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E4-4260-8447-B82FA6C1A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2447840"/>
        <c:axId val="1372449504"/>
      </c:lineChart>
      <c:dateAx>
        <c:axId val="1375130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75134224"/>
        <c:crosses val="autoZero"/>
        <c:auto val="1"/>
        <c:lblOffset val="100"/>
        <c:baseTimeUnit val="months"/>
      </c:dateAx>
      <c:valAx>
        <c:axId val="1375134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Ср.длительность, ч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75130480"/>
        <c:crosses val="autoZero"/>
        <c:crossBetween val="between"/>
      </c:valAx>
      <c:valAx>
        <c:axId val="137244950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72447840"/>
        <c:crosses val="max"/>
        <c:crossBetween val="between"/>
      </c:valAx>
      <c:dateAx>
        <c:axId val="13724478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7244950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2000" b="1" i="0" baseline="0" dirty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</a:t>
            </a:r>
            <a:r>
              <a:rPr lang="en-US" sz="2000" b="1" i="0" baseline="0" dirty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DAU, WAU, MAU</a:t>
            </a:r>
            <a:r>
              <a:rPr lang="ru-RU" sz="2000" i="0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c:rich>
      </c:tx>
      <c:layout>
        <c:manualLayout>
          <c:xMode val="edge"/>
          <c:yMode val="edge"/>
          <c:x val="0.36452007166319356"/>
          <c:y val="3.058401501169417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0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6.5974737406568437E-2"/>
          <c:y val="7.4787401574803167E-2"/>
          <c:w val="0.87829811708836636"/>
          <c:h val="0.70230580001029286"/>
        </c:manualLayout>
      </c:layout>
      <c:lineChart>
        <c:grouping val="standard"/>
        <c:varyColors val="0"/>
        <c:ser>
          <c:idx val="1"/>
          <c:order val="1"/>
          <c:tx>
            <c:strRef>
              <c:f>'Маркетинг. аналитика'!$E$1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cat>
            <c:numRef>
              <c:f>'Маркетинг. аналитика'!$C$2:$C$274</c:f>
              <c:numCache>
                <c:formatCode>m/d/yyyy</c:formatCode>
                <c:ptCount val="273"/>
                <c:pt idx="0">
                  <c:v>44743</c:v>
                </c:pt>
                <c:pt idx="1">
                  <c:v>44744</c:v>
                </c:pt>
                <c:pt idx="2">
                  <c:v>44745</c:v>
                </c:pt>
                <c:pt idx="3">
                  <c:v>44746</c:v>
                </c:pt>
                <c:pt idx="4">
                  <c:v>44747</c:v>
                </c:pt>
                <c:pt idx="5">
                  <c:v>44748</c:v>
                </c:pt>
                <c:pt idx="6">
                  <c:v>44749</c:v>
                </c:pt>
                <c:pt idx="7">
                  <c:v>44750</c:v>
                </c:pt>
                <c:pt idx="8">
                  <c:v>44751</c:v>
                </c:pt>
                <c:pt idx="9">
                  <c:v>44752</c:v>
                </c:pt>
                <c:pt idx="10">
                  <c:v>44753</c:v>
                </c:pt>
                <c:pt idx="11">
                  <c:v>44754</c:v>
                </c:pt>
                <c:pt idx="12">
                  <c:v>44755</c:v>
                </c:pt>
                <c:pt idx="13">
                  <c:v>44756</c:v>
                </c:pt>
                <c:pt idx="14">
                  <c:v>44757</c:v>
                </c:pt>
                <c:pt idx="15">
                  <c:v>44758</c:v>
                </c:pt>
                <c:pt idx="16">
                  <c:v>44759</c:v>
                </c:pt>
                <c:pt idx="17">
                  <c:v>44760</c:v>
                </c:pt>
                <c:pt idx="18">
                  <c:v>44761</c:v>
                </c:pt>
                <c:pt idx="19">
                  <c:v>44762</c:v>
                </c:pt>
                <c:pt idx="20">
                  <c:v>44763</c:v>
                </c:pt>
                <c:pt idx="21">
                  <c:v>44764</c:v>
                </c:pt>
                <c:pt idx="22">
                  <c:v>44765</c:v>
                </c:pt>
                <c:pt idx="23">
                  <c:v>44766</c:v>
                </c:pt>
                <c:pt idx="24">
                  <c:v>44767</c:v>
                </c:pt>
                <c:pt idx="25">
                  <c:v>44768</c:v>
                </c:pt>
                <c:pt idx="26">
                  <c:v>44769</c:v>
                </c:pt>
                <c:pt idx="27">
                  <c:v>44770</c:v>
                </c:pt>
                <c:pt idx="28">
                  <c:v>44771</c:v>
                </c:pt>
                <c:pt idx="29">
                  <c:v>44772</c:v>
                </c:pt>
                <c:pt idx="30">
                  <c:v>44773</c:v>
                </c:pt>
                <c:pt idx="31">
                  <c:v>44774</c:v>
                </c:pt>
                <c:pt idx="32">
                  <c:v>44775</c:v>
                </c:pt>
                <c:pt idx="33">
                  <c:v>44776</c:v>
                </c:pt>
                <c:pt idx="34">
                  <c:v>44777</c:v>
                </c:pt>
                <c:pt idx="35">
                  <c:v>44778</c:v>
                </c:pt>
                <c:pt idx="36">
                  <c:v>44779</c:v>
                </c:pt>
                <c:pt idx="37">
                  <c:v>44780</c:v>
                </c:pt>
                <c:pt idx="38">
                  <c:v>44781</c:v>
                </c:pt>
                <c:pt idx="39">
                  <c:v>44782</c:v>
                </c:pt>
                <c:pt idx="40">
                  <c:v>44783</c:v>
                </c:pt>
                <c:pt idx="41">
                  <c:v>44784</c:v>
                </c:pt>
                <c:pt idx="42">
                  <c:v>44785</c:v>
                </c:pt>
                <c:pt idx="43">
                  <c:v>44786</c:v>
                </c:pt>
                <c:pt idx="44">
                  <c:v>44787</c:v>
                </c:pt>
                <c:pt idx="45">
                  <c:v>44788</c:v>
                </c:pt>
                <c:pt idx="46">
                  <c:v>44789</c:v>
                </c:pt>
                <c:pt idx="47">
                  <c:v>44790</c:v>
                </c:pt>
                <c:pt idx="48">
                  <c:v>44791</c:v>
                </c:pt>
                <c:pt idx="49">
                  <c:v>44792</c:v>
                </c:pt>
                <c:pt idx="50">
                  <c:v>44793</c:v>
                </c:pt>
                <c:pt idx="51">
                  <c:v>44794</c:v>
                </c:pt>
                <c:pt idx="52">
                  <c:v>44795</c:v>
                </c:pt>
                <c:pt idx="53">
                  <c:v>44796</c:v>
                </c:pt>
                <c:pt idx="54">
                  <c:v>44797</c:v>
                </c:pt>
                <c:pt idx="55">
                  <c:v>44798</c:v>
                </c:pt>
                <c:pt idx="56">
                  <c:v>44799</c:v>
                </c:pt>
                <c:pt idx="57">
                  <c:v>44800</c:v>
                </c:pt>
                <c:pt idx="58">
                  <c:v>44801</c:v>
                </c:pt>
                <c:pt idx="59">
                  <c:v>44802</c:v>
                </c:pt>
                <c:pt idx="60">
                  <c:v>44803</c:v>
                </c:pt>
                <c:pt idx="61">
                  <c:v>44804</c:v>
                </c:pt>
                <c:pt idx="62">
                  <c:v>44805</c:v>
                </c:pt>
                <c:pt idx="63">
                  <c:v>44806</c:v>
                </c:pt>
                <c:pt idx="64">
                  <c:v>44807</c:v>
                </c:pt>
                <c:pt idx="65">
                  <c:v>44808</c:v>
                </c:pt>
                <c:pt idx="66">
                  <c:v>44809</c:v>
                </c:pt>
                <c:pt idx="67">
                  <c:v>44810</c:v>
                </c:pt>
                <c:pt idx="68">
                  <c:v>44811</c:v>
                </c:pt>
                <c:pt idx="69">
                  <c:v>44812</c:v>
                </c:pt>
                <c:pt idx="70">
                  <c:v>44813</c:v>
                </c:pt>
                <c:pt idx="71">
                  <c:v>44814</c:v>
                </c:pt>
                <c:pt idx="72">
                  <c:v>44815</c:v>
                </c:pt>
                <c:pt idx="73">
                  <c:v>44816</c:v>
                </c:pt>
                <c:pt idx="74">
                  <c:v>44817</c:v>
                </c:pt>
                <c:pt idx="75">
                  <c:v>44818</c:v>
                </c:pt>
                <c:pt idx="76">
                  <c:v>44819</c:v>
                </c:pt>
                <c:pt idx="77">
                  <c:v>44820</c:v>
                </c:pt>
                <c:pt idx="78">
                  <c:v>44821</c:v>
                </c:pt>
                <c:pt idx="79">
                  <c:v>44822</c:v>
                </c:pt>
                <c:pt idx="80">
                  <c:v>44823</c:v>
                </c:pt>
                <c:pt idx="81">
                  <c:v>44824</c:v>
                </c:pt>
                <c:pt idx="82">
                  <c:v>44825</c:v>
                </c:pt>
                <c:pt idx="83">
                  <c:v>44826</c:v>
                </c:pt>
                <c:pt idx="84">
                  <c:v>44827</c:v>
                </c:pt>
                <c:pt idx="85">
                  <c:v>44828</c:v>
                </c:pt>
                <c:pt idx="86">
                  <c:v>44829</c:v>
                </c:pt>
                <c:pt idx="87">
                  <c:v>44830</c:v>
                </c:pt>
                <c:pt idx="88">
                  <c:v>44831</c:v>
                </c:pt>
                <c:pt idx="89">
                  <c:v>44832</c:v>
                </c:pt>
                <c:pt idx="90">
                  <c:v>44833</c:v>
                </c:pt>
                <c:pt idx="91">
                  <c:v>44834</c:v>
                </c:pt>
                <c:pt idx="92">
                  <c:v>44835</c:v>
                </c:pt>
                <c:pt idx="93">
                  <c:v>44836</c:v>
                </c:pt>
                <c:pt idx="94">
                  <c:v>44837</c:v>
                </c:pt>
                <c:pt idx="95">
                  <c:v>44838</c:v>
                </c:pt>
                <c:pt idx="96">
                  <c:v>44839</c:v>
                </c:pt>
                <c:pt idx="97">
                  <c:v>44840</c:v>
                </c:pt>
                <c:pt idx="98">
                  <c:v>44841</c:v>
                </c:pt>
                <c:pt idx="99">
                  <c:v>44842</c:v>
                </c:pt>
                <c:pt idx="100">
                  <c:v>44843</c:v>
                </c:pt>
                <c:pt idx="101">
                  <c:v>44844</c:v>
                </c:pt>
                <c:pt idx="102">
                  <c:v>44845</c:v>
                </c:pt>
                <c:pt idx="103">
                  <c:v>44846</c:v>
                </c:pt>
                <c:pt idx="104">
                  <c:v>44847</c:v>
                </c:pt>
                <c:pt idx="105">
                  <c:v>44848</c:v>
                </c:pt>
                <c:pt idx="106">
                  <c:v>44849</c:v>
                </c:pt>
                <c:pt idx="107">
                  <c:v>44850</c:v>
                </c:pt>
                <c:pt idx="108">
                  <c:v>44851</c:v>
                </c:pt>
                <c:pt idx="109">
                  <c:v>44852</c:v>
                </c:pt>
                <c:pt idx="110">
                  <c:v>44853</c:v>
                </c:pt>
                <c:pt idx="111">
                  <c:v>44854</c:v>
                </c:pt>
                <c:pt idx="112">
                  <c:v>44855</c:v>
                </c:pt>
                <c:pt idx="113">
                  <c:v>44856</c:v>
                </c:pt>
                <c:pt idx="114">
                  <c:v>44857</c:v>
                </c:pt>
                <c:pt idx="115">
                  <c:v>44858</c:v>
                </c:pt>
                <c:pt idx="116">
                  <c:v>44859</c:v>
                </c:pt>
                <c:pt idx="117">
                  <c:v>44860</c:v>
                </c:pt>
                <c:pt idx="118">
                  <c:v>44861</c:v>
                </c:pt>
                <c:pt idx="119">
                  <c:v>44862</c:v>
                </c:pt>
                <c:pt idx="120">
                  <c:v>44863</c:v>
                </c:pt>
                <c:pt idx="121">
                  <c:v>44864</c:v>
                </c:pt>
                <c:pt idx="122">
                  <c:v>44865</c:v>
                </c:pt>
                <c:pt idx="123">
                  <c:v>44866</c:v>
                </c:pt>
                <c:pt idx="124">
                  <c:v>44867</c:v>
                </c:pt>
                <c:pt idx="125">
                  <c:v>44868</c:v>
                </c:pt>
                <c:pt idx="126">
                  <c:v>44869</c:v>
                </c:pt>
                <c:pt idx="127">
                  <c:v>44870</c:v>
                </c:pt>
                <c:pt idx="128">
                  <c:v>44871</c:v>
                </c:pt>
                <c:pt idx="129">
                  <c:v>44872</c:v>
                </c:pt>
                <c:pt idx="130">
                  <c:v>44873</c:v>
                </c:pt>
                <c:pt idx="131">
                  <c:v>44874</c:v>
                </c:pt>
                <c:pt idx="132">
                  <c:v>44875</c:v>
                </c:pt>
                <c:pt idx="133">
                  <c:v>44876</c:v>
                </c:pt>
                <c:pt idx="134">
                  <c:v>44877</c:v>
                </c:pt>
                <c:pt idx="135">
                  <c:v>44878</c:v>
                </c:pt>
                <c:pt idx="136">
                  <c:v>44879</c:v>
                </c:pt>
                <c:pt idx="137">
                  <c:v>44880</c:v>
                </c:pt>
                <c:pt idx="138">
                  <c:v>44881</c:v>
                </c:pt>
                <c:pt idx="139">
                  <c:v>44882</c:v>
                </c:pt>
                <c:pt idx="140">
                  <c:v>44883</c:v>
                </c:pt>
                <c:pt idx="141">
                  <c:v>44884</c:v>
                </c:pt>
                <c:pt idx="142">
                  <c:v>44885</c:v>
                </c:pt>
                <c:pt idx="143">
                  <c:v>44886</c:v>
                </c:pt>
                <c:pt idx="144">
                  <c:v>44887</c:v>
                </c:pt>
                <c:pt idx="145">
                  <c:v>44888</c:v>
                </c:pt>
                <c:pt idx="146">
                  <c:v>44889</c:v>
                </c:pt>
                <c:pt idx="147">
                  <c:v>44890</c:v>
                </c:pt>
                <c:pt idx="148">
                  <c:v>44891</c:v>
                </c:pt>
                <c:pt idx="149">
                  <c:v>44892</c:v>
                </c:pt>
                <c:pt idx="150">
                  <c:v>44893</c:v>
                </c:pt>
                <c:pt idx="151">
                  <c:v>44894</c:v>
                </c:pt>
                <c:pt idx="152">
                  <c:v>44895</c:v>
                </c:pt>
                <c:pt idx="153">
                  <c:v>44896</c:v>
                </c:pt>
                <c:pt idx="154">
                  <c:v>44897</c:v>
                </c:pt>
                <c:pt idx="155">
                  <c:v>44898</c:v>
                </c:pt>
                <c:pt idx="156">
                  <c:v>44899</c:v>
                </c:pt>
                <c:pt idx="157">
                  <c:v>44900</c:v>
                </c:pt>
                <c:pt idx="158">
                  <c:v>44901</c:v>
                </c:pt>
                <c:pt idx="159">
                  <c:v>44902</c:v>
                </c:pt>
                <c:pt idx="160">
                  <c:v>44903</c:v>
                </c:pt>
                <c:pt idx="161">
                  <c:v>44904</c:v>
                </c:pt>
                <c:pt idx="162">
                  <c:v>44905</c:v>
                </c:pt>
                <c:pt idx="163">
                  <c:v>44906</c:v>
                </c:pt>
                <c:pt idx="164">
                  <c:v>44907</c:v>
                </c:pt>
                <c:pt idx="165">
                  <c:v>44908</c:v>
                </c:pt>
                <c:pt idx="166">
                  <c:v>44909</c:v>
                </c:pt>
                <c:pt idx="167">
                  <c:v>44910</c:v>
                </c:pt>
                <c:pt idx="168">
                  <c:v>44911</c:v>
                </c:pt>
                <c:pt idx="169">
                  <c:v>44912</c:v>
                </c:pt>
                <c:pt idx="170">
                  <c:v>44913</c:v>
                </c:pt>
                <c:pt idx="171">
                  <c:v>44914</c:v>
                </c:pt>
                <c:pt idx="172">
                  <c:v>44915</c:v>
                </c:pt>
                <c:pt idx="173">
                  <c:v>44916</c:v>
                </c:pt>
                <c:pt idx="174">
                  <c:v>44917</c:v>
                </c:pt>
                <c:pt idx="175">
                  <c:v>44918</c:v>
                </c:pt>
                <c:pt idx="176">
                  <c:v>44919</c:v>
                </c:pt>
                <c:pt idx="177">
                  <c:v>44920</c:v>
                </c:pt>
                <c:pt idx="178">
                  <c:v>44921</c:v>
                </c:pt>
                <c:pt idx="179">
                  <c:v>44922</c:v>
                </c:pt>
                <c:pt idx="180">
                  <c:v>44923</c:v>
                </c:pt>
                <c:pt idx="181">
                  <c:v>44924</c:v>
                </c:pt>
                <c:pt idx="182">
                  <c:v>44925</c:v>
                </c:pt>
                <c:pt idx="183">
                  <c:v>44926</c:v>
                </c:pt>
                <c:pt idx="184">
                  <c:v>44927</c:v>
                </c:pt>
                <c:pt idx="185">
                  <c:v>44928</c:v>
                </c:pt>
                <c:pt idx="186">
                  <c:v>44929</c:v>
                </c:pt>
                <c:pt idx="187">
                  <c:v>44930</c:v>
                </c:pt>
                <c:pt idx="188">
                  <c:v>44931</c:v>
                </c:pt>
                <c:pt idx="189">
                  <c:v>44932</c:v>
                </c:pt>
                <c:pt idx="190">
                  <c:v>44933</c:v>
                </c:pt>
                <c:pt idx="191">
                  <c:v>44934</c:v>
                </c:pt>
                <c:pt idx="192">
                  <c:v>44935</c:v>
                </c:pt>
                <c:pt idx="193">
                  <c:v>44936</c:v>
                </c:pt>
                <c:pt idx="194">
                  <c:v>44937</c:v>
                </c:pt>
                <c:pt idx="195">
                  <c:v>44938</c:v>
                </c:pt>
                <c:pt idx="196">
                  <c:v>44939</c:v>
                </c:pt>
                <c:pt idx="197">
                  <c:v>44940</c:v>
                </c:pt>
                <c:pt idx="198">
                  <c:v>44941</c:v>
                </c:pt>
                <c:pt idx="199">
                  <c:v>44942</c:v>
                </c:pt>
                <c:pt idx="200">
                  <c:v>44943</c:v>
                </c:pt>
                <c:pt idx="201">
                  <c:v>44944</c:v>
                </c:pt>
                <c:pt idx="202">
                  <c:v>44945</c:v>
                </c:pt>
                <c:pt idx="203">
                  <c:v>44946</c:v>
                </c:pt>
                <c:pt idx="204">
                  <c:v>44947</c:v>
                </c:pt>
                <c:pt idx="205">
                  <c:v>44948</c:v>
                </c:pt>
                <c:pt idx="206">
                  <c:v>44949</c:v>
                </c:pt>
                <c:pt idx="207">
                  <c:v>44950</c:v>
                </c:pt>
                <c:pt idx="208">
                  <c:v>44951</c:v>
                </c:pt>
                <c:pt idx="209">
                  <c:v>44952</c:v>
                </c:pt>
                <c:pt idx="210">
                  <c:v>44953</c:v>
                </c:pt>
                <c:pt idx="211">
                  <c:v>44954</c:v>
                </c:pt>
                <c:pt idx="212">
                  <c:v>44955</c:v>
                </c:pt>
                <c:pt idx="213">
                  <c:v>44956</c:v>
                </c:pt>
                <c:pt idx="214">
                  <c:v>44957</c:v>
                </c:pt>
                <c:pt idx="215">
                  <c:v>44958</c:v>
                </c:pt>
                <c:pt idx="216">
                  <c:v>44959</c:v>
                </c:pt>
                <c:pt idx="217">
                  <c:v>44960</c:v>
                </c:pt>
                <c:pt idx="218">
                  <c:v>44961</c:v>
                </c:pt>
                <c:pt idx="219">
                  <c:v>44962</c:v>
                </c:pt>
                <c:pt idx="220">
                  <c:v>44963</c:v>
                </c:pt>
                <c:pt idx="221">
                  <c:v>44964</c:v>
                </c:pt>
                <c:pt idx="222">
                  <c:v>44965</c:v>
                </c:pt>
                <c:pt idx="223">
                  <c:v>44966</c:v>
                </c:pt>
                <c:pt idx="224">
                  <c:v>44967</c:v>
                </c:pt>
                <c:pt idx="225">
                  <c:v>44968</c:v>
                </c:pt>
                <c:pt idx="226">
                  <c:v>44969</c:v>
                </c:pt>
                <c:pt idx="227">
                  <c:v>44970</c:v>
                </c:pt>
                <c:pt idx="228">
                  <c:v>44971</c:v>
                </c:pt>
                <c:pt idx="229">
                  <c:v>44972</c:v>
                </c:pt>
                <c:pt idx="230">
                  <c:v>44973</c:v>
                </c:pt>
                <c:pt idx="231">
                  <c:v>44974</c:v>
                </c:pt>
                <c:pt idx="232">
                  <c:v>44975</c:v>
                </c:pt>
                <c:pt idx="233">
                  <c:v>44976</c:v>
                </c:pt>
                <c:pt idx="234">
                  <c:v>44977</c:v>
                </c:pt>
                <c:pt idx="235">
                  <c:v>44978</c:v>
                </c:pt>
                <c:pt idx="236">
                  <c:v>44979</c:v>
                </c:pt>
                <c:pt idx="237">
                  <c:v>44980</c:v>
                </c:pt>
                <c:pt idx="238">
                  <c:v>44981</c:v>
                </c:pt>
                <c:pt idx="239">
                  <c:v>44982</c:v>
                </c:pt>
                <c:pt idx="240">
                  <c:v>44983</c:v>
                </c:pt>
                <c:pt idx="241">
                  <c:v>44984</c:v>
                </c:pt>
                <c:pt idx="242">
                  <c:v>44985</c:v>
                </c:pt>
                <c:pt idx="243">
                  <c:v>44986</c:v>
                </c:pt>
                <c:pt idx="244">
                  <c:v>44987</c:v>
                </c:pt>
                <c:pt idx="245">
                  <c:v>44988</c:v>
                </c:pt>
                <c:pt idx="246">
                  <c:v>44989</c:v>
                </c:pt>
                <c:pt idx="247">
                  <c:v>44990</c:v>
                </c:pt>
                <c:pt idx="248">
                  <c:v>44991</c:v>
                </c:pt>
                <c:pt idx="249">
                  <c:v>44992</c:v>
                </c:pt>
                <c:pt idx="250">
                  <c:v>44993</c:v>
                </c:pt>
                <c:pt idx="251">
                  <c:v>44994</c:v>
                </c:pt>
                <c:pt idx="252">
                  <c:v>44995</c:v>
                </c:pt>
                <c:pt idx="253">
                  <c:v>44996</c:v>
                </c:pt>
                <c:pt idx="254">
                  <c:v>44997</c:v>
                </c:pt>
                <c:pt idx="255">
                  <c:v>44998</c:v>
                </c:pt>
                <c:pt idx="256">
                  <c:v>44999</c:v>
                </c:pt>
                <c:pt idx="257">
                  <c:v>45000</c:v>
                </c:pt>
                <c:pt idx="258">
                  <c:v>45001</c:v>
                </c:pt>
                <c:pt idx="259">
                  <c:v>45002</c:v>
                </c:pt>
                <c:pt idx="260">
                  <c:v>45003</c:v>
                </c:pt>
                <c:pt idx="261">
                  <c:v>45004</c:v>
                </c:pt>
                <c:pt idx="262">
                  <c:v>45005</c:v>
                </c:pt>
                <c:pt idx="263">
                  <c:v>45006</c:v>
                </c:pt>
                <c:pt idx="264">
                  <c:v>45007</c:v>
                </c:pt>
                <c:pt idx="265">
                  <c:v>45008</c:v>
                </c:pt>
                <c:pt idx="266">
                  <c:v>45009</c:v>
                </c:pt>
                <c:pt idx="267">
                  <c:v>45010</c:v>
                </c:pt>
                <c:pt idx="268">
                  <c:v>45011</c:v>
                </c:pt>
                <c:pt idx="269">
                  <c:v>45012</c:v>
                </c:pt>
                <c:pt idx="270">
                  <c:v>45013</c:v>
                </c:pt>
                <c:pt idx="271">
                  <c:v>45014</c:v>
                </c:pt>
                <c:pt idx="272">
                  <c:v>45015</c:v>
                </c:pt>
              </c:numCache>
            </c:numRef>
          </c:cat>
          <c:val>
            <c:numRef>
              <c:f>'Маркетинг. аналитика'!$E$2:$E$274</c:f>
              <c:numCache>
                <c:formatCode>General</c:formatCode>
                <c:ptCount val="27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67</c:v>
                </c:pt>
                <c:pt idx="4">
                  <c:v>67</c:v>
                </c:pt>
                <c:pt idx="5">
                  <c:v>67</c:v>
                </c:pt>
                <c:pt idx="6">
                  <c:v>67</c:v>
                </c:pt>
                <c:pt idx="7">
                  <c:v>67</c:v>
                </c:pt>
                <c:pt idx="8">
                  <c:v>67</c:v>
                </c:pt>
                <c:pt idx="9">
                  <c:v>67</c:v>
                </c:pt>
                <c:pt idx="10">
                  <c:v>49</c:v>
                </c:pt>
                <c:pt idx="11">
                  <c:v>49</c:v>
                </c:pt>
                <c:pt idx="12">
                  <c:v>49</c:v>
                </c:pt>
                <c:pt idx="13">
                  <c:v>49</c:v>
                </c:pt>
                <c:pt idx="14">
                  <c:v>49</c:v>
                </c:pt>
                <c:pt idx="15">
                  <c:v>49</c:v>
                </c:pt>
                <c:pt idx="16">
                  <c:v>49</c:v>
                </c:pt>
                <c:pt idx="17">
                  <c:v>61</c:v>
                </c:pt>
                <c:pt idx="18">
                  <c:v>61</c:v>
                </c:pt>
                <c:pt idx="19">
                  <c:v>61</c:v>
                </c:pt>
                <c:pt idx="20">
                  <c:v>61</c:v>
                </c:pt>
                <c:pt idx="21">
                  <c:v>61</c:v>
                </c:pt>
                <c:pt idx="22">
                  <c:v>61</c:v>
                </c:pt>
                <c:pt idx="23">
                  <c:v>61</c:v>
                </c:pt>
                <c:pt idx="24">
                  <c:v>62</c:v>
                </c:pt>
                <c:pt idx="25">
                  <c:v>62</c:v>
                </c:pt>
                <c:pt idx="26">
                  <c:v>62</c:v>
                </c:pt>
                <c:pt idx="27">
                  <c:v>62</c:v>
                </c:pt>
                <c:pt idx="28">
                  <c:v>62</c:v>
                </c:pt>
                <c:pt idx="29">
                  <c:v>62</c:v>
                </c:pt>
                <c:pt idx="30">
                  <c:v>62</c:v>
                </c:pt>
                <c:pt idx="31">
                  <c:v>45</c:v>
                </c:pt>
                <c:pt idx="32">
                  <c:v>45</c:v>
                </c:pt>
                <c:pt idx="33">
                  <c:v>45</c:v>
                </c:pt>
                <c:pt idx="34">
                  <c:v>45</c:v>
                </c:pt>
                <c:pt idx="35">
                  <c:v>45</c:v>
                </c:pt>
                <c:pt idx="36">
                  <c:v>45</c:v>
                </c:pt>
                <c:pt idx="37">
                  <c:v>45</c:v>
                </c:pt>
                <c:pt idx="38">
                  <c:v>65</c:v>
                </c:pt>
                <c:pt idx="39">
                  <c:v>65</c:v>
                </c:pt>
                <c:pt idx="40">
                  <c:v>65</c:v>
                </c:pt>
                <c:pt idx="41">
                  <c:v>65</c:v>
                </c:pt>
                <c:pt idx="42">
                  <c:v>65</c:v>
                </c:pt>
                <c:pt idx="43">
                  <c:v>65</c:v>
                </c:pt>
                <c:pt idx="44">
                  <c:v>65</c:v>
                </c:pt>
                <c:pt idx="45">
                  <c:v>55</c:v>
                </c:pt>
                <c:pt idx="46">
                  <c:v>55</c:v>
                </c:pt>
                <c:pt idx="47">
                  <c:v>55</c:v>
                </c:pt>
                <c:pt idx="48">
                  <c:v>55</c:v>
                </c:pt>
                <c:pt idx="49">
                  <c:v>55</c:v>
                </c:pt>
                <c:pt idx="50">
                  <c:v>55</c:v>
                </c:pt>
                <c:pt idx="51">
                  <c:v>55</c:v>
                </c:pt>
                <c:pt idx="52">
                  <c:v>51</c:v>
                </c:pt>
                <c:pt idx="53">
                  <c:v>51</c:v>
                </c:pt>
                <c:pt idx="54">
                  <c:v>51</c:v>
                </c:pt>
                <c:pt idx="55">
                  <c:v>51</c:v>
                </c:pt>
                <c:pt idx="56">
                  <c:v>51</c:v>
                </c:pt>
                <c:pt idx="57">
                  <c:v>51</c:v>
                </c:pt>
                <c:pt idx="58">
                  <c:v>51</c:v>
                </c:pt>
                <c:pt idx="59">
                  <c:v>54</c:v>
                </c:pt>
                <c:pt idx="60">
                  <c:v>54</c:v>
                </c:pt>
                <c:pt idx="61">
                  <c:v>54</c:v>
                </c:pt>
                <c:pt idx="62">
                  <c:v>54</c:v>
                </c:pt>
                <c:pt idx="63">
                  <c:v>54</c:v>
                </c:pt>
                <c:pt idx="64">
                  <c:v>54</c:v>
                </c:pt>
                <c:pt idx="65">
                  <c:v>54</c:v>
                </c:pt>
                <c:pt idx="66">
                  <c:v>57</c:v>
                </c:pt>
                <c:pt idx="67">
                  <c:v>57</c:v>
                </c:pt>
                <c:pt idx="68">
                  <c:v>57</c:v>
                </c:pt>
                <c:pt idx="69">
                  <c:v>57</c:v>
                </c:pt>
                <c:pt idx="70">
                  <c:v>57</c:v>
                </c:pt>
                <c:pt idx="71">
                  <c:v>57</c:v>
                </c:pt>
                <c:pt idx="72">
                  <c:v>57</c:v>
                </c:pt>
                <c:pt idx="73">
                  <c:v>74</c:v>
                </c:pt>
                <c:pt idx="74">
                  <c:v>74</c:v>
                </c:pt>
                <c:pt idx="75">
                  <c:v>74</c:v>
                </c:pt>
                <c:pt idx="76">
                  <c:v>74</c:v>
                </c:pt>
                <c:pt idx="77">
                  <c:v>74</c:v>
                </c:pt>
                <c:pt idx="78">
                  <c:v>74</c:v>
                </c:pt>
                <c:pt idx="79">
                  <c:v>74</c:v>
                </c:pt>
                <c:pt idx="80">
                  <c:v>53</c:v>
                </c:pt>
                <c:pt idx="81">
                  <c:v>53</c:v>
                </c:pt>
                <c:pt idx="82">
                  <c:v>53</c:v>
                </c:pt>
                <c:pt idx="83">
                  <c:v>53</c:v>
                </c:pt>
                <c:pt idx="84">
                  <c:v>53</c:v>
                </c:pt>
                <c:pt idx="85">
                  <c:v>53</c:v>
                </c:pt>
                <c:pt idx="86">
                  <c:v>53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61</c:v>
                </c:pt>
                <c:pt idx="92">
                  <c:v>61</c:v>
                </c:pt>
                <c:pt idx="93">
                  <c:v>61</c:v>
                </c:pt>
                <c:pt idx="94">
                  <c:v>44</c:v>
                </c:pt>
                <c:pt idx="95">
                  <c:v>44</c:v>
                </c:pt>
                <c:pt idx="96">
                  <c:v>44</c:v>
                </c:pt>
                <c:pt idx="97">
                  <c:v>44</c:v>
                </c:pt>
                <c:pt idx="98">
                  <c:v>44</c:v>
                </c:pt>
                <c:pt idx="99">
                  <c:v>44</c:v>
                </c:pt>
                <c:pt idx="100">
                  <c:v>44</c:v>
                </c:pt>
                <c:pt idx="101">
                  <c:v>64</c:v>
                </c:pt>
                <c:pt idx="102">
                  <c:v>64</c:v>
                </c:pt>
                <c:pt idx="103">
                  <c:v>64</c:v>
                </c:pt>
                <c:pt idx="104">
                  <c:v>64</c:v>
                </c:pt>
                <c:pt idx="105">
                  <c:v>64</c:v>
                </c:pt>
                <c:pt idx="106">
                  <c:v>64</c:v>
                </c:pt>
                <c:pt idx="107">
                  <c:v>64</c:v>
                </c:pt>
                <c:pt idx="108">
                  <c:v>57</c:v>
                </c:pt>
                <c:pt idx="109">
                  <c:v>57</c:v>
                </c:pt>
                <c:pt idx="110">
                  <c:v>57</c:v>
                </c:pt>
                <c:pt idx="111">
                  <c:v>57</c:v>
                </c:pt>
                <c:pt idx="112">
                  <c:v>57</c:v>
                </c:pt>
                <c:pt idx="113">
                  <c:v>57</c:v>
                </c:pt>
                <c:pt idx="114">
                  <c:v>57</c:v>
                </c:pt>
                <c:pt idx="115">
                  <c:v>66</c:v>
                </c:pt>
                <c:pt idx="116">
                  <c:v>66</c:v>
                </c:pt>
                <c:pt idx="117">
                  <c:v>66</c:v>
                </c:pt>
                <c:pt idx="118">
                  <c:v>66</c:v>
                </c:pt>
                <c:pt idx="119">
                  <c:v>66</c:v>
                </c:pt>
                <c:pt idx="120">
                  <c:v>66</c:v>
                </c:pt>
                <c:pt idx="121">
                  <c:v>66</c:v>
                </c:pt>
                <c:pt idx="122">
                  <c:v>59</c:v>
                </c:pt>
                <c:pt idx="123">
                  <c:v>59</c:v>
                </c:pt>
                <c:pt idx="124">
                  <c:v>59</c:v>
                </c:pt>
                <c:pt idx="125">
                  <c:v>59</c:v>
                </c:pt>
                <c:pt idx="126">
                  <c:v>59</c:v>
                </c:pt>
                <c:pt idx="127">
                  <c:v>59</c:v>
                </c:pt>
                <c:pt idx="128">
                  <c:v>59</c:v>
                </c:pt>
                <c:pt idx="129">
                  <c:v>69</c:v>
                </c:pt>
                <c:pt idx="130">
                  <c:v>69</c:v>
                </c:pt>
                <c:pt idx="131">
                  <c:v>69</c:v>
                </c:pt>
                <c:pt idx="132">
                  <c:v>69</c:v>
                </c:pt>
                <c:pt idx="133">
                  <c:v>69</c:v>
                </c:pt>
                <c:pt idx="134">
                  <c:v>69</c:v>
                </c:pt>
                <c:pt idx="135">
                  <c:v>69</c:v>
                </c:pt>
                <c:pt idx="136">
                  <c:v>60</c:v>
                </c:pt>
                <c:pt idx="137">
                  <c:v>60</c:v>
                </c:pt>
                <c:pt idx="138">
                  <c:v>60</c:v>
                </c:pt>
                <c:pt idx="139">
                  <c:v>60</c:v>
                </c:pt>
                <c:pt idx="140">
                  <c:v>60</c:v>
                </c:pt>
                <c:pt idx="141">
                  <c:v>60</c:v>
                </c:pt>
                <c:pt idx="142">
                  <c:v>60</c:v>
                </c:pt>
                <c:pt idx="143">
                  <c:v>53</c:v>
                </c:pt>
                <c:pt idx="144">
                  <c:v>53</c:v>
                </c:pt>
                <c:pt idx="145">
                  <c:v>53</c:v>
                </c:pt>
                <c:pt idx="146">
                  <c:v>53</c:v>
                </c:pt>
                <c:pt idx="147">
                  <c:v>53</c:v>
                </c:pt>
                <c:pt idx="148">
                  <c:v>53</c:v>
                </c:pt>
                <c:pt idx="149">
                  <c:v>53</c:v>
                </c:pt>
                <c:pt idx="150">
                  <c:v>63</c:v>
                </c:pt>
                <c:pt idx="151">
                  <c:v>63</c:v>
                </c:pt>
                <c:pt idx="152">
                  <c:v>63</c:v>
                </c:pt>
                <c:pt idx="153">
                  <c:v>63</c:v>
                </c:pt>
                <c:pt idx="154">
                  <c:v>63</c:v>
                </c:pt>
                <c:pt idx="155">
                  <c:v>63</c:v>
                </c:pt>
                <c:pt idx="156">
                  <c:v>63</c:v>
                </c:pt>
                <c:pt idx="157">
                  <c:v>56</c:v>
                </c:pt>
                <c:pt idx="158">
                  <c:v>56</c:v>
                </c:pt>
                <c:pt idx="159">
                  <c:v>56</c:v>
                </c:pt>
                <c:pt idx="160">
                  <c:v>56</c:v>
                </c:pt>
                <c:pt idx="161">
                  <c:v>56</c:v>
                </c:pt>
                <c:pt idx="162">
                  <c:v>56</c:v>
                </c:pt>
                <c:pt idx="163">
                  <c:v>56</c:v>
                </c:pt>
                <c:pt idx="164">
                  <c:v>39</c:v>
                </c:pt>
                <c:pt idx="165">
                  <c:v>39</c:v>
                </c:pt>
                <c:pt idx="166">
                  <c:v>39</c:v>
                </c:pt>
                <c:pt idx="167">
                  <c:v>39</c:v>
                </c:pt>
                <c:pt idx="168">
                  <c:v>39</c:v>
                </c:pt>
                <c:pt idx="169">
                  <c:v>39</c:v>
                </c:pt>
                <c:pt idx="170">
                  <c:v>39</c:v>
                </c:pt>
                <c:pt idx="171">
                  <c:v>58</c:v>
                </c:pt>
                <c:pt idx="172">
                  <c:v>58</c:v>
                </c:pt>
                <c:pt idx="173">
                  <c:v>58</c:v>
                </c:pt>
                <c:pt idx="174">
                  <c:v>58</c:v>
                </c:pt>
                <c:pt idx="175">
                  <c:v>58</c:v>
                </c:pt>
                <c:pt idx="176">
                  <c:v>58</c:v>
                </c:pt>
                <c:pt idx="177">
                  <c:v>58</c:v>
                </c:pt>
                <c:pt idx="178">
                  <c:v>75</c:v>
                </c:pt>
                <c:pt idx="179">
                  <c:v>75</c:v>
                </c:pt>
                <c:pt idx="180">
                  <c:v>75</c:v>
                </c:pt>
                <c:pt idx="181">
                  <c:v>75</c:v>
                </c:pt>
                <c:pt idx="182">
                  <c:v>75</c:v>
                </c:pt>
                <c:pt idx="183">
                  <c:v>75</c:v>
                </c:pt>
                <c:pt idx="184">
                  <c:v>75</c:v>
                </c:pt>
                <c:pt idx="185">
                  <c:v>107</c:v>
                </c:pt>
                <c:pt idx="186">
                  <c:v>107</c:v>
                </c:pt>
                <c:pt idx="187">
                  <c:v>107</c:v>
                </c:pt>
                <c:pt idx="188">
                  <c:v>107</c:v>
                </c:pt>
                <c:pt idx="189">
                  <c:v>107</c:v>
                </c:pt>
                <c:pt idx="190">
                  <c:v>107</c:v>
                </c:pt>
                <c:pt idx="191">
                  <c:v>107</c:v>
                </c:pt>
                <c:pt idx="192">
                  <c:v>94</c:v>
                </c:pt>
                <c:pt idx="193">
                  <c:v>94</c:v>
                </c:pt>
                <c:pt idx="194">
                  <c:v>94</c:v>
                </c:pt>
                <c:pt idx="195">
                  <c:v>94</c:v>
                </c:pt>
                <c:pt idx="196">
                  <c:v>94</c:v>
                </c:pt>
                <c:pt idx="197">
                  <c:v>94</c:v>
                </c:pt>
                <c:pt idx="198">
                  <c:v>94</c:v>
                </c:pt>
                <c:pt idx="199">
                  <c:v>77</c:v>
                </c:pt>
                <c:pt idx="200">
                  <c:v>77</c:v>
                </c:pt>
                <c:pt idx="201">
                  <c:v>77</c:v>
                </c:pt>
                <c:pt idx="202">
                  <c:v>77</c:v>
                </c:pt>
                <c:pt idx="203">
                  <c:v>77</c:v>
                </c:pt>
                <c:pt idx="204">
                  <c:v>77</c:v>
                </c:pt>
                <c:pt idx="205">
                  <c:v>77</c:v>
                </c:pt>
                <c:pt idx="206">
                  <c:v>95</c:v>
                </c:pt>
                <c:pt idx="207">
                  <c:v>95</c:v>
                </c:pt>
                <c:pt idx="208">
                  <c:v>95</c:v>
                </c:pt>
                <c:pt idx="209">
                  <c:v>95</c:v>
                </c:pt>
                <c:pt idx="210">
                  <c:v>95</c:v>
                </c:pt>
                <c:pt idx="211">
                  <c:v>95</c:v>
                </c:pt>
                <c:pt idx="212">
                  <c:v>95</c:v>
                </c:pt>
                <c:pt idx="213">
                  <c:v>91</c:v>
                </c:pt>
                <c:pt idx="214">
                  <c:v>91</c:v>
                </c:pt>
                <c:pt idx="215">
                  <c:v>91</c:v>
                </c:pt>
                <c:pt idx="216">
                  <c:v>91</c:v>
                </c:pt>
                <c:pt idx="217">
                  <c:v>91</c:v>
                </c:pt>
                <c:pt idx="218">
                  <c:v>91</c:v>
                </c:pt>
                <c:pt idx="219">
                  <c:v>91</c:v>
                </c:pt>
                <c:pt idx="220">
                  <c:v>86</c:v>
                </c:pt>
                <c:pt idx="221">
                  <c:v>86</c:v>
                </c:pt>
                <c:pt idx="222">
                  <c:v>86</c:v>
                </c:pt>
                <c:pt idx="223">
                  <c:v>86</c:v>
                </c:pt>
                <c:pt idx="224">
                  <c:v>86</c:v>
                </c:pt>
                <c:pt idx="225">
                  <c:v>86</c:v>
                </c:pt>
                <c:pt idx="226">
                  <c:v>86</c:v>
                </c:pt>
                <c:pt idx="227">
                  <c:v>86</c:v>
                </c:pt>
                <c:pt idx="228">
                  <c:v>86</c:v>
                </c:pt>
                <c:pt idx="229">
                  <c:v>86</c:v>
                </c:pt>
                <c:pt idx="230">
                  <c:v>86</c:v>
                </c:pt>
                <c:pt idx="231">
                  <c:v>86</c:v>
                </c:pt>
                <c:pt idx="232">
                  <c:v>86</c:v>
                </c:pt>
                <c:pt idx="233">
                  <c:v>86</c:v>
                </c:pt>
                <c:pt idx="234">
                  <c:v>175</c:v>
                </c:pt>
                <c:pt idx="235">
                  <c:v>175</c:v>
                </c:pt>
                <c:pt idx="236">
                  <c:v>175</c:v>
                </c:pt>
                <c:pt idx="237">
                  <c:v>175</c:v>
                </c:pt>
                <c:pt idx="238">
                  <c:v>175</c:v>
                </c:pt>
                <c:pt idx="239">
                  <c:v>175</c:v>
                </c:pt>
                <c:pt idx="240">
                  <c:v>175</c:v>
                </c:pt>
                <c:pt idx="241">
                  <c:v>172</c:v>
                </c:pt>
                <c:pt idx="242">
                  <c:v>172</c:v>
                </c:pt>
                <c:pt idx="243">
                  <c:v>172</c:v>
                </c:pt>
                <c:pt idx="244">
                  <c:v>172</c:v>
                </c:pt>
                <c:pt idx="245">
                  <c:v>172</c:v>
                </c:pt>
                <c:pt idx="246">
                  <c:v>172</c:v>
                </c:pt>
                <c:pt idx="247">
                  <c:v>172</c:v>
                </c:pt>
                <c:pt idx="248">
                  <c:v>165</c:v>
                </c:pt>
                <c:pt idx="249">
                  <c:v>165</c:v>
                </c:pt>
                <c:pt idx="250">
                  <c:v>165</c:v>
                </c:pt>
                <c:pt idx="251">
                  <c:v>165</c:v>
                </c:pt>
                <c:pt idx="252">
                  <c:v>165</c:v>
                </c:pt>
                <c:pt idx="253">
                  <c:v>165</c:v>
                </c:pt>
                <c:pt idx="254">
                  <c:v>165</c:v>
                </c:pt>
                <c:pt idx="255">
                  <c:v>164</c:v>
                </c:pt>
                <c:pt idx="256">
                  <c:v>164</c:v>
                </c:pt>
                <c:pt idx="257">
                  <c:v>164</c:v>
                </c:pt>
                <c:pt idx="258">
                  <c:v>164</c:v>
                </c:pt>
                <c:pt idx="259">
                  <c:v>164</c:v>
                </c:pt>
                <c:pt idx="260">
                  <c:v>164</c:v>
                </c:pt>
                <c:pt idx="261">
                  <c:v>164</c:v>
                </c:pt>
                <c:pt idx="262">
                  <c:v>145</c:v>
                </c:pt>
                <c:pt idx="263">
                  <c:v>145</c:v>
                </c:pt>
                <c:pt idx="264">
                  <c:v>145</c:v>
                </c:pt>
                <c:pt idx="265">
                  <c:v>145</c:v>
                </c:pt>
                <c:pt idx="266">
                  <c:v>145</c:v>
                </c:pt>
                <c:pt idx="267">
                  <c:v>145</c:v>
                </c:pt>
                <c:pt idx="268">
                  <c:v>145</c:v>
                </c:pt>
                <c:pt idx="269">
                  <c:v>84</c:v>
                </c:pt>
                <c:pt idx="270">
                  <c:v>84</c:v>
                </c:pt>
                <c:pt idx="271">
                  <c:v>84</c:v>
                </c:pt>
                <c:pt idx="272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73-4412-8E4D-4E59372D7365}"/>
            </c:ext>
          </c:extLst>
        </c:ser>
        <c:ser>
          <c:idx val="2"/>
          <c:order val="2"/>
          <c:tx>
            <c:strRef>
              <c:f>'Маркетинг. аналитика'!$F$1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'Маркетинг. аналитика'!$C$2:$C$274</c:f>
              <c:numCache>
                <c:formatCode>m/d/yyyy</c:formatCode>
                <c:ptCount val="273"/>
                <c:pt idx="0">
                  <c:v>44743</c:v>
                </c:pt>
                <c:pt idx="1">
                  <c:v>44744</c:v>
                </c:pt>
                <c:pt idx="2">
                  <c:v>44745</c:v>
                </c:pt>
                <c:pt idx="3">
                  <c:v>44746</c:v>
                </c:pt>
                <c:pt idx="4">
                  <c:v>44747</c:v>
                </c:pt>
                <c:pt idx="5">
                  <c:v>44748</c:v>
                </c:pt>
                <c:pt idx="6">
                  <c:v>44749</c:v>
                </c:pt>
                <c:pt idx="7">
                  <c:v>44750</c:v>
                </c:pt>
                <c:pt idx="8">
                  <c:v>44751</c:v>
                </c:pt>
                <c:pt idx="9">
                  <c:v>44752</c:v>
                </c:pt>
                <c:pt idx="10">
                  <c:v>44753</c:v>
                </c:pt>
                <c:pt idx="11">
                  <c:v>44754</c:v>
                </c:pt>
                <c:pt idx="12">
                  <c:v>44755</c:v>
                </c:pt>
                <c:pt idx="13">
                  <c:v>44756</c:v>
                </c:pt>
                <c:pt idx="14">
                  <c:v>44757</c:v>
                </c:pt>
                <c:pt idx="15">
                  <c:v>44758</c:v>
                </c:pt>
                <c:pt idx="16">
                  <c:v>44759</c:v>
                </c:pt>
                <c:pt idx="17">
                  <c:v>44760</c:v>
                </c:pt>
                <c:pt idx="18">
                  <c:v>44761</c:v>
                </c:pt>
                <c:pt idx="19">
                  <c:v>44762</c:v>
                </c:pt>
                <c:pt idx="20">
                  <c:v>44763</c:v>
                </c:pt>
                <c:pt idx="21">
                  <c:v>44764</c:v>
                </c:pt>
                <c:pt idx="22">
                  <c:v>44765</c:v>
                </c:pt>
                <c:pt idx="23">
                  <c:v>44766</c:v>
                </c:pt>
                <c:pt idx="24">
                  <c:v>44767</c:v>
                </c:pt>
                <c:pt idx="25">
                  <c:v>44768</c:v>
                </c:pt>
                <c:pt idx="26">
                  <c:v>44769</c:v>
                </c:pt>
                <c:pt idx="27">
                  <c:v>44770</c:v>
                </c:pt>
                <c:pt idx="28">
                  <c:v>44771</c:v>
                </c:pt>
                <c:pt idx="29">
                  <c:v>44772</c:v>
                </c:pt>
                <c:pt idx="30">
                  <c:v>44773</c:v>
                </c:pt>
                <c:pt idx="31">
                  <c:v>44774</c:v>
                </c:pt>
                <c:pt idx="32">
                  <c:v>44775</c:v>
                </c:pt>
                <c:pt idx="33">
                  <c:v>44776</c:v>
                </c:pt>
                <c:pt idx="34">
                  <c:v>44777</c:v>
                </c:pt>
                <c:pt idx="35">
                  <c:v>44778</c:v>
                </c:pt>
                <c:pt idx="36">
                  <c:v>44779</c:v>
                </c:pt>
                <c:pt idx="37">
                  <c:v>44780</c:v>
                </c:pt>
                <c:pt idx="38">
                  <c:v>44781</c:v>
                </c:pt>
                <c:pt idx="39">
                  <c:v>44782</c:v>
                </c:pt>
                <c:pt idx="40">
                  <c:v>44783</c:v>
                </c:pt>
                <c:pt idx="41">
                  <c:v>44784</c:v>
                </c:pt>
                <c:pt idx="42">
                  <c:v>44785</c:v>
                </c:pt>
                <c:pt idx="43">
                  <c:v>44786</c:v>
                </c:pt>
                <c:pt idx="44">
                  <c:v>44787</c:v>
                </c:pt>
                <c:pt idx="45">
                  <c:v>44788</c:v>
                </c:pt>
                <c:pt idx="46">
                  <c:v>44789</c:v>
                </c:pt>
                <c:pt idx="47">
                  <c:v>44790</c:v>
                </c:pt>
                <c:pt idx="48">
                  <c:v>44791</c:v>
                </c:pt>
                <c:pt idx="49">
                  <c:v>44792</c:v>
                </c:pt>
                <c:pt idx="50">
                  <c:v>44793</c:v>
                </c:pt>
                <c:pt idx="51">
                  <c:v>44794</c:v>
                </c:pt>
                <c:pt idx="52">
                  <c:v>44795</c:v>
                </c:pt>
                <c:pt idx="53">
                  <c:v>44796</c:v>
                </c:pt>
                <c:pt idx="54">
                  <c:v>44797</c:v>
                </c:pt>
                <c:pt idx="55">
                  <c:v>44798</c:v>
                </c:pt>
                <c:pt idx="56">
                  <c:v>44799</c:v>
                </c:pt>
                <c:pt idx="57">
                  <c:v>44800</c:v>
                </c:pt>
                <c:pt idx="58">
                  <c:v>44801</c:v>
                </c:pt>
                <c:pt idx="59">
                  <c:v>44802</c:v>
                </c:pt>
                <c:pt idx="60">
                  <c:v>44803</c:v>
                </c:pt>
                <c:pt idx="61">
                  <c:v>44804</c:v>
                </c:pt>
                <c:pt idx="62">
                  <c:v>44805</c:v>
                </c:pt>
                <c:pt idx="63">
                  <c:v>44806</c:v>
                </c:pt>
                <c:pt idx="64">
                  <c:v>44807</c:v>
                </c:pt>
                <c:pt idx="65">
                  <c:v>44808</c:v>
                </c:pt>
                <c:pt idx="66">
                  <c:v>44809</c:v>
                </c:pt>
                <c:pt idx="67">
                  <c:v>44810</c:v>
                </c:pt>
                <c:pt idx="68">
                  <c:v>44811</c:v>
                </c:pt>
                <c:pt idx="69">
                  <c:v>44812</c:v>
                </c:pt>
                <c:pt idx="70">
                  <c:v>44813</c:v>
                </c:pt>
                <c:pt idx="71">
                  <c:v>44814</c:v>
                </c:pt>
                <c:pt idx="72">
                  <c:v>44815</c:v>
                </c:pt>
                <c:pt idx="73">
                  <c:v>44816</c:v>
                </c:pt>
                <c:pt idx="74">
                  <c:v>44817</c:v>
                </c:pt>
                <c:pt idx="75">
                  <c:v>44818</c:v>
                </c:pt>
                <c:pt idx="76">
                  <c:v>44819</c:v>
                </c:pt>
                <c:pt idx="77">
                  <c:v>44820</c:v>
                </c:pt>
                <c:pt idx="78">
                  <c:v>44821</c:v>
                </c:pt>
                <c:pt idx="79">
                  <c:v>44822</c:v>
                </c:pt>
                <c:pt idx="80">
                  <c:v>44823</c:v>
                </c:pt>
                <c:pt idx="81">
                  <c:v>44824</c:v>
                </c:pt>
                <c:pt idx="82">
                  <c:v>44825</c:v>
                </c:pt>
                <c:pt idx="83">
                  <c:v>44826</c:v>
                </c:pt>
                <c:pt idx="84">
                  <c:v>44827</c:v>
                </c:pt>
                <c:pt idx="85">
                  <c:v>44828</c:v>
                </c:pt>
                <c:pt idx="86">
                  <c:v>44829</c:v>
                </c:pt>
                <c:pt idx="87">
                  <c:v>44830</c:v>
                </c:pt>
                <c:pt idx="88">
                  <c:v>44831</c:v>
                </c:pt>
                <c:pt idx="89">
                  <c:v>44832</c:v>
                </c:pt>
                <c:pt idx="90">
                  <c:v>44833</c:v>
                </c:pt>
                <c:pt idx="91">
                  <c:v>44834</c:v>
                </c:pt>
                <c:pt idx="92">
                  <c:v>44835</c:v>
                </c:pt>
                <c:pt idx="93">
                  <c:v>44836</c:v>
                </c:pt>
                <c:pt idx="94">
                  <c:v>44837</c:v>
                </c:pt>
                <c:pt idx="95">
                  <c:v>44838</c:v>
                </c:pt>
                <c:pt idx="96">
                  <c:v>44839</c:v>
                </c:pt>
                <c:pt idx="97">
                  <c:v>44840</c:v>
                </c:pt>
                <c:pt idx="98">
                  <c:v>44841</c:v>
                </c:pt>
                <c:pt idx="99">
                  <c:v>44842</c:v>
                </c:pt>
                <c:pt idx="100">
                  <c:v>44843</c:v>
                </c:pt>
                <c:pt idx="101">
                  <c:v>44844</c:v>
                </c:pt>
                <c:pt idx="102">
                  <c:v>44845</c:v>
                </c:pt>
                <c:pt idx="103">
                  <c:v>44846</c:v>
                </c:pt>
                <c:pt idx="104">
                  <c:v>44847</c:v>
                </c:pt>
                <c:pt idx="105">
                  <c:v>44848</c:v>
                </c:pt>
                <c:pt idx="106">
                  <c:v>44849</c:v>
                </c:pt>
                <c:pt idx="107">
                  <c:v>44850</c:v>
                </c:pt>
                <c:pt idx="108">
                  <c:v>44851</c:v>
                </c:pt>
                <c:pt idx="109">
                  <c:v>44852</c:v>
                </c:pt>
                <c:pt idx="110">
                  <c:v>44853</c:v>
                </c:pt>
                <c:pt idx="111">
                  <c:v>44854</c:v>
                </c:pt>
                <c:pt idx="112">
                  <c:v>44855</c:v>
                </c:pt>
                <c:pt idx="113">
                  <c:v>44856</c:v>
                </c:pt>
                <c:pt idx="114">
                  <c:v>44857</c:v>
                </c:pt>
                <c:pt idx="115">
                  <c:v>44858</c:v>
                </c:pt>
                <c:pt idx="116">
                  <c:v>44859</c:v>
                </c:pt>
                <c:pt idx="117">
                  <c:v>44860</c:v>
                </c:pt>
                <c:pt idx="118">
                  <c:v>44861</c:v>
                </c:pt>
                <c:pt idx="119">
                  <c:v>44862</c:v>
                </c:pt>
                <c:pt idx="120">
                  <c:v>44863</c:v>
                </c:pt>
                <c:pt idx="121">
                  <c:v>44864</c:v>
                </c:pt>
                <c:pt idx="122">
                  <c:v>44865</c:v>
                </c:pt>
                <c:pt idx="123">
                  <c:v>44866</c:v>
                </c:pt>
                <c:pt idx="124">
                  <c:v>44867</c:v>
                </c:pt>
                <c:pt idx="125">
                  <c:v>44868</c:v>
                </c:pt>
                <c:pt idx="126">
                  <c:v>44869</c:v>
                </c:pt>
                <c:pt idx="127">
                  <c:v>44870</c:v>
                </c:pt>
                <c:pt idx="128">
                  <c:v>44871</c:v>
                </c:pt>
                <c:pt idx="129">
                  <c:v>44872</c:v>
                </c:pt>
                <c:pt idx="130">
                  <c:v>44873</c:v>
                </c:pt>
                <c:pt idx="131">
                  <c:v>44874</c:v>
                </c:pt>
                <c:pt idx="132">
                  <c:v>44875</c:v>
                </c:pt>
                <c:pt idx="133">
                  <c:v>44876</c:v>
                </c:pt>
                <c:pt idx="134">
                  <c:v>44877</c:v>
                </c:pt>
                <c:pt idx="135">
                  <c:v>44878</c:v>
                </c:pt>
                <c:pt idx="136">
                  <c:v>44879</c:v>
                </c:pt>
                <c:pt idx="137">
                  <c:v>44880</c:v>
                </c:pt>
                <c:pt idx="138">
                  <c:v>44881</c:v>
                </c:pt>
                <c:pt idx="139">
                  <c:v>44882</c:v>
                </c:pt>
                <c:pt idx="140">
                  <c:v>44883</c:v>
                </c:pt>
                <c:pt idx="141">
                  <c:v>44884</c:v>
                </c:pt>
                <c:pt idx="142">
                  <c:v>44885</c:v>
                </c:pt>
                <c:pt idx="143">
                  <c:v>44886</c:v>
                </c:pt>
                <c:pt idx="144">
                  <c:v>44887</c:v>
                </c:pt>
                <c:pt idx="145">
                  <c:v>44888</c:v>
                </c:pt>
                <c:pt idx="146">
                  <c:v>44889</c:v>
                </c:pt>
                <c:pt idx="147">
                  <c:v>44890</c:v>
                </c:pt>
                <c:pt idx="148">
                  <c:v>44891</c:v>
                </c:pt>
                <c:pt idx="149">
                  <c:v>44892</c:v>
                </c:pt>
                <c:pt idx="150">
                  <c:v>44893</c:v>
                </c:pt>
                <c:pt idx="151">
                  <c:v>44894</c:v>
                </c:pt>
                <c:pt idx="152">
                  <c:v>44895</c:v>
                </c:pt>
                <c:pt idx="153">
                  <c:v>44896</c:v>
                </c:pt>
                <c:pt idx="154">
                  <c:v>44897</c:v>
                </c:pt>
                <c:pt idx="155">
                  <c:v>44898</c:v>
                </c:pt>
                <c:pt idx="156">
                  <c:v>44899</c:v>
                </c:pt>
                <c:pt idx="157">
                  <c:v>44900</c:v>
                </c:pt>
                <c:pt idx="158">
                  <c:v>44901</c:v>
                </c:pt>
                <c:pt idx="159">
                  <c:v>44902</c:v>
                </c:pt>
                <c:pt idx="160">
                  <c:v>44903</c:v>
                </c:pt>
                <c:pt idx="161">
                  <c:v>44904</c:v>
                </c:pt>
                <c:pt idx="162">
                  <c:v>44905</c:v>
                </c:pt>
                <c:pt idx="163">
                  <c:v>44906</c:v>
                </c:pt>
                <c:pt idx="164">
                  <c:v>44907</c:v>
                </c:pt>
                <c:pt idx="165">
                  <c:v>44908</c:v>
                </c:pt>
                <c:pt idx="166">
                  <c:v>44909</c:v>
                </c:pt>
                <c:pt idx="167">
                  <c:v>44910</c:v>
                </c:pt>
                <c:pt idx="168">
                  <c:v>44911</c:v>
                </c:pt>
                <c:pt idx="169">
                  <c:v>44912</c:v>
                </c:pt>
                <c:pt idx="170">
                  <c:v>44913</c:v>
                </c:pt>
                <c:pt idx="171">
                  <c:v>44914</c:v>
                </c:pt>
                <c:pt idx="172">
                  <c:v>44915</c:v>
                </c:pt>
                <c:pt idx="173">
                  <c:v>44916</c:v>
                </c:pt>
                <c:pt idx="174">
                  <c:v>44917</c:v>
                </c:pt>
                <c:pt idx="175">
                  <c:v>44918</c:v>
                </c:pt>
                <c:pt idx="176">
                  <c:v>44919</c:v>
                </c:pt>
                <c:pt idx="177">
                  <c:v>44920</c:v>
                </c:pt>
                <c:pt idx="178">
                  <c:v>44921</c:v>
                </c:pt>
                <c:pt idx="179">
                  <c:v>44922</c:v>
                </c:pt>
                <c:pt idx="180">
                  <c:v>44923</c:v>
                </c:pt>
                <c:pt idx="181">
                  <c:v>44924</c:v>
                </c:pt>
                <c:pt idx="182">
                  <c:v>44925</c:v>
                </c:pt>
                <c:pt idx="183">
                  <c:v>44926</c:v>
                </c:pt>
                <c:pt idx="184">
                  <c:v>44927</c:v>
                </c:pt>
                <c:pt idx="185">
                  <c:v>44928</c:v>
                </c:pt>
                <c:pt idx="186">
                  <c:v>44929</c:v>
                </c:pt>
                <c:pt idx="187">
                  <c:v>44930</c:v>
                </c:pt>
                <c:pt idx="188">
                  <c:v>44931</c:v>
                </c:pt>
                <c:pt idx="189">
                  <c:v>44932</c:v>
                </c:pt>
                <c:pt idx="190">
                  <c:v>44933</c:v>
                </c:pt>
                <c:pt idx="191">
                  <c:v>44934</c:v>
                </c:pt>
                <c:pt idx="192">
                  <c:v>44935</c:v>
                </c:pt>
                <c:pt idx="193">
                  <c:v>44936</c:v>
                </c:pt>
                <c:pt idx="194">
                  <c:v>44937</c:v>
                </c:pt>
                <c:pt idx="195">
                  <c:v>44938</c:v>
                </c:pt>
                <c:pt idx="196">
                  <c:v>44939</c:v>
                </c:pt>
                <c:pt idx="197">
                  <c:v>44940</c:v>
                </c:pt>
                <c:pt idx="198">
                  <c:v>44941</c:v>
                </c:pt>
                <c:pt idx="199">
                  <c:v>44942</c:v>
                </c:pt>
                <c:pt idx="200">
                  <c:v>44943</c:v>
                </c:pt>
                <c:pt idx="201">
                  <c:v>44944</c:v>
                </c:pt>
                <c:pt idx="202">
                  <c:v>44945</c:v>
                </c:pt>
                <c:pt idx="203">
                  <c:v>44946</c:v>
                </c:pt>
                <c:pt idx="204">
                  <c:v>44947</c:v>
                </c:pt>
                <c:pt idx="205">
                  <c:v>44948</c:v>
                </c:pt>
                <c:pt idx="206">
                  <c:v>44949</c:v>
                </c:pt>
                <c:pt idx="207">
                  <c:v>44950</c:v>
                </c:pt>
                <c:pt idx="208">
                  <c:v>44951</c:v>
                </c:pt>
                <c:pt idx="209">
                  <c:v>44952</c:v>
                </c:pt>
                <c:pt idx="210">
                  <c:v>44953</c:v>
                </c:pt>
                <c:pt idx="211">
                  <c:v>44954</c:v>
                </c:pt>
                <c:pt idx="212">
                  <c:v>44955</c:v>
                </c:pt>
                <c:pt idx="213">
                  <c:v>44956</c:v>
                </c:pt>
                <c:pt idx="214">
                  <c:v>44957</c:v>
                </c:pt>
                <c:pt idx="215">
                  <c:v>44958</c:v>
                </c:pt>
                <c:pt idx="216">
                  <c:v>44959</c:v>
                </c:pt>
                <c:pt idx="217">
                  <c:v>44960</c:v>
                </c:pt>
                <c:pt idx="218">
                  <c:v>44961</c:v>
                </c:pt>
                <c:pt idx="219">
                  <c:v>44962</c:v>
                </c:pt>
                <c:pt idx="220">
                  <c:v>44963</c:v>
                </c:pt>
                <c:pt idx="221">
                  <c:v>44964</c:v>
                </c:pt>
                <c:pt idx="222">
                  <c:v>44965</c:v>
                </c:pt>
                <c:pt idx="223">
                  <c:v>44966</c:v>
                </c:pt>
                <c:pt idx="224">
                  <c:v>44967</c:v>
                </c:pt>
                <c:pt idx="225">
                  <c:v>44968</c:v>
                </c:pt>
                <c:pt idx="226">
                  <c:v>44969</c:v>
                </c:pt>
                <c:pt idx="227">
                  <c:v>44970</c:v>
                </c:pt>
                <c:pt idx="228">
                  <c:v>44971</c:v>
                </c:pt>
                <c:pt idx="229">
                  <c:v>44972</c:v>
                </c:pt>
                <c:pt idx="230">
                  <c:v>44973</c:v>
                </c:pt>
                <c:pt idx="231">
                  <c:v>44974</c:v>
                </c:pt>
                <c:pt idx="232">
                  <c:v>44975</c:v>
                </c:pt>
                <c:pt idx="233">
                  <c:v>44976</c:v>
                </c:pt>
                <c:pt idx="234">
                  <c:v>44977</c:v>
                </c:pt>
                <c:pt idx="235">
                  <c:v>44978</c:v>
                </c:pt>
                <c:pt idx="236">
                  <c:v>44979</c:v>
                </c:pt>
                <c:pt idx="237">
                  <c:v>44980</c:v>
                </c:pt>
                <c:pt idx="238">
                  <c:v>44981</c:v>
                </c:pt>
                <c:pt idx="239">
                  <c:v>44982</c:v>
                </c:pt>
                <c:pt idx="240">
                  <c:v>44983</c:v>
                </c:pt>
                <c:pt idx="241">
                  <c:v>44984</c:v>
                </c:pt>
                <c:pt idx="242">
                  <c:v>44985</c:v>
                </c:pt>
                <c:pt idx="243">
                  <c:v>44986</c:v>
                </c:pt>
                <c:pt idx="244">
                  <c:v>44987</c:v>
                </c:pt>
                <c:pt idx="245">
                  <c:v>44988</c:v>
                </c:pt>
                <c:pt idx="246">
                  <c:v>44989</c:v>
                </c:pt>
                <c:pt idx="247">
                  <c:v>44990</c:v>
                </c:pt>
                <c:pt idx="248">
                  <c:v>44991</c:v>
                </c:pt>
                <c:pt idx="249">
                  <c:v>44992</c:v>
                </c:pt>
                <c:pt idx="250">
                  <c:v>44993</c:v>
                </c:pt>
                <c:pt idx="251">
                  <c:v>44994</c:v>
                </c:pt>
                <c:pt idx="252">
                  <c:v>44995</c:v>
                </c:pt>
                <c:pt idx="253">
                  <c:v>44996</c:v>
                </c:pt>
                <c:pt idx="254">
                  <c:v>44997</c:v>
                </c:pt>
                <c:pt idx="255">
                  <c:v>44998</c:v>
                </c:pt>
                <c:pt idx="256">
                  <c:v>44999</c:v>
                </c:pt>
                <c:pt idx="257">
                  <c:v>45000</c:v>
                </c:pt>
                <c:pt idx="258">
                  <c:v>45001</c:v>
                </c:pt>
                <c:pt idx="259">
                  <c:v>45002</c:v>
                </c:pt>
                <c:pt idx="260">
                  <c:v>45003</c:v>
                </c:pt>
                <c:pt idx="261">
                  <c:v>45004</c:v>
                </c:pt>
                <c:pt idx="262">
                  <c:v>45005</c:v>
                </c:pt>
                <c:pt idx="263">
                  <c:v>45006</c:v>
                </c:pt>
                <c:pt idx="264">
                  <c:v>45007</c:v>
                </c:pt>
                <c:pt idx="265">
                  <c:v>45008</c:v>
                </c:pt>
                <c:pt idx="266">
                  <c:v>45009</c:v>
                </c:pt>
                <c:pt idx="267">
                  <c:v>45010</c:v>
                </c:pt>
                <c:pt idx="268">
                  <c:v>45011</c:v>
                </c:pt>
                <c:pt idx="269">
                  <c:v>45012</c:v>
                </c:pt>
                <c:pt idx="270">
                  <c:v>45013</c:v>
                </c:pt>
                <c:pt idx="271">
                  <c:v>45014</c:v>
                </c:pt>
                <c:pt idx="272">
                  <c:v>45015</c:v>
                </c:pt>
              </c:numCache>
            </c:numRef>
          </c:cat>
          <c:val>
            <c:numRef>
              <c:f>'Маркетинг. аналитика'!$F$2:$F$274</c:f>
              <c:numCache>
                <c:formatCode>General</c:formatCode>
                <c:ptCount val="273"/>
                <c:pt idx="0">
                  <c:v>259</c:v>
                </c:pt>
                <c:pt idx="1">
                  <c:v>259</c:v>
                </c:pt>
                <c:pt idx="2">
                  <c:v>259</c:v>
                </c:pt>
                <c:pt idx="3">
                  <c:v>259</c:v>
                </c:pt>
                <c:pt idx="4">
                  <c:v>259</c:v>
                </c:pt>
                <c:pt idx="5">
                  <c:v>259</c:v>
                </c:pt>
                <c:pt idx="6">
                  <c:v>259</c:v>
                </c:pt>
                <c:pt idx="7">
                  <c:v>259</c:v>
                </c:pt>
                <c:pt idx="8">
                  <c:v>259</c:v>
                </c:pt>
                <c:pt idx="9">
                  <c:v>259</c:v>
                </c:pt>
                <c:pt idx="10">
                  <c:v>259</c:v>
                </c:pt>
                <c:pt idx="11">
                  <c:v>259</c:v>
                </c:pt>
                <c:pt idx="12">
                  <c:v>259</c:v>
                </c:pt>
                <c:pt idx="13">
                  <c:v>259</c:v>
                </c:pt>
                <c:pt idx="14">
                  <c:v>259</c:v>
                </c:pt>
                <c:pt idx="15">
                  <c:v>259</c:v>
                </c:pt>
                <c:pt idx="16">
                  <c:v>259</c:v>
                </c:pt>
                <c:pt idx="17">
                  <c:v>259</c:v>
                </c:pt>
                <c:pt idx="18">
                  <c:v>259</c:v>
                </c:pt>
                <c:pt idx="19">
                  <c:v>259</c:v>
                </c:pt>
                <c:pt idx="20">
                  <c:v>259</c:v>
                </c:pt>
                <c:pt idx="21">
                  <c:v>259</c:v>
                </c:pt>
                <c:pt idx="22">
                  <c:v>259</c:v>
                </c:pt>
                <c:pt idx="23">
                  <c:v>259</c:v>
                </c:pt>
                <c:pt idx="24">
                  <c:v>259</c:v>
                </c:pt>
                <c:pt idx="25">
                  <c:v>259</c:v>
                </c:pt>
                <c:pt idx="26">
                  <c:v>259</c:v>
                </c:pt>
                <c:pt idx="27">
                  <c:v>259</c:v>
                </c:pt>
                <c:pt idx="28">
                  <c:v>259</c:v>
                </c:pt>
                <c:pt idx="29">
                  <c:v>259</c:v>
                </c:pt>
                <c:pt idx="30">
                  <c:v>259</c:v>
                </c:pt>
                <c:pt idx="31">
                  <c:v>235</c:v>
                </c:pt>
                <c:pt idx="32">
                  <c:v>235</c:v>
                </c:pt>
                <c:pt idx="33">
                  <c:v>235</c:v>
                </c:pt>
                <c:pt idx="34">
                  <c:v>235</c:v>
                </c:pt>
                <c:pt idx="35">
                  <c:v>235</c:v>
                </c:pt>
                <c:pt idx="36">
                  <c:v>235</c:v>
                </c:pt>
                <c:pt idx="37">
                  <c:v>235</c:v>
                </c:pt>
                <c:pt idx="38">
                  <c:v>235</c:v>
                </c:pt>
                <c:pt idx="39">
                  <c:v>235</c:v>
                </c:pt>
                <c:pt idx="40">
                  <c:v>235</c:v>
                </c:pt>
                <c:pt idx="41">
                  <c:v>235</c:v>
                </c:pt>
                <c:pt idx="42">
                  <c:v>235</c:v>
                </c:pt>
                <c:pt idx="43">
                  <c:v>235</c:v>
                </c:pt>
                <c:pt idx="44">
                  <c:v>235</c:v>
                </c:pt>
                <c:pt idx="45">
                  <c:v>235</c:v>
                </c:pt>
                <c:pt idx="46">
                  <c:v>235</c:v>
                </c:pt>
                <c:pt idx="47">
                  <c:v>235</c:v>
                </c:pt>
                <c:pt idx="48">
                  <c:v>235</c:v>
                </c:pt>
                <c:pt idx="49">
                  <c:v>235</c:v>
                </c:pt>
                <c:pt idx="50">
                  <c:v>235</c:v>
                </c:pt>
                <c:pt idx="51">
                  <c:v>235</c:v>
                </c:pt>
                <c:pt idx="52">
                  <c:v>235</c:v>
                </c:pt>
                <c:pt idx="53">
                  <c:v>235</c:v>
                </c:pt>
                <c:pt idx="54">
                  <c:v>235</c:v>
                </c:pt>
                <c:pt idx="55">
                  <c:v>235</c:v>
                </c:pt>
                <c:pt idx="56">
                  <c:v>235</c:v>
                </c:pt>
                <c:pt idx="57">
                  <c:v>235</c:v>
                </c:pt>
                <c:pt idx="58">
                  <c:v>235</c:v>
                </c:pt>
                <c:pt idx="59">
                  <c:v>235</c:v>
                </c:pt>
                <c:pt idx="60">
                  <c:v>235</c:v>
                </c:pt>
                <c:pt idx="61">
                  <c:v>235</c:v>
                </c:pt>
                <c:pt idx="62">
                  <c:v>257</c:v>
                </c:pt>
                <c:pt idx="63">
                  <c:v>257</c:v>
                </c:pt>
                <c:pt idx="64">
                  <c:v>257</c:v>
                </c:pt>
                <c:pt idx="65">
                  <c:v>257</c:v>
                </c:pt>
                <c:pt idx="66">
                  <c:v>257</c:v>
                </c:pt>
                <c:pt idx="67">
                  <c:v>257</c:v>
                </c:pt>
                <c:pt idx="68">
                  <c:v>257</c:v>
                </c:pt>
                <c:pt idx="69">
                  <c:v>257</c:v>
                </c:pt>
                <c:pt idx="70">
                  <c:v>257</c:v>
                </c:pt>
                <c:pt idx="71">
                  <c:v>257</c:v>
                </c:pt>
                <c:pt idx="72">
                  <c:v>257</c:v>
                </c:pt>
                <c:pt idx="73">
                  <c:v>257</c:v>
                </c:pt>
                <c:pt idx="74">
                  <c:v>257</c:v>
                </c:pt>
                <c:pt idx="75">
                  <c:v>257</c:v>
                </c:pt>
                <c:pt idx="76">
                  <c:v>257</c:v>
                </c:pt>
                <c:pt idx="77">
                  <c:v>257</c:v>
                </c:pt>
                <c:pt idx="78">
                  <c:v>257</c:v>
                </c:pt>
                <c:pt idx="79">
                  <c:v>257</c:v>
                </c:pt>
                <c:pt idx="80">
                  <c:v>257</c:v>
                </c:pt>
                <c:pt idx="81">
                  <c:v>257</c:v>
                </c:pt>
                <c:pt idx="82">
                  <c:v>257</c:v>
                </c:pt>
                <c:pt idx="83">
                  <c:v>257</c:v>
                </c:pt>
                <c:pt idx="84">
                  <c:v>257</c:v>
                </c:pt>
                <c:pt idx="85">
                  <c:v>257</c:v>
                </c:pt>
                <c:pt idx="86">
                  <c:v>257</c:v>
                </c:pt>
                <c:pt idx="87">
                  <c:v>257</c:v>
                </c:pt>
                <c:pt idx="88">
                  <c:v>257</c:v>
                </c:pt>
                <c:pt idx="89">
                  <c:v>257</c:v>
                </c:pt>
                <c:pt idx="90">
                  <c:v>257</c:v>
                </c:pt>
                <c:pt idx="91">
                  <c:v>257</c:v>
                </c:pt>
                <c:pt idx="92">
                  <c:v>263</c:v>
                </c:pt>
                <c:pt idx="93">
                  <c:v>263</c:v>
                </c:pt>
                <c:pt idx="94">
                  <c:v>263</c:v>
                </c:pt>
                <c:pt idx="95">
                  <c:v>263</c:v>
                </c:pt>
                <c:pt idx="96">
                  <c:v>263</c:v>
                </c:pt>
                <c:pt idx="97">
                  <c:v>263</c:v>
                </c:pt>
                <c:pt idx="98">
                  <c:v>263</c:v>
                </c:pt>
                <c:pt idx="99">
                  <c:v>263</c:v>
                </c:pt>
                <c:pt idx="100">
                  <c:v>263</c:v>
                </c:pt>
                <c:pt idx="101">
                  <c:v>263</c:v>
                </c:pt>
                <c:pt idx="102">
                  <c:v>263</c:v>
                </c:pt>
                <c:pt idx="103">
                  <c:v>263</c:v>
                </c:pt>
                <c:pt idx="104">
                  <c:v>263</c:v>
                </c:pt>
                <c:pt idx="105">
                  <c:v>263</c:v>
                </c:pt>
                <c:pt idx="106">
                  <c:v>263</c:v>
                </c:pt>
                <c:pt idx="107">
                  <c:v>263</c:v>
                </c:pt>
                <c:pt idx="108">
                  <c:v>263</c:v>
                </c:pt>
                <c:pt idx="109">
                  <c:v>263</c:v>
                </c:pt>
                <c:pt idx="110">
                  <c:v>263</c:v>
                </c:pt>
                <c:pt idx="111">
                  <c:v>263</c:v>
                </c:pt>
                <c:pt idx="112">
                  <c:v>263</c:v>
                </c:pt>
                <c:pt idx="113">
                  <c:v>263</c:v>
                </c:pt>
                <c:pt idx="114">
                  <c:v>263</c:v>
                </c:pt>
                <c:pt idx="115">
                  <c:v>263</c:v>
                </c:pt>
                <c:pt idx="116">
                  <c:v>263</c:v>
                </c:pt>
                <c:pt idx="117">
                  <c:v>263</c:v>
                </c:pt>
                <c:pt idx="118">
                  <c:v>263</c:v>
                </c:pt>
                <c:pt idx="119">
                  <c:v>263</c:v>
                </c:pt>
                <c:pt idx="120">
                  <c:v>263</c:v>
                </c:pt>
                <c:pt idx="121">
                  <c:v>263</c:v>
                </c:pt>
                <c:pt idx="122">
                  <c:v>263</c:v>
                </c:pt>
                <c:pt idx="123">
                  <c:v>255</c:v>
                </c:pt>
                <c:pt idx="124">
                  <c:v>255</c:v>
                </c:pt>
                <c:pt idx="125">
                  <c:v>255</c:v>
                </c:pt>
                <c:pt idx="126">
                  <c:v>255</c:v>
                </c:pt>
                <c:pt idx="127">
                  <c:v>255</c:v>
                </c:pt>
                <c:pt idx="128">
                  <c:v>255</c:v>
                </c:pt>
                <c:pt idx="129">
                  <c:v>255</c:v>
                </c:pt>
                <c:pt idx="130">
                  <c:v>255</c:v>
                </c:pt>
                <c:pt idx="131">
                  <c:v>255</c:v>
                </c:pt>
                <c:pt idx="132">
                  <c:v>255</c:v>
                </c:pt>
                <c:pt idx="133">
                  <c:v>255</c:v>
                </c:pt>
                <c:pt idx="134">
                  <c:v>255</c:v>
                </c:pt>
                <c:pt idx="135">
                  <c:v>255</c:v>
                </c:pt>
                <c:pt idx="136">
                  <c:v>255</c:v>
                </c:pt>
                <c:pt idx="137">
                  <c:v>255</c:v>
                </c:pt>
                <c:pt idx="138">
                  <c:v>255</c:v>
                </c:pt>
                <c:pt idx="139">
                  <c:v>255</c:v>
                </c:pt>
                <c:pt idx="140">
                  <c:v>255</c:v>
                </c:pt>
                <c:pt idx="141">
                  <c:v>255</c:v>
                </c:pt>
                <c:pt idx="142">
                  <c:v>255</c:v>
                </c:pt>
                <c:pt idx="143">
                  <c:v>255</c:v>
                </c:pt>
                <c:pt idx="144">
                  <c:v>255</c:v>
                </c:pt>
                <c:pt idx="145">
                  <c:v>255</c:v>
                </c:pt>
                <c:pt idx="146">
                  <c:v>255</c:v>
                </c:pt>
                <c:pt idx="147">
                  <c:v>255</c:v>
                </c:pt>
                <c:pt idx="148">
                  <c:v>255</c:v>
                </c:pt>
                <c:pt idx="149">
                  <c:v>255</c:v>
                </c:pt>
                <c:pt idx="150">
                  <c:v>255</c:v>
                </c:pt>
                <c:pt idx="151">
                  <c:v>255</c:v>
                </c:pt>
                <c:pt idx="152">
                  <c:v>255</c:v>
                </c:pt>
                <c:pt idx="153">
                  <c:v>255</c:v>
                </c:pt>
                <c:pt idx="154">
                  <c:v>255</c:v>
                </c:pt>
                <c:pt idx="155">
                  <c:v>255</c:v>
                </c:pt>
                <c:pt idx="156">
                  <c:v>255</c:v>
                </c:pt>
                <c:pt idx="157">
                  <c:v>255</c:v>
                </c:pt>
                <c:pt idx="158">
                  <c:v>255</c:v>
                </c:pt>
                <c:pt idx="159">
                  <c:v>255</c:v>
                </c:pt>
                <c:pt idx="160">
                  <c:v>255</c:v>
                </c:pt>
                <c:pt idx="161">
                  <c:v>255</c:v>
                </c:pt>
                <c:pt idx="162">
                  <c:v>255</c:v>
                </c:pt>
                <c:pt idx="163">
                  <c:v>255</c:v>
                </c:pt>
                <c:pt idx="164">
                  <c:v>255</c:v>
                </c:pt>
                <c:pt idx="165">
                  <c:v>255</c:v>
                </c:pt>
                <c:pt idx="166">
                  <c:v>255</c:v>
                </c:pt>
                <c:pt idx="167">
                  <c:v>255</c:v>
                </c:pt>
                <c:pt idx="168">
                  <c:v>255</c:v>
                </c:pt>
                <c:pt idx="169">
                  <c:v>255</c:v>
                </c:pt>
                <c:pt idx="170">
                  <c:v>255</c:v>
                </c:pt>
                <c:pt idx="171">
                  <c:v>255</c:v>
                </c:pt>
                <c:pt idx="172">
                  <c:v>255</c:v>
                </c:pt>
                <c:pt idx="173">
                  <c:v>255</c:v>
                </c:pt>
                <c:pt idx="174">
                  <c:v>255</c:v>
                </c:pt>
                <c:pt idx="175">
                  <c:v>255</c:v>
                </c:pt>
                <c:pt idx="176">
                  <c:v>255</c:v>
                </c:pt>
                <c:pt idx="177">
                  <c:v>255</c:v>
                </c:pt>
                <c:pt idx="178">
                  <c:v>255</c:v>
                </c:pt>
                <c:pt idx="179">
                  <c:v>255</c:v>
                </c:pt>
                <c:pt idx="180">
                  <c:v>255</c:v>
                </c:pt>
                <c:pt idx="181">
                  <c:v>255</c:v>
                </c:pt>
                <c:pt idx="182">
                  <c:v>255</c:v>
                </c:pt>
                <c:pt idx="183">
                  <c:v>255</c:v>
                </c:pt>
                <c:pt idx="184">
                  <c:v>415</c:v>
                </c:pt>
                <c:pt idx="185">
                  <c:v>415</c:v>
                </c:pt>
                <c:pt idx="186">
                  <c:v>415</c:v>
                </c:pt>
                <c:pt idx="187">
                  <c:v>415</c:v>
                </c:pt>
                <c:pt idx="188">
                  <c:v>415</c:v>
                </c:pt>
                <c:pt idx="189">
                  <c:v>415</c:v>
                </c:pt>
                <c:pt idx="190">
                  <c:v>415</c:v>
                </c:pt>
                <c:pt idx="191">
                  <c:v>415</c:v>
                </c:pt>
                <c:pt idx="192">
                  <c:v>415</c:v>
                </c:pt>
                <c:pt idx="193">
                  <c:v>415</c:v>
                </c:pt>
                <c:pt idx="194">
                  <c:v>415</c:v>
                </c:pt>
                <c:pt idx="195">
                  <c:v>415</c:v>
                </c:pt>
                <c:pt idx="196">
                  <c:v>415</c:v>
                </c:pt>
                <c:pt idx="197">
                  <c:v>415</c:v>
                </c:pt>
                <c:pt idx="198">
                  <c:v>415</c:v>
                </c:pt>
                <c:pt idx="199">
                  <c:v>415</c:v>
                </c:pt>
                <c:pt idx="200">
                  <c:v>415</c:v>
                </c:pt>
                <c:pt idx="201">
                  <c:v>415</c:v>
                </c:pt>
                <c:pt idx="202">
                  <c:v>415</c:v>
                </c:pt>
                <c:pt idx="203">
                  <c:v>415</c:v>
                </c:pt>
                <c:pt idx="204">
                  <c:v>415</c:v>
                </c:pt>
                <c:pt idx="205">
                  <c:v>415</c:v>
                </c:pt>
                <c:pt idx="206">
                  <c:v>415</c:v>
                </c:pt>
                <c:pt idx="207">
                  <c:v>415</c:v>
                </c:pt>
                <c:pt idx="208">
                  <c:v>415</c:v>
                </c:pt>
                <c:pt idx="209">
                  <c:v>415</c:v>
                </c:pt>
                <c:pt idx="210">
                  <c:v>415</c:v>
                </c:pt>
                <c:pt idx="211">
                  <c:v>415</c:v>
                </c:pt>
                <c:pt idx="212">
                  <c:v>415</c:v>
                </c:pt>
                <c:pt idx="213">
                  <c:v>415</c:v>
                </c:pt>
                <c:pt idx="214">
                  <c:v>415</c:v>
                </c:pt>
                <c:pt idx="215">
                  <c:v>458</c:v>
                </c:pt>
                <c:pt idx="216">
                  <c:v>458</c:v>
                </c:pt>
                <c:pt idx="217">
                  <c:v>458</c:v>
                </c:pt>
                <c:pt idx="218">
                  <c:v>458</c:v>
                </c:pt>
                <c:pt idx="219">
                  <c:v>458</c:v>
                </c:pt>
                <c:pt idx="220">
                  <c:v>458</c:v>
                </c:pt>
                <c:pt idx="221">
                  <c:v>458</c:v>
                </c:pt>
                <c:pt idx="222">
                  <c:v>458</c:v>
                </c:pt>
                <c:pt idx="223">
                  <c:v>458</c:v>
                </c:pt>
                <c:pt idx="224">
                  <c:v>458</c:v>
                </c:pt>
                <c:pt idx="225">
                  <c:v>458</c:v>
                </c:pt>
                <c:pt idx="226">
                  <c:v>458</c:v>
                </c:pt>
                <c:pt idx="227">
                  <c:v>458</c:v>
                </c:pt>
                <c:pt idx="228">
                  <c:v>458</c:v>
                </c:pt>
                <c:pt idx="229">
                  <c:v>458</c:v>
                </c:pt>
                <c:pt idx="230">
                  <c:v>458</c:v>
                </c:pt>
                <c:pt idx="231">
                  <c:v>458</c:v>
                </c:pt>
                <c:pt idx="232">
                  <c:v>458</c:v>
                </c:pt>
                <c:pt idx="233">
                  <c:v>458</c:v>
                </c:pt>
                <c:pt idx="234">
                  <c:v>458</c:v>
                </c:pt>
                <c:pt idx="235">
                  <c:v>458</c:v>
                </c:pt>
                <c:pt idx="236">
                  <c:v>458</c:v>
                </c:pt>
                <c:pt idx="237">
                  <c:v>458</c:v>
                </c:pt>
                <c:pt idx="238">
                  <c:v>458</c:v>
                </c:pt>
                <c:pt idx="239">
                  <c:v>458</c:v>
                </c:pt>
                <c:pt idx="240">
                  <c:v>458</c:v>
                </c:pt>
                <c:pt idx="241">
                  <c:v>458</c:v>
                </c:pt>
                <c:pt idx="242">
                  <c:v>458</c:v>
                </c:pt>
                <c:pt idx="243">
                  <c:v>681</c:v>
                </c:pt>
                <c:pt idx="244">
                  <c:v>681</c:v>
                </c:pt>
                <c:pt idx="245">
                  <c:v>681</c:v>
                </c:pt>
                <c:pt idx="246">
                  <c:v>681</c:v>
                </c:pt>
                <c:pt idx="247">
                  <c:v>681</c:v>
                </c:pt>
                <c:pt idx="248">
                  <c:v>681</c:v>
                </c:pt>
                <c:pt idx="249">
                  <c:v>681</c:v>
                </c:pt>
                <c:pt idx="250">
                  <c:v>681</c:v>
                </c:pt>
                <c:pt idx="251">
                  <c:v>681</c:v>
                </c:pt>
                <c:pt idx="252">
                  <c:v>681</c:v>
                </c:pt>
                <c:pt idx="253">
                  <c:v>681</c:v>
                </c:pt>
                <c:pt idx="254">
                  <c:v>681</c:v>
                </c:pt>
                <c:pt idx="255">
                  <c:v>681</c:v>
                </c:pt>
                <c:pt idx="256">
                  <c:v>681</c:v>
                </c:pt>
                <c:pt idx="257">
                  <c:v>681</c:v>
                </c:pt>
                <c:pt idx="258">
                  <c:v>681</c:v>
                </c:pt>
                <c:pt idx="259">
                  <c:v>681</c:v>
                </c:pt>
                <c:pt idx="260">
                  <c:v>681</c:v>
                </c:pt>
                <c:pt idx="261">
                  <c:v>681</c:v>
                </c:pt>
                <c:pt idx="262">
                  <c:v>681</c:v>
                </c:pt>
                <c:pt idx="263">
                  <c:v>681</c:v>
                </c:pt>
                <c:pt idx="264">
                  <c:v>681</c:v>
                </c:pt>
                <c:pt idx="265">
                  <c:v>681</c:v>
                </c:pt>
                <c:pt idx="266">
                  <c:v>681</c:v>
                </c:pt>
                <c:pt idx="267">
                  <c:v>681</c:v>
                </c:pt>
                <c:pt idx="268">
                  <c:v>681</c:v>
                </c:pt>
                <c:pt idx="269">
                  <c:v>681</c:v>
                </c:pt>
                <c:pt idx="270">
                  <c:v>681</c:v>
                </c:pt>
                <c:pt idx="271">
                  <c:v>681</c:v>
                </c:pt>
                <c:pt idx="272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73-4412-8E4D-4E59372D7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2540095"/>
        <c:axId val="372540927"/>
      </c:lineChart>
      <c:lineChart>
        <c:grouping val="standard"/>
        <c:varyColors val="0"/>
        <c:ser>
          <c:idx val="0"/>
          <c:order val="0"/>
          <c:tx>
            <c:strRef>
              <c:f>'Маркетинг. аналитика'!$D$1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rgbClr val="EF8943"/>
              </a:solidFill>
              <a:round/>
            </a:ln>
            <a:effectLst/>
          </c:spPr>
          <c:marker>
            <c:symbol val="none"/>
          </c:marker>
          <c:cat>
            <c:numRef>
              <c:f>'Маркетинг. аналитика'!$C$2:$C$274</c:f>
              <c:numCache>
                <c:formatCode>m/d/yyyy</c:formatCode>
                <c:ptCount val="273"/>
                <c:pt idx="0">
                  <c:v>44743</c:v>
                </c:pt>
                <c:pt idx="1">
                  <c:v>44744</c:v>
                </c:pt>
                <c:pt idx="2">
                  <c:v>44745</c:v>
                </c:pt>
                <c:pt idx="3">
                  <c:v>44746</c:v>
                </c:pt>
                <c:pt idx="4">
                  <c:v>44747</c:v>
                </c:pt>
                <c:pt idx="5">
                  <c:v>44748</c:v>
                </c:pt>
                <c:pt idx="6">
                  <c:v>44749</c:v>
                </c:pt>
                <c:pt idx="7">
                  <c:v>44750</c:v>
                </c:pt>
                <c:pt idx="8">
                  <c:v>44751</c:v>
                </c:pt>
                <c:pt idx="9">
                  <c:v>44752</c:v>
                </c:pt>
                <c:pt idx="10">
                  <c:v>44753</c:v>
                </c:pt>
                <c:pt idx="11">
                  <c:v>44754</c:v>
                </c:pt>
                <c:pt idx="12">
                  <c:v>44755</c:v>
                </c:pt>
                <c:pt idx="13">
                  <c:v>44756</c:v>
                </c:pt>
                <c:pt idx="14">
                  <c:v>44757</c:v>
                </c:pt>
                <c:pt idx="15">
                  <c:v>44758</c:v>
                </c:pt>
                <c:pt idx="16">
                  <c:v>44759</c:v>
                </c:pt>
                <c:pt idx="17">
                  <c:v>44760</c:v>
                </c:pt>
                <c:pt idx="18">
                  <c:v>44761</c:v>
                </c:pt>
                <c:pt idx="19">
                  <c:v>44762</c:v>
                </c:pt>
                <c:pt idx="20">
                  <c:v>44763</c:v>
                </c:pt>
                <c:pt idx="21">
                  <c:v>44764</c:v>
                </c:pt>
                <c:pt idx="22">
                  <c:v>44765</c:v>
                </c:pt>
                <c:pt idx="23">
                  <c:v>44766</c:v>
                </c:pt>
                <c:pt idx="24">
                  <c:v>44767</c:v>
                </c:pt>
                <c:pt idx="25">
                  <c:v>44768</c:v>
                </c:pt>
                <c:pt idx="26">
                  <c:v>44769</c:v>
                </c:pt>
                <c:pt idx="27">
                  <c:v>44770</c:v>
                </c:pt>
                <c:pt idx="28">
                  <c:v>44771</c:v>
                </c:pt>
                <c:pt idx="29">
                  <c:v>44772</c:v>
                </c:pt>
                <c:pt idx="30">
                  <c:v>44773</c:v>
                </c:pt>
                <c:pt idx="31">
                  <c:v>44774</c:v>
                </c:pt>
                <c:pt idx="32">
                  <c:v>44775</c:v>
                </c:pt>
                <c:pt idx="33">
                  <c:v>44776</c:v>
                </c:pt>
                <c:pt idx="34">
                  <c:v>44777</c:v>
                </c:pt>
                <c:pt idx="35">
                  <c:v>44778</c:v>
                </c:pt>
                <c:pt idx="36">
                  <c:v>44779</c:v>
                </c:pt>
                <c:pt idx="37">
                  <c:v>44780</c:v>
                </c:pt>
                <c:pt idx="38">
                  <c:v>44781</c:v>
                </c:pt>
                <c:pt idx="39">
                  <c:v>44782</c:v>
                </c:pt>
                <c:pt idx="40">
                  <c:v>44783</c:v>
                </c:pt>
                <c:pt idx="41">
                  <c:v>44784</c:v>
                </c:pt>
                <c:pt idx="42">
                  <c:v>44785</c:v>
                </c:pt>
                <c:pt idx="43">
                  <c:v>44786</c:v>
                </c:pt>
                <c:pt idx="44">
                  <c:v>44787</c:v>
                </c:pt>
                <c:pt idx="45">
                  <c:v>44788</c:v>
                </c:pt>
                <c:pt idx="46">
                  <c:v>44789</c:v>
                </c:pt>
                <c:pt idx="47">
                  <c:v>44790</c:v>
                </c:pt>
                <c:pt idx="48">
                  <c:v>44791</c:v>
                </c:pt>
                <c:pt idx="49">
                  <c:v>44792</c:v>
                </c:pt>
                <c:pt idx="50">
                  <c:v>44793</c:v>
                </c:pt>
                <c:pt idx="51">
                  <c:v>44794</c:v>
                </c:pt>
                <c:pt idx="52">
                  <c:v>44795</c:v>
                </c:pt>
                <c:pt idx="53">
                  <c:v>44796</c:v>
                </c:pt>
                <c:pt idx="54">
                  <c:v>44797</c:v>
                </c:pt>
                <c:pt idx="55">
                  <c:v>44798</c:v>
                </c:pt>
                <c:pt idx="56">
                  <c:v>44799</c:v>
                </c:pt>
                <c:pt idx="57">
                  <c:v>44800</c:v>
                </c:pt>
                <c:pt idx="58">
                  <c:v>44801</c:v>
                </c:pt>
                <c:pt idx="59">
                  <c:v>44802</c:v>
                </c:pt>
                <c:pt idx="60">
                  <c:v>44803</c:v>
                </c:pt>
                <c:pt idx="61">
                  <c:v>44804</c:v>
                </c:pt>
                <c:pt idx="62">
                  <c:v>44805</c:v>
                </c:pt>
                <c:pt idx="63">
                  <c:v>44806</c:v>
                </c:pt>
                <c:pt idx="64">
                  <c:v>44807</c:v>
                </c:pt>
                <c:pt idx="65">
                  <c:v>44808</c:v>
                </c:pt>
                <c:pt idx="66">
                  <c:v>44809</c:v>
                </c:pt>
                <c:pt idx="67">
                  <c:v>44810</c:v>
                </c:pt>
                <c:pt idx="68">
                  <c:v>44811</c:v>
                </c:pt>
                <c:pt idx="69">
                  <c:v>44812</c:v>
                </c:pt>
                <c:pt idx="70">
                  <c:v>44813</c:v>
                </c:pt>
                <c:pt idx="71">
                  <c:v>44814</c:v>
                </c:pt>
                <c:pt idx="72">
                  <c:v>44815</c:v>
                </c:pt>
                <c:pt idx="73">
                  <c:v>44816</c:v>
                </c:pt>
                <c:pt idx="74">
                  <c:v>44817</c:v>
                </c:pt>
                <c:pt idx="75">
                  <c:v>44818</c:v>
                </c:pt>
                <c:pt idx="76">
                  <c:v>44819</c:v>
                </c:pt>
                <c:pt idx="77">
                  <c:v>44820</c:v>
                </c:pt>
                <c:pt idx="78">
                  <c:v>44821</c:v>
                </c:pt>
                <c:pt idx="79">
                  <c:v>44822</c:v>
                </c:pt>
                <c:pt idx="80">
                  <c:v>44823</c:v>
                </c:pt>
                <c:pt idx="81">
                  <c:v>44824</c:v>
                </c:pt>
                <c:pt idx="82">
                  <c:v>44825</c:v>
                </c:pt>
                <c:pt idx="83">
                  <c:v>44826</c:v>
                </c:pt>
                <c:pt idx="84">
                  <c:v>44827</c:v>
                </c:pt>
                <c:pt idx="85">
                  <c:v>44828</c:v>
                </c:pt>
                <c:pt idx="86">
                  <c:v>44829</c:v>
                </c:pt>
                <c:pt idx="87">
                  <c:v>44830</c:v>
                </c:pt>
                <c:pt idx="88">
                  <c:v>44831</c:v>
                </c:pt>
                <c:pt idx="89">
                  <c:v>44832</c:v>
                </c:pt>
                <c:pt idx="90">
                  <c:v>44833</c:v>
                </c:pt>
                <c:pt idx="91">
                  <c:v>44834</c:v>
                </c:pt>
                <c:pt idx="92">
                  <c:v>44835</c:v>
                </c:pt>
                <c:pt idx="93">
                  <c:v>44836</c:v>
                </c:pt>
                <c:pt idx="94">
                  <c:v>44837</c:v>
                </c:pt>
                <c:pt idx="95">
                  <c:v>44838</c:v>
                </c:pt>
                <c:pt idx="96">
                  <c:v>44839</c:v>
                </c:pt>
                <c:pt idx="97">
                  <c:v>44840</c:v>
                </c:pt>
                <c:pt idx="98">
                  <c:v>44841</c:v>
                </c:pt>
                <c:pt idx="99">
                  <c:v>44842</c:v>
                </c:pt>
                <c:pt idx="100">
                  <c:v>44843</c:v>
                </c:pt>
                <c:pt idx="101">
                  <c:v>44844</c:v>
                </c:pt>
                <c:pt idx="102">
                  <c:v>44845</c:v>
                </c:pt>
                <c:pt idx="103">
                  <c:v>44846</c:v>
                </c:pt>
                <c:pt idx="104">
                  <c:v>44847</c:v>
                </c:pt>
                <c:pt idx="105">
                  <c:v>44848</c:v>
                </c:pt>
                <c:pt idx="106">
                  <c:v>44849</c:v>
                </c:pt>
                <c:pt idx="107">
                  <c:v>44850</c:v>
                </c:pt>
                <c:pt idx="108">
                  <c:v>44851</c:v>
                </c:pt>
                <c:pt idx="109">
                  <c:v>44852</c:v>
                </c:pt>
                <c:pt idx="110">
                  <c:v>44853</c:v>
                </c:pt>
                <c:pt idx="111">
                  <c:v>44854</c:v>
                </c:pt>
                <c:pt idx="112">
                  <c:v>44855</c:v>
                </c:pt>
                <c:pt idx="113">
                  <c:v>44856</c:v>
                </c:pt>
                <c:pt idx="114">
                  <c:v>44857</c:v>
                </c:pt>
                <c:pt idx="115">
                  <c:v>44858</c:v>
                </c:pt>
                <c:pt idx="116">
                  <c:v>44859</c:v>
                </c:pt>
                <c:pt idx="117">
                  <c:v>44860</c:v>
                </c:pt>
                <c:pt idx="118">
                  <c:v>44861</c:v>
                </c:pt>
                <c:pt idx="119">
                  <c:v>44862</c:v>
                </c:pt>
                <c:pt idx="120">
                  <c:v>44863</c:v>
                </c:pt>
                <c:pt idx="121">
                  <c:v>44864</c:v>
                </c:pt>
                <c:pt idx="122">
                  <c:v>44865</c:v>
                </c:pt>
                <c:pt idx="123">
                  <c:v>44866</c:v>
                </c:pt>
                <c:pt idx="124">
                  <c:v>44867</c:v>
                </c:pt>
                <c:pt idx="125">
                  <c:v>44868</c:v>
                </c:pt>
                <c:pt idx="126">
                  <c:v>44869</c:v>
                </c:pt>
                <c:pt idx="127">
                  <c:v>44870</c:v>
                </c:pt>
                <c:pt idx="128">
                  <c:v>44871</c:v>
                </c:pt>
                <c:pt idx="129">
                  <c:v>44872</c:v>
                </c:pt>
                <c:pt idx="130">
                  <c:v>44873</c:v>
                </c:pt>
                <c:pt idx="131">
                  <c:v>44874</c:v>
                </c:pt>
                <c:pt idx="132">
                  <c:v>44875</c:v>
                </c:pt>
                <c:pt idx="133">
                  <c:v>44876</c:v>
                </c:pt>
                <c:pt idx="134">
                  <c:v>44877</c:v>
                </c:pt>
                <c:pt idx="135">
                  <c:v>44878</c:v>
                </c:pt>
                <c:pt idx="136">
                  <c:v>44879</c:v>
                </c:pt>
                <c:pt idx="137">
                  <c:v>44880</c:v>
                </c:pt>
                <c:pt idx="138">
                  <c:v>44881</c:v>
                </c:pt>
                <c:pt idx="139">
                  <c:v>44882</c:v>
                </c:pt>
                <c:pt idx="140">
                  <c:v>44883</c:v>
                </c:pt>
                <c:pt idx="141">
                  <c:v>44884</c:v>
                </c:pt>
                <c:pt idx="142">
                  <c:v>44885</c:v>
                </c:pt>
                <c:pt idx="143">
                  <c:v>44886</c:v>
                </c:pt>
                <c:pt idx="144">
                  <c:v>44887</c:v>
                </c:pt>
                <c:pt idx="145">
                  <c:v>44888</c:v>
                </c:pt>
                <c:pt idx="146">
                  <c:v>44889</c:v>
                </c:pt>
                <c:pt idx="147">
                  <c:v>44890</c:v>
                </c:pt>
                <c:pt idx="148">
                  <c:v>44891</c:v>
                </c:pt>
                <c:pt idx="149">
                  <c:v>44892</c:v>
                </c:pt>
                <c:pt idx="150">
                  <c:v>44893</c:v>
                </c:pt>
                <c:pt idx="151">
                  <c:v>44894</c:v>
                </c:pt>
                <c:pt idx="152">
                  <c:v>44895</c:v>
                </c:pt>
                <c:pt idx="153">
                  <c:v>44896</c:v>
                </c:pt>
                <c:pt idx="154">
                  <c:v>44897</c:v>
                </c:pt>
                <c:pt idx="155">
                  <c:v>44898</c:v>
                </c:pt>
                <c:pt idx="156">
                  <c:v>44899</c:v>
                </c:pt>
                <c:pt idx="157">
                  <c:v>44900</c:v>
                </c:pt>
                <c:pt idx="158">
                  <c:v>44901</c:v>
                </c:pt>
                <c:pt idx="159">
                  <c:v>44902</c:v>
                </c:pt>
                <c:pt idx="160">
                  <c:v>44903</c:v>
                </c:pt>
                <c:pt idx="161">
                  <c:v>44904</c:v>
                </c:pt>
                <c:pt idx="162">
                  <c:v>44905</c:v>
                </c:pt>
                <c:pt idx="163">
                  <c:v>44906</c:v>
                </c:pt>
                <c:pt idx="164">
                  <c:v>44907</c:v>
                </c:pt>
                <c:pt idx="165">
                  <c:v>44908</c:v>
                </c:pt>
                <c:pt idx="166">
                  <c:v>44909</c:v>
                </c:pt>
                <c:pt idx="167">
                  <c:v>44910</c:v>
                </c:pt>
                <c:pt idx="168">
                  <c:v>44911</c:v>
                </c:pt>
                <c:pt idx="169">
                  <c:v>44912</c:v>
                </c:pt>
                <c:pt idx="170">
                  <c:v>44913</c:v>
                </c:pt>
                <c:pt idx="171">
                  <c:v>44914</c:v>
                </c:pt>
                <c:pt idx="172">
                  <c:v>44915</c:v>
                </c:pt>
                <c:pt idx="173">
                  <c:v>44916</c:v>
                </c:pt>
                <c:pt idx="174">
                  <c:v>44917</c:v>
                </c:pt>
                <c:pt idx="175">
                  <c:v>44918</c:v>
                </c:pt>
                <c:pt idx="176">
                  <c:v>44919</c:v>
                </c:pt>
                <c:pt idx="177">
                  <c:v>44920</c:v>
                </c:pt>
                <c:pt idx="178">
                  <c:v>44921</c:v>
                </c:pt>
                <c:pt idx="179">
                  <c:v>44922</c:v>
                </c:pt>
                <c:pt idx="180">
                  <c:v>44923</c:v>
                </c:pt>
                <c:pt idx="181">
                  <c:v>44924</c:v>
                </c:pt>
                <c:pt idx="182">
                  <c:v>44925</c:v>
                </c:pt>
                <c:pt idx="183">
                  <c:v>44926</c:v>
                </c:pt>
                <c:pt idx="184">
                  <c:v>44927</c:v>
                </c:pt>
                <c:pt idx="185">
                  <c:v>44928</c:v>
                </c:pt>
                <c:pt idx="186">
                  <c:v>44929</c:v>
                </c:pt>
                <c:pt idx="187">
                  <c:v>44930</c:v>
                </c:pt>
                <c:pt idx="188">
                  <c:v>44931</c:v>
                </c:pt>
                <c:pt idx="189">
                  <c:v>44932</c:v>
                </c:pt>
                <c:pt idx="190">
                  <c:v>44933</c:v>
                </c:pt>
                <c:pt idx="191">
                  <c:v>44934</c:v>
                </c:pt>
                <c:pt idx="192">
                  <c:v>44935</c:v>
                </c:pt>
                <c:pt idx="193">
                  <c:v>44936</c:v>
                </c:pt>
                <c:pt idx="194">
                  <c:v>44937</c:v>
                </c:pt>
                <c:pt idx="195">
                  <c:v>44938</c:v>
                </c:pt>
                <c:pt idx="196">
                  <c:v>44939</c:v>
                </c:pt>
                <c:pt idx="197">
                  <c:v>44940</c:v>
                </c:pt>
                <c:pt idx="198">
                  <c:v>44941</c:v>
                </c:pt>
                <c:pt idx="199">
                  <c:v>44942</c:v>
                </c:pt>
                <c:pt idx="200">
                  <c:v>44943</c:v>
                </c:pt>
                <c:pt idx="201">
                  <c:v>44944</c:v>
                </c:pt>
                <c:pt idx="202">
                  <c:v>44945</c:v>
                </c:pt>
                <c:pt idx="203">
                  <c:v>44946</c:v>
                </c:pt>
                <c:pt idx="204">
                  <c:v>44947</c:v>
                </c:pt>
                <c:pt idx="205">
                  <c:v>44948</c:v>
                </c:pt>
                <c:pt idx="206">
                  <c:v>44949</c:v>
                </c:pt>
                <c:pt idx="207">
                  <c:v>44950</c:v>
                </c:pt>
                <c:pt idx="208">
                  <c:v>44951</c:v>
                </c:pt>
                <c:pt idx="209">
                  <c:v>44952</c:v>
                </c:pt>
                <c:pt idx="210">
                  <c:v>44953</c:v>
                </c:pt>
                <c:pt idx="211">
                  <c:v>44954</c:v>
                </c:pt>
                <c:pt idx="212">
                  <c:v>44955</c:v>
                </c:pt>
                <c:pt idx="213">
                  <c:v>44956</c:v>
                </c:pt>
                <c:pt idx="214">
                  <c:v>44957</c:v>
                </c:pt>
                <c:pt idx="215">
                  <c:v>44958</c:v>
                </c:pt>
                <c:pt idx="216">
                  <c:v>44959</c:v>
                </c:pt>
                <c:pt idx="217">
                  <c:v>44960</c:v>
                </c:pt>
                <c:pt idx="218">
                  <c:v>44961</c:v>
                </c:pt>
                <c:pt idx="219">
                  <c:v>44962</c:v>
                </c:pt>
                <c:pt idx="220">
                  <c:v>44963</c:v>
                </c:pt>
                <c:pt idx="221">
                  <c:v>44964</c:v>
                </c:pt>
                <c:pt idx="222">
                  <c:v>44965</c:v>
                </c:pt>
                <c:pt idx="223">
                  <c:v>44966</c:v>
                </c:pt>
                <c:pt idx="224">
                  <c:v>44967</c:v>
                </c:pt>
                <c:pt idx="225">
                  <c:v>44968</c:v>
                </c:pt>
                <c:pt idx="226">
                  <c:v>44969</c:v>
                </c:pt>
                <c:pt idx="227">
                  <c:v>44970</c:v>
                </c:pt>
                <c:pt idx="228">
                  <c:v>44971</c:v>
                </c:pt>
                <c:pt idx="229">
                  <c:v>44972</c:v>
                </c:pt>
                <c:pt idx="230">
                  <c:v>44973</c:v>
                </c:pt>
                <c:pt idx="231">
                  <c:v>44974</c:v>
                </c:pt>
                <c:pt idx="232">
                  <c:v>44975</c:v>
                </c:pt>
                <c:pt idx="233">
                  <c:v>44976</c:v>
                </c:pt>
                <c:pt idx="234">
                  <c:v>44977</c:v>
                </c:pt>
                <c:pt idx="235">
                  <c:v>44978</c:v>
                </c:pt>
                <c:pt idx="236">
                  <c:v>44979</c:v>
                </c:pt>
                <c:pt idx="237">
                  <c:v>44980</c:v>
                </c:pt>
                <c:pt idx="238">
                  <c:v>44981</c:v>
                </c:pt>
                <c:pt idx="239">
                  <c:v>44982</c:v>
                </c:pt>
                <c:pt idx="240">
                  <c:v>44983</c:v>
                </c:pt>
                <c:pt idx="241">
                  <c:v>44984</c:v>
                </c:pt>
                <c:pt idx="242">
                  <c:v>44985</c:v>
                </c:pt>
                <c:pt idx="243">
                  <c:v>44986</c:v>
                </c:pt>
                <c:pt idx="244">
                  <c:v>44987</c:v>
                </c:pt>
                <c:pt idx="245">
                  <c:v>44988</c:v>
                </c:pt>
                <c:pt idx="246">
                  <c:v>44989</c:v>
                </c:pt>
                <c:pt idx="247">
                  <c:v>44990</c:v>
                </c:pt>
                <c:pt idx="248">
                  <c:v>44991</c:v>
                </c:pt>
                <c:pt idx="249">
                  <c:v>44992</c:v>
                </c:pt>
                <c:pt idx="250">
                  <c:v>44993</c:v>
                </c:pt>
                <c:pt idx="251">
                  <c:v>44994</c:v>
                </c:pt>
                <c:pt idx="252">
                  <c:v>44995</c:v>
                </c:pt>
                <c:pt idx="253">
                  <c:v>44996</c:v>
                </c:pt>
                <c:pt idx="254">
                  <c:v>44997</c:v>
                </c:pt>
                <c:pt idx="255">
                  <c:v>44998</c:v>
                </c:pt>
                <c:pt idx="256">
                  <c:v>44999</c:v>
                </c:pt>
                <c:pt idx="257">
                  <c:v>45000</c:v>
                </c:pt>
                <c:pt idx="258">
                  <c:v>45001</c:v>
                </c:pt>
                <c:pt idx="259">
                  <c:v>45002</c:v>
                </c:pt>
                <c:pt idx="260">
                  <c:v>45003</c:v>
                </c:pt>
                <c:pt idx="261">
                  <c:v>45004</c:v>
                </c:pt>
                <c:pt idx="262">
                  <c:v>45005</c:v>
                </c:pt>
                <c:pt idx="263">
                  <c:v>45006</c:v>
                </c:pt>
                <c:pt idx="264">
                  <c:v>45007</c:v>
                </c:pt>
                <c:pt idx="265">
                  <c:v>45008</c:v>
                </c:pt>
                <c:pt idx="266">
                  <c:v>45009</c:v>
                </c:pt>
                <c:pt idx="267">
                  <c:v>45010</c:v>
                </c:pt>
                <c:pt idx="268">
                  <c:v>45011</c:v>
                </c:pt>
                <c:pt idx="269">
                  <c:v>45012</c:v>
                </c:pt>
                <c:pt idx="270">
                  <c:v>45013</c:v>
                </c:pt>
                <c:pt idx="271">
                  <c:v>45014</c:v>
                </c:pt>
                <c:pt idx="272">
                  <c:v>45015</c:v>
                </c:pt>
              </c:numCache>
            </c:numRef>
          </c:cat>
          <c:val>
            <c:numRef>
              <c:f>'Маркетинг. аналитика'!$D$2:$D$274</c:f>
              <c:numCache>
                <c:formatCode>General</c:formatCode>
                <c:ptCount val="273"/>
                <c:pt idx="0">
                  <c:v>7</c:v>
                </c:pt>
                <c:pt idx="1">
                  <c:v>7</c:v>
                </c:pt>
                <c:pt idx="2">
                  <c:v>6</c:v>
                </c:pt>
                <c:pt idx="3">
                  <c:v>14</c:v>
                </c:pt>
                <c:pt idx="4">
                  <c:v>8</c:v>
                </c:pt>
                <c:pt idx="5">
                  <c:v>8</c:v>
                </c:pt>
                <c:pt idx="6">
                  <c:v>10</c:v>
                </c:pt>
                <c:pt idx="7">
                  <c:v>14</c:v>
                </c:pt>
                <c:pt idx="8">
                  <c:v>6</c:v>
                </c:pt>
                <c:pt idx="9">
                  <c:v>7</c:v>
                </c:pt>
                <c:pt idx="10">
                  <c:v>5</c:v>
                </c:pt>
                <c:pt idx="11">
                  <c:v>7</c:v>
                </c:pt>
                <c:pt idx="12">
                  <c:v>5</c:v>
                </c:pt>
                <c:pt idx="13">
                  <c:v>7</c:v>
                </c:pt>
                <c:pt idx="14">
                  <c:v>6</c:v>
                </c:pt>
                <c:pt idx="15">
                  <c:v>10</c:v>
                </c:pt>
                <c:pt idx="16">
                  <c:v>9</c:v>
                </c:pt>
                <c:pt idx="17">
                  <c:v>10</c:v>
                </c:pt>
                <c:pt idx="18">
                  <c:v>8</c:v>
                </c:pt>
                <c:pt idx="19">
                  <c:v>6</c:v>
                </c:pt>
                <c:pt idx="20">
                  <c:v>8</c:v>
                </c:pt>
                <c:pt idx="21">
                  <c:v>10</c:v>
                </c:pt>
                <c:pt idx="22">
                  <c:v>11</c:v>
                </c:pt>
                <c:pt idx="23">
                  <c:v>8</c:v>
                </c:pt>
                <c:pt idx="24">
                  <c:v>12</c:v>
                </c:pt>
                <c:pt idx="25">
                  <c:v>5</c:v>
                </c:pt>
                <c:pt idx="26">
                  <c:v>8</c:v>
                </c:pt>
                <c:pt idx="27">
                  <c:v>12</c:v>
                </c:pt>
                <c:pt idx="28">
                  <c:v>3</c:v>
                </c:pt>
                <c:pt idx="29">
                  <c:v>10</c:v>
                </c:pt>
                <c:pt idx="30">
                  <c:v>12</c:v>
                </c:pt>
                <c:pt idx="31">
                  <c:v>6</c:v>
                </c:pt>
                <c:pt idx="32">
                  <c:v>8</c:v>
                </c:pt>
                <c:pt idx="33">
                  <c:v>4</c:v>
                </c:pt>
                <c:pt idx="34">
                  <c:v>9</c:v>
                </c:pt>
                <c:pt idx="35">
                  <c:v>10</c:v>
                </c:pt>
                <c:pt idx="36">
                  <c:v>4</c:v>
                </c:pt>
                <c:pt idx="37">
                  <c:v>4</c:v>
                </c:pt>
                <c:pt idx="38">
                  <c:v>14</c:v>
                </c:pt>
                <c:pt idx="39">
                  <c:v>7</c:v>
                </c:pt>
                <c:pt idx="40">
                  <c:v>8</c:v>
                </c:pt>
                <c:pt idx="41">
                  <c:v>9</c:v>
                </c:pt>
                <c:pt idx="42">
                  <c:v>10</c:v>
                </c:pt>
                <c:pt idx="43">
                  <c:v>9</c:v>
                </c:pt>
                <c:pt idx="44">
                  <c:v>8</c:v>
                </c:pt>
                <c:pt idx="45">
                  <c:v>6</c:v>
                </c:pt>
                <c:pt idx="46">
                  <c:v>12</c:v>
                </c:pt>
                <c:pt idx="47">
                  <c:v>4</c:v>
                </c:pt>
                <c:pt idx="48">
                  <c:v>5</c:v>
                </c:pt>
                <c:pt idx="49">
                  <c:v>9</c:v>
                </c:pt>
                <c:pt idx="50">
                  <c:v>12</c:v>
                </c:pt>
                <c:pt idx="51">
                  <c:v>7</c:v>
                </c:pt>
                <c:pt idx="52">
                  <c:v>7</c:v>
                </c:pt>
                <c:pt idx="53">
                  <c:v>15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5</c:v>
                </c:pt>
                <c:pt idx="58">
                  <c:v>6</c:v>
                </c:pt>
                <c:pt idx="59">
                  <c:v>7</c:v>
                </c:pt>
                <c:pt idx="60">
                  <c:v>7</c:v>
                </c:pt>
                <c:pt idx="61">
                  <c:v>5</c:v>
                </c:pt>
                <c:pt idx="62">
                  <c:v>9</c:v>
                </c:pt>
                <c:pt idx="63">
                  <c:v>9</c:v>
                </c:pt>
                <c:pt idx="64">
                  <c:v>8</c:v>
                </c:pt>
                <c:pt idx="65">
                  <c:v>9</c:v>
                </c:pt>
                <c:pt idx="66">
                  <c:v>14</c:v>
                </c:pt>
                <c:pt idx="67">
                  <c:v>6</c:v>
                </c:pt>
                <c:pt idx="68">
                  <c:v>9</c:v>
                </c:pt>
                <c:pt idx="69">
                  <c:v>7</c:v>
                </c:pt>
                <c:pt idx="70">
                  <c:v>6</c:v>
                </c:pt>
                <c:pt idx="71">
                  <c:v>10</c:v>
                </c:pt>
                <c:pt idx="72">
                  <c:v>5</c:v>
                </c:pt>
                <c:pt idx="73">
                  <c:v>8</c:v>
                </c:pt>
                <c:pt idx="74">
                  <c:v>9</c:v>
                </c:pt>
                <c:pt idx="75">
                  <c:v>10</c:v>
                </c:pt>
                <c:pt idx="76">
                  <c:v>13</c:v>
                </c:pt>
                <c:pt idx="77">
                  <c:v>16</c:v>
                </c:pt>
                <c:pt idx="78">
                  <c:v>10</c:v>
                </c:pt>
                <c:pt idx="79">
                  <c:v>8</c:v>
                </c:pt>
                <c:pt idx="80">
                  <c:v>7</c:v>
                </c:pt>
                <c:pt idx="81">
                  <c:v>4</c:v>
                </c:pt>
                <c:pt idx="82">
                  <c:v>9</c:v>
                </c:pt>
                <c:pt idx="83">
                  <c:v>9</c:v>
                </c:pt>
                <c:pt idx="84">
                  <c:v>7</c:v>
                </c:pt>
                <c:pt idx="85">
                  <c:v>11</c:v>
                </c:pt>
                <c:pt idx="86">
                  <c:v>6</c:v>
                </c:pt>
                <c:pt idx="87">
                  <c:v>7</c:v>
                </c:pt>
                <c:pt idx="88">
                  <c:v>8</c:v>
                </c:pt>
                <c:pt idx="89">
                  <c:v>6</c:v>
                </c:pt>
                <c:pt idx="90">
                  <c:v>11</c:v>
                </c:pt>
                <c:pt idx="91">
                  <c:v>6</c:v>
                </c:pt>
                <c:pt idx="92">
                  <c:v>18</c:v>
                </c:pt>
                <c:pt idx="93">
                  <c:v>5</c:v>
                </c:pt>
                <c:pt idx="94">
                  <c:v>9</c:v>
                </c:pt>
                <c:pt idx="95">
                  <c:v>6</c:v>
                </c:pt>
                <c:pt idx="96">
                  <c:v>5</c:v>
                </c:pt>
                <c:pt idx="97">
                  <c:v>9</c:v>
                </c:pt>
                <c:pt idx="98">
                  <c:v>7</c:v>
                </c:pt>
                <c:pt idx="99">
                  <c:v>4</c:v>
                </c:pt>
                <c:pt idx="100">
                  <c:v>4</c:v>
                </c:pt>
                <c:pt idx="101">
                  <c:v>7</c:v>
                </c:pt>
                <c:pt idx="102">
                  <c:v>7</c:v>
                </c:pt>
                <c:pt idx="103">
                  <c:v>14</c:v>
                </c:pt>
                <c:pt idx="104">
                  <c:v>11</c:v>
                </c:pt>
                <c:pt idx="105">
                  <c:v>8</c:v>
                </c:pt>
                <c:pt idx="106">
                  <c:v>6</c:v>
                </c:pt>
                <c:pt idx="107">
                  <c:v>11</c:v>
                </c:pt>
                <c:pt idx="108">
                  <c:v>8</c:v>
                </c:pt>
                <c:pt idx="109">
                  <c:v>10</c:v>
                </c:pt>
                <c:pt idx="110">
                  <c:v>8</c:v>
                </c:pt>
                <c:pt idx="111">
                  <c:v>13</c:v>
                </c:pt>
                <c:pt idx="112">
                  <c:v>8</c:v>
                </c:pt>
                <c:pt idx="113">
                  <c:v>3</c:v>
                </c:pt>
                <c:pt idx="114">
                  <c:v>7</c:v>
                </c:pt>
                <c:pt idx="115">
                  <c:v>11</c:v>
                </c:pt>
                <c:pt idx="116">
                  <c:v>11</c:v>
                </c:pt>
                <c:pt idx="117">
                  <c:v>6</c:v>
                </c:pt>
                <c:pt idx="118">
                  <c:v>11</c:v>
                </c:pt>
                <c:pt idx="119">
                  <c:v>13</c:v>
                </c:pt>
                <c:pt idx="120">
                  <c:v>7</c:v>
                </c:pt>
                <c:pt idx="121">
                  <c:v>7</c:v>
                </c:pt>
                <c:pt idx="122">
                  <c:v>9</c:v>
                </c:pt>
                <c:pt idx="123">
                  <c:v>7</c:v>
                </c:pt>
                <c:pt idx="124">
                  <c:v>6</c:v>
                </c:pt>
                <c:pt idx="125">
                  <c:v>9</c:v>
                </c:pt>
                <c:pt idx="126">
                  <c:v>9</c:v>
                </c:pt>
                <c:pt idx="127">
                  <c:v>6</c:v>
                </c:pt>
                <c:pt idx="128">
                  <c:v>13</c:v>
                </c:pt>
                <c:pt idx="129">
                  <c:v>13</c:v>
                </c:pt>
                <c:pt idx="130">
                  <c:v>7</c:v>
                </c:pt>
                <c:pt idx="131">
                  <c:v>7</c:v>
                </c:pt>
                <c:pt idx="132">
                  <c:v>8</c:v>
                </c:pt>
                <c:pt idx="133">
                  <c:v>13</c:v>
                </c:pt>
                <c:pt idx="134">
                  <c:v>10</c:v>
                </c:pt>
                <c:pt idx="135">
                  <c:v>11</c:v>
                </c:pt>
                <c:pt idx="136">
                  <c:v>10</c:v>
                </c:pt>
                <c:pt idx="137">
                  <c:v>9</c:v>
                </c:pt>
                <c:pt idx="138">
                  <c:v>10</c:v>
                </c:pt>
                <c:pt idx="139">
                  <c:v>6</c:v>
                </c:pt>
                <c:pt idx="140">
                  <c:v>12</c:v>
                </c:pt>
                <c:pt idx="141">
                  <c:v>4</c:v>
                </c:pt>
                <c:pt idx="142">
                  <c:v>9</c:v>
                </c:pt>
                <c:pt idx="143">
                  <c:v>6</c:v>
                </c:pt>
                <c:pt idx="144">
                  <c:v>9</c:v>
                </c:pt>
                <c:pt idx="145">
                  <c:v>4</c:v>
                </c:pt>
                <c:pt idx="146">
                  <c:v>9</c:v>
                </c:pt>
                <c:pt idx="147">
                  <c:v>7</c:v>
                </c:pt>
                <c:pt idx="148">
                  <c:v>10</c:v>
                </c:pt>
                <c:pt idx="149">
                  <c:v>8</c:v>
                </c:pt>
                <c:pt idx="150">
                  <c:v>3</c:v>
                </c:pt>
                <c:pt idx="151">
                  <c:v>13</c:v>
                </c:pt>
                <c:pt idx="152">
                  <c:v>7</c:v>
                </c:pt>
                <c:pt idx="153">
                  <c:v>13</c:v>
                </c:pt>
                <c:pt idx="154">
                  <c:v>7</c:v>
                </c:pt>
                <c:pt idx="155">
                  <c:v>13</c:v>
                </c:pt>
                <c:pt idx="156">
                  <c:v>7</c:v>
                </c:pt>
                <c:pt idx="157">
                  <c:v>6</c:v>
                </c:pt>
                <c:pt idx="158">
                  <c:v>4</c:v>
                </c:pt>
                <c:pt idx="159">
                  <c:v>9</c:v>
                </c:pt>
                <c:pt idx="160">
                  <c:v>7</c:v>
                </c:pt>
                <c:pt idx="161">
                  <c:v>10</c:v>
                </c:pt>
                <c:pt idx="162">
                  <c:v>14</c:v>
                </c:pt>
                <c:pt idx="163">
                  <c:v>6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9</c:v>
                </c:pt>
                <c:pt idx="171">
                  <c:v>9</c:v>
                </c:pt>
                <c:pt idx="172">
                  <c:v>10</c:v>
                </c:pt>
                <c:pt idx="173">
                  <c:v>6</c:v>
                </c:pt>
                <c:pt idx="174">
                  <c:v>6</c:v>
                </c:pt>
                <c:pt idx="175">
                  <c:v>7</c:v>
                </c:pt>
                <c:pt idx="176">
                  <c:v>11</c:v>
                </c:pt>
                <c:pt idx="177">
                  <c:v>9</c:v>
                </c:pt>
                <c:pt idx="178">
                  <c:v>11</c:v>
                </c:pt>
                <c:pt idx="179">
                  <c:v>11</c:v>
                </c:pt>
                <c:pt idx="180">
                  <c:v>9</c:v>
                </c:pt>
                <c:pt idx="181">
                  <c:v>10</c:v>
                </c:pt>
                <c:pt idx="182">
                  <c:v>5</c:v>
                </c:pt>
                <c:pt idx="183">
                  <c:v>16</c:v>
                </c:pt>
                <c:pt idx="184">
                  <c:v>13</c:v>
                </c:pt>
                <c:pt idx="185">
                  <c:v>19</c:v>
                </c:pt>
                <c:pt idx="186">
                  <c:v>17</c:v>
                </c:pt>
                <c:pt idx="187">
                  <c:v>11</c:v>
                </c:pt>
                <c:pt idx="188">
                  <c:v>18</c:v>
                </c:pt>
                <c:pt idx="189">
                  <c:v>15</c:v>
                </c:pt>
                <c:pt idx="190">
                  <c:v>15</c:v>
                </c:pt>
                <c:pt idx="191">
                  <c:v>12</c:v>
                </c:pt>
                <c:pt idx="192">
                  <c:v>15</c:v>
                </c:pt>
                <c:pt idx="193">
                  <c:v>15</c:v>
                </c:pt>
                <c:pt idx="194">
                  <c:v>17</c:v>
                </c:pt>
                <c:pt idx="195">
                  <c:v>17</c:v>
                </c:pt>
                <c:pt idx="196">
                  <c:v>11</c:v>
                </c:pt>
                <c:pt idx="197">
                  <c:v>8</c:v>
                </c:pt>
                <c:pt idx="198">
                  <c:v>11</c:v>
                </c:pt>
                <c:pt idx="199">
                  <c:v>13</c:v>
                </c:pt>
                <c:pt idx="200">
                  <c:v>14</c:v>
                </c:pt>
                <c:pt idx="201">
                  <c:v>12</c:v>
                </c:pt>
                <c:pt idx="202">
                  <c:v>11</c:v>
                </c:pt>
                <c:pt idx="203">
                  <c:v>12</c:v>
                </c:pt>
                <c:pt idx="204">
                  <c:v>6</c:v>
                </c:pt>
                <c:pt idx="205">
                  <c:v>9</c:v>
                </c:pt>
                <c:pt idx="206">
                  <c:v>14</c:v>
                </c:pt>
                <c:pt idx="207">
                  <c:v>18</c:v>
                </c:pt>
                <c:pt idx="208">
                  <c:v>13</c:v>
                </c:pt>
                <c:pt idx="209">
                  <c:v>13</c:v>
                </c:pt>
                <c:pt idx="210">
                  <c:v>14</c:v>
                </c:pt>
                <c:pt idx="211">
                  <c:v>11</c:v>
                </c:pt>
                <c:pt idx="212">
                  <c:v>12</c:v>
                </c:pt>
                <c:pt idx="213">
                  <c:v>16</c:v>
                </c:pt>
                <c:pt idx="214">
                  <c:v>13</c:v>
                </c:pt>
                <c:pt idx="215">
                  <c:v>16</c:v>
                </c:pt>
                <c:pt idx="216">
                  <c:v>15</c:v>
                </c:pt>
                <c:pt idx="217">
                  <c:v>12</c:v>
                </c:pt>
                <c:pt idx="218">
                  <c:v>11</c:v>
                </c:pt>
                <c:pt idx="219">
                  <c:v>8</c:v>
                </c:pt>
                <c:pt idx="220">
                  <c:v>11</c:v>
                </c:pt>
                <c:pt idx="221">
                  <c:v>17</c:v>
                </c:pt>
                <c:pt idx="222">
                  <c:v>15</c:v>
                </c:pt>
                <c:pt idx="223">
                  <c:v>12</c:v>
                </c:pt>
                <c:pt idx="224">
                  <c:v>10</c:v>
                </c:pt>
                <c:pt idx="225">
                  <c:v>15</c:v>
                </c:pt>
                <c:pt idx="226">
                  <c:v>6</c:v>
                </c:pt>
                <c:pt idx="227">
                  <c:v>14</c:v>
                </c:pt>
                <c:pt idx="228">
                  <c:v>10</c:v>
                </c:pt>
                <c:pt idx="229">
                  <c:v>12</c:v>
                </c:pt>
                <c:pt idx="230">
                  <c:v>15</c:v>
                </c:pt>
                <c:pt idx="231">
                  <c:v>11</c:v>
                </c:pt>
                <c:pt idx="232">
                  <c:v>10</c:v>
                </c:pt>
                <c:pt idx="233">
                  <c:v>14</c:v>
                </c:pt>
                <c:pt idx="234">
                  <c:v>39</c:v>
                </c:pt>
                <c:pt idx="235">
                  <c:v>23</c:v>
                </c:pt>
                <c:pt idx="236">
                  <c:v>21</c:v>
                </c:pt>
                <c:pt idx="237">
                  <c:v>19</c:v>
                </c:pt>
                <c:pt idx="238">
                  <c:v>23</c:v>
                </c:pt>
                <c:pt idx="239">
                  <c:v>21</c:v>
                </c:pt>
                <c:pt idx="240">
                  <c:v>29</c:v>
                </c:pt>
                <c:pt idx="241">
                  <c:v>24</c:v>
                </c:pt>
                <c:pt idx="242">
                  <c:v>25</c:v>
                </c:pt>
                <c:pt idx="243">
                  <c:v>26</c:v>
                </c:pt>
                <c:pt idx="244">
                  <c:v>27</c:v>
                </c:pt>
                <c:pt idx="245">
                  <c:v>18</c:v>
                </c:pt>
                <c:pt idx="246">
                  <c:v>25</c:v>
                </c:pt>
                <c:pt idx="247">
                  <c:v>27</c:v>
                </c:pt>
                <c:pt idx="248">
                  <c:v>17</c:v>
                </c:pt>
                <c:pt idx="249">
                  <c:v>25</c:v>
                </c:pt>
                <c:pt idx="250">
                  <c:v>23</c:v>
                </c:pt>
                <c:pt idx="251">
                  <c:v>25</c:v>
                </c:pt>
                <c:pt idx="252">
                  <c:v>21</c:v>
                </c:pt>
                <c:pt idx="253">
                  <c:v>29</c:v>
                </c:pt>
                <c:pt idx="254">
                  <c:v>25</c:v>
                </c:pt>
                <c:pt idx="255">
                  <c:v>18</c:v>
                </c:pt>
                <c:pt idx="256">
                  <c:v>30</c:v>
                </c:pt>
                <c:pt idx="257">
                  <c:v>26</c:v>
                </c:pt>
                <c:pt idx="258">
                  <c:v>20</c:v>
                </c:pt>
                <c:pt idx="259">
                  <c:v>22</c:v>
                </c:pt>
                <c:pt idx="260">
                  <c:v>22</c:v>
                </c:pt>
                <c:pt idx="261">
                  <c:v>26</c:v>
                </c:pt>
                <c:pt idx="262">
                  <c:v>17</c:v>
                </c:pt>
                <c:pt idx="263">
                  <c:v>23</c:v>
                </c:pt>
                <c:pt idx="264">
                  <c:v>27</c:v>
                </c:pt>
                <c:pt idx="265">
                  <c:v>18</c:v>
                </c:pt>
                <c:pt idx="266">
                  <c:v>15</c:v>
                </c:pt>
                <c:pt idx="267">
                  <c:v>28</c:v>
                </c:pt>
                <c:pt idx="268">
                  <c:v>17</c:v>
                </c:pt>
                <c:pt idx="269">
                  <c:v>28</c:v>
                </c:pt>
                <c:pt idx="270">
                  <c:v>16</c:v>
                </c:pt>
                <c:pt idx="271">
                  <c:v>20</c:v>
                </c:pt>
                <c:pt idx="27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73-4412-8E4D-4E59372D7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2525119"/>
        <c:axId val="372532191"/>
      </c:lineChart>
      <c:dateAx>
        <c:axId val="3725400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540927"/>
        <c:crosses val="autoZero"/>
        <c:auto val="0"/>
        <c:lblOffset val="100"/>
        <c:baseTimeUnit val="days"/>
      </c:dateAx>
      <c:valAx>
        <c:axId val="372540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Кол-во</a:t>
                </a:r>
                <a:r>
                  <a:rPr lang="ru-RU" baseline="0" dirty="0" smtClean="0"/>
                  <a:t> активных пользователей, чел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540095"/>
        <c:crosses val="autoZero"/>
        <c:crossBetween val="between"/>
        <c:majorUnit val="100"/>
      </c:valAx>
      <c:valAx>
        <c:axId val="37253219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baseline="0" dirty="0" smtClean="0">
                    <a:effectLst/>
                  </a:rPr>
                  <a:t>Кол-во активных пользователей, чел</a:t>
                </a:r>
                <a:endParaRPr lang="ru-RU" sz="4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0.97194127141099962"/>
              <c:y val="0.211120333481764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525119"/>
        <c:crosses val="max"/>
        <c:crossBetween val="between"/>
        <c:majorUnit val="20"/>
      </c:valAx>
      <c:dateAx>
        <c:axId val="37252511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72532191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6596615920479694"/>
          <c:y val="0.93538412251640746"/>
          <c:w val="0.19673314249448096"/>
          <c:h val="6.16109830547614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2000" b="1" i="0" u="none" strike="noStrike" kern="1200" spc="0" baseline="0">
                <a:solidFill>
                  <a:srgbClr val="71215C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b="1" i="0" u="none" strike="noStrike" kern="1200" spc="0" baseline="0">
                <a:solidFill>
                  <a:srgbClr val="71215C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Sticky Factor Weekly и Sticky Factor Monthly</a:t>
            </a:r>
          </a:p>
        </c:rich>
      </c:tx>
      <c:layout>
        <c:manualLayout>
          <c:xMode val="edge"/>
          <c:yMode val="edge"/>
          <c:x val="0.22128751215577963"/>
          <c:y val="3.67106058344260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2000" b="1" i="0" u="none" strike="noStrike" kern="1200" spc="0" baseline="0">
              <a:solidFill>
                <a:srgbClr val="71215C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6.8951654039834609E-2"/>
          <c:y val="9.9118748870661938E-2"/>
          <c:w val="0.91105502753412704"/>
          <c:h val="0.71398824806376326"/>
        </c:manualLayout>
      </c:layout>
      <c:lineChart>
        <c:grouping val="standard"/>
        <c:varyColors val="0"/>
        <c:ser>
          <c:idx val="0"/>
          <c:order val="0"/>
          <c:tx>
            <c:strRef>
              <c:f>'Маркетинг. аналитика'!$G$1</c:f>
              <c:strCache>
                <c:ptCount val="1"/>
                <c:pt idx="0">
                  <c:v>SF (week)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14"/>
            <c:dispRSqr val="0"/>
            <c:dispEq val="0"/>
          </c:trendline>
          <c:cat>
            <c:numRef>
              <c:f>'Маркетинг. аналитика'!$C$5:$C$270</c:f>
              <c:numCache>
                <c:formatCode>m/d/yyyy</c:formatCode>
                <c:ptCount val="266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</c:numCache>
            </c:numRef>
          </c:cat>
          <c:val>
            <c:numRef>
              <c:f>'Маркетинг. аналитика'!$G$5:$G$270</c:f>
              <c:numCache>
                <c:formatCode>_-* #\ ##0.0000_-;\-* #\ ##0.0000_-;_-* "-"??_-;_-@_-</c:formatCode>
                <c:ptCount val="266"/>
                <c:pt idx="0">
                  <c:v>0.20895522388059701</c:v>
                </c:pt>
                <c:pt idx="1">
                  <c:v>0.11940298507462686</c:v>
                </c:pt>
                <c:pt idx="2">
                  <c:v>0.11940298507462686</c:v>
                </c:pt>
                <c:pt idx="3">
                  <c:v>0.14925373134328357</c:v>
                </c:pt>
                <c:pt idx="4">
                  <c:v>0.20895522388059701</c:v>
                </c:pt>
                <c:pt idx="5">
                  <c:v>8.9552238805970144E-2</c:v>
                </c:pt>
                <c:pt idx="6">
                  <c:v>0.1044776119402985</c:v>
                </c:pt>
                <c:pt idx="7">
                  <c:v>0.10204081632653061</c:v>
                </c:pt>
                <c:pt idx="8">
                  <c:v>0.14285714285714285</c:v>
                </c:pt>
                <c:pt idx="9">
                  <c:v>0.10204081632653061</c:v>
                </c:pt>
                <c:pt idx="10">
                  <c:v>0.14285714285714285</c:v>
                </c:pt>
                <c:pt idx="11">
                  <c:v>0.12244897959183673</c:v>
                </c:pt>
                <c:pt idx="12">
                  <c:v>0.20408163265306123</c:v>
                </c:pt>
                <c:pt idx="13">
                  <c:v>0.18367346938775511</c:v>
                </c:pt>
                <c:pt idx="14">
                  <c:v>0.16393442622950818</c:v>
                </c:pt>
                <c:pt idx="15">
                  <c:v>0.13114754098360656</c:v>
                </c:pt>
                <c:pt idx="16">
                  <c:v>9.8360655737704916E-2</c:v>
                </c:pt>
                <c:pt idx="17">
                  <c:v>0.13114754098360656</c:v>
                </c:pt>
                <c:pt idx="18">
                  <c:v>0.16393442622950818</c:v>
                </c:pt>
                <c:pt idx="19">
                  <c:v>0.18032786885245902</c:v>
                </c:pt>
                <c:pt idx="20">
                  <c:v>0.13114754098360656</c:v>
                </c:pt>
                <c:pt idx="21">
                  <c:v>0.19354838709677419</c:v>
                </c:pt>
                <c:pt idx="22">
                  <c:v>8.0645161290322578E-2</c:v>
                </c:pt>
                <c:pt idx="23">
                  <c:v>0.12903225806451613</c:v>
                </c:pt>
                <c:pt idx="24">
                  <c:v>0.19354838709677419</c:v>
                </c:pt>
                <c:pt idx="25">
                  <c:v>4.8387096774193547E-2</c:v>
                </c:pt>
                <c:pt idx="26">
                  <c:v>0.16129032258064516</c:v>
                </c:pt>
                <c:pt idx="27">
                  <c:v>0.19354838709677419</c:v>
                </c:pt>
                <c:pt idx="28">
                  <c:v>0.13333333333333333</c:v>
                </c:pt>
                <c:pt idx="29">
                  <c:v>0.17777777777777778</c:v>
                </c:pt>
                <c:pt idx="30">
                  <c:v>8.8888888888888892E-2</c:v>
                </c:pt>
                <c:pt idx="31">
                  <c:v>0.2</c:v>
                </c:pt>
                <c:pt idx="32">
                  <c:v>0.22222222222222221</c:v>
                </c:pt>
                <c:pt idx="33">
                  <c:v>8.8888888888888892E-2</c:v>
                </c:pt>
                <c:pt idx="34">
                  <c:v>8.8888888888888892E-2</c:v>
                </c:pt>
                <c:pt idx="35">
                  <c:v>0.2153846153846154</c:v>
                </c:pt>
                <c:pt idx="36">
                  <c:v>0.1076923076923077</c:v>
                </c:pt>
                <c:pt idx="37">
                  <c:v>0.12307692307692308</c:v>
                </c:pt>
                <c:pt idx="38">
                  <c:v>0.13846153846153847</c:v>
                </c:pt>
                <c:pt idx="39">
                  <c:v>0.15384615384615385</c:v>
                </c:pt>
                <c:pt idx="40">
                  <c:v>0.13846153846153847</c:v>
                </c:pt>
                <c:pt idx="41">
                  <c:v>0.12307692307692308</c:v>
                </c:pt>
                <c:pt idx="42">
                  <c:v>0.10909090909090909</c:v>
                </c:pt>
                <c:pt idx="43">
                  <c:v>0.21818181818181817</c:v>
                </c:pt>
                <c:pt idx="44">
                  <c:v>7.2727272727272724E-2</c:v>
                </c:pt>
                <c:pt idx="45">
                  <c:v>9.0909090909090912E-2</c:v>
                </c:pt>
                <c:pt idx="46">
                  <c:v>0.16363636363636364</c:v>
                </c:pt>
                <c:pt idx="47">
                  <c:v>0.21818181818181817</c:v>
                </c:pt>
                <c:pt idx="48">
                  <c:v>0.12727272727272726</c:v>
                </c:pt>
                <c:pt idx="49">
                  <c:v>0.13725490196078433</c:v>
                </c:pt>
                <c:pt idx="50">
                  <c:v>0.29411764705882354</c:v>
                </c:pt>
                <c:pt idx="51">
                  <c:v>0.11764705882352941</c:v>
                </c:pt>
                <c:pt idx="52">
                  <c:v>0.11764705882352941</c:v>
                </c:pt>
                <c:pt idx="53">
                  <c:v>0.11764705882352941</c:v>
                </c:pt>
                <c:pt idx="54">
                  <c:v>9.8039215686274508E-2</c:v>
                </c:pt>
                <c:pt idx="55">
                  <c:v>0.11764705882352941</c:v>
                </c:pt>
                <c:pt idx="56">
                  <c:v>0.12962962962962962</c:v>
                </c:pt>
                <c:pt idx="57">
                  <c:v>0.12962962962962962</c:v>
                </c:pt>
                <c:pt idx="58">
                  <c:v>9.2592592592592587E-2</c:v>
                </c:pt>
                <c:pt idx="59">
                  <c:v>0.16666666666666666</c:v>
                </c:pt>
                <c:pt idx="60">
                  <c:v>0.16666666666666666</c:v>
                </c:pt>
                <c:pt idx="61">
                  <c:v>0.14814814814814814</c:v>
                </c:pt>
                <c:pt idx="62">
                  <c:v>0.16666666666666666</c:v>
                </c:pt>
                <c:pt idx="63">
                  <c:v>0.24561403508771928</c:v>
                </c:pt>
                <c:pt idx="64">
                  <c:v>0.10526315789473684</c:v>
                </c:pt>
                <c:pt idx="65">
                  <c:v>0.15789473684210525</c:v>
                </c:pt>
                <c:pt idx="66">
                  <c:v>0.12280701754385964</c:v>
                </c:pt>
                <c:pt idx="67">
                  <c:v>0.10526315789473684</c:v>
                </c:pt>
                <c:pt idx="68">
                  <c:v>0.17543859649122806</c:v>
                </c:pt>
                <c:pt idx="69">
                  <c:v>8.771929824561403E-2</c:v>
                </c:pt>
                <c:pt idx="70">
                  <c:v>0.10810810810810811</c:v>
                </c:pt>
                <c:pt idx="71">
                  <c:v>0.12162162162162163</c:v>
                </c:pt>
                <c:pt idx="72">
                  <c:v>0.13513513513513514</c:v>
                </c:pt>
                <c:pt idx="73">
                  <c:v>0.17567567567567569</c:v>
                </c:pt>
                <c:pt idx="74">
                  <c:v>0.21621621621621623</c:v>
                </c:pt>
                <c:pt idx="75">
                  <c:v>0.13513513513513514</c:v>
                </c:pt>
                <c:pt idx="76">
                  <c:v>0.10810810810810811</c:v>
                </c:pt>
                <c:pt idx="77">
                  <c:v>0.13207547169811321</c:v>
                </c:pt>
                <c:pt idx="78">
                  <c:v>7.5471698113207544E-2</c:v>
                </c:pt>
                <c:pt idx="79">
                  <c:v>0.16981132075471697</c:v>
                </c:pt>
                <c:pt idx="80">
                  <c:v>0.16981132075471697</c:v>
                </c:pt>
                <c:pt idx="81">
                  <c:v>0.13207547169811321</c:v>
                </c:pt>
                <c:pt idx="82">
                  <c:v>0.20754716981132076</c:v>
                </c:pt>
                <c:pt idx="83">
                  <c:v>0.11320754716981132</c:v>
                </c:pt>
                <c:pt idx="84">
                  <c:v>0.11475409836065574</c:v>
                </c:pt>
                <c:pt idx="85">
                  <c:v>0.13114754098360656</c:v>
                </c:pt>
                <c:pt idx="86">
                  <c:v>9.8360655737704916E-2</c:v>
                </c:pt>
                <c:pt idx="87">
                  <c:v>0.18032786885245902</c:v>
                </c:pt>
                <c:pt idx="88">
                  <c:v>9.8360655737704916E-2</c:v>
                </c:pt>
                <c:pt idx="89">
                  <c:v>0.29508196721311475</c:v>
                </c:pt>
                <c:pt idx="90">
                  <c:v>8.1967213114754092E-2</c:v>
                </c:pt>
                <c:pt idx="91">
                  <c:v>0.20454545454545456</c:v>
                </c:pt>
                <c:pt idx="92">
                  <c:v>0.13636363636363635</c:v>
                </c:pt>
                <c:pt idx="93">
                  <c:v>0.11363636363636363</c:v>
                </c:pt>
                <c:pt idx="94">
                  <c:v>0.20454545454545456</c:v>
                </c:pt>
                <c:pt idx="95">
                  <c:v>0.15909090909090909</c:v>
                </c:pt>
                <c:pt idx="96">
                  <c:v>9.0909090909090912E-2</c:v>
                </c:pt>
                <c:pt idx="97">
                  <c:v>9.0909090909090912E-2</c:v>
                </c:pt>
                <c:pt idx="98">
                  <c:v>0.109375</c:v>
                </c:pt>
                <c:pt idx="99">
                  <c:v>0.109375</c:v>
                </c:pt>
                <c:pt idx="100">
                  <c:v>0.21875</c:v>
                </c:pt>
                <c:pt idx="101">
                  <c:v>0.171875</c:v>
                </c:pt>
                <c:pt idx="102">
                  <c:v>0.125</c:v>
                </c:pt>
                <c:pt idx="103">
                  <c:v>9.375E-2</c:v>
                </c:pt>
                <c:pt idx="104">
                  <c:v>0.171875</c:v>
                </c:pt>
                <c:pt idx="105">
                  <c:v>0.14035087719298245</c:v>
                </c:pt>
                <c:pt idx="106">
                  <c:v>0.17543859649122806</c:v>
                </c:pt>
                <c:pt idx="107">
                  <c:v>0.14035087719298245</c:v>
                </c:pt>
                <c:pt idx="108">
                  <c:v>0.22807017543859648</c:v>
                </c:pt>
                <c:pt idx="109">
                  <c:v>0.14035087719298245</c:v>
                </c:pt>
                <c:pt idx="110">
                  <c:v>5.2631578947368418E-2</c:v>
                </c:pt>
                <c:pt idx="111">
                  <c:v>0.12280701754385964</c:v>
                </c:pt>
                <c:pt idx="112">
                  <c:v>0.16666666666666666</c:v>
                </c:pt>
                <c:pt idx="113">
                  <c:v>0.16666666666666666</c:v>
                </c:pt>
                <c:pt idx="114">
                  <c:v>9.0909090909090912E-2</c:v>
                </c:pt>
                <c:pt idx="115">
                  <c:v>0.16666666666666666</c:v>
                </c:pt>
                <c:pt idx="116">
                  <c:v>0.19696969696969696</c:v>
                </c:pt>
                <c:pt idx="117">
                  <c:v>0.10606060606060606</c:v>
                </c:pt>
                <c:pt idx="118">
                  <c:v>0.10606060606060606</c:v>
                </c:pt>
                <c:pt idx="119">
                  <c:v>0.15254237288135594</c:v>
                </c:pt>
                <c:pt idx="120">
                  <c:v>0.11864406779661017</c:v>
                </c:pt>
                <c:pt idx="121">
                  <c:v>0.10169491525423729</c:v>
                </c:pt>
                <c:pt idx="122">
                  <c:v>0.15254237288135594</c:v>
                </c:pt>
                <c:pt idx="123">
                  <c:v>0.15254237288135594</c:v>
                </c:pt>
                <c:pt idx="124">
                  <c:v>0.10169491525423729</c:v>
                </c:pt>
                <c:pt idx="125">
                  <c:v>0.22033898305084745</c:v>
                </c:pt>
                <c:pt idx="126">
                  <c:v>0.18840579710144928</c:v>
                </c:pt>
                <c:pt idx="127">
                  <c:v>0.10144927536231885</c:v>
                </c:pt>
                <c:pt idx="128">
                  <c:v>0.10144927536231885</c:v>
                </c:pt>
                <c:pt idx="129">
                  <c:v>0.11594202898550725</c:v>
                </c:pt>
                <c:pt idx="130">
                  <c:v>0.18840579710144928</c:v>
                </c:pt>
                <c:pt idx="131">
                  <c:v>0.14492753623188406</c:v>
                </c:pt>
                <c:pt idx="132">
                  <c:v>0.15942028985507245</c:v>
                </c:pt>
                <c:pt idx="133">
                  <c:v>0.16666666666666666</c:v>
                </c:pt>
                <c:pt idx="134">
                  <c:v>0.15</c:v>
                </c:pt>
                <c:pt idx="135">
                  <c:v>0.16666666666666666</c:v>
                </c:pt>
                <c:pt idx="136">
                  <c:v>0.1</c:v>
                </c:pt>
                <c:pt idx="137">
                  <c:v>0.2</c:v>
                </c:pt>
                <c:pt idx="138">
                  <c:v>6.6666666666666666E-2</c:v>
                </c:pt>
                <c:pt idx="139">
                  <c:v>0.15</c:v>
                </c:pt>
                <c:pt idx="140">
                  <c:v>0.11320754716981132</c:v>
                </c:pt>
                <c:pt idx="141">
                  <c:v>0.16981132075471697</c:v>
                </c:pt>
                <c:pt idx="142">
                  <c:v>7.5471698113207544E-2</c:v>
                </c:pt>
                <c:pt idx="143">
                  <c:v>0.16981132075471697</c:v>
                </c:pt>
                <c:pt idx="144">
                  <c:v>0.13207547169811321</c:v>
                </c:pt>
                <c:pt idx="145">
                  <c:v>0.18867924528301888</c:v>
                </c:pt>
                <c:pt idx="146">
                  <c:v>0.15094339622641509</c:v>
                </c:pt>
                <c:pt idx="147">
                  <c:v>4.7619047619047616E-2</c:v>
                </c:pt>
                <c:pt idx="148">
                  <c:v>0.20634920634920634</c:v>
                </c:pt>
                <c:pt idx="149">
                  <c:v>0.1111111111111111</c:v>
                </c:pt>
                <c:pt idx="150">
                  <c:v>0.20634920634920634</c:v>
                </c:pt>
                <c:pt idx="151">
                  <c:v>0.1111111111111111</c:v>
                </c:pt>
                <c:pt idx="152">
                  <c:v>0.20634920634920634</c:v>
                </c:pt>
                <c:pt idx="153">
                  <c:v>0.1111111111111111</c:v>
                </c:pt>
                <c:pt idx="154">
                  <c:v>0.10714285714285714</c:v>
                </c:pt>
                <c:pt idx="155">
                  <c:v>7.1428571428571425E-2</c:v>
                </c:pt>
                <c:pt idx="156">
                  <c:v>0.16071428571428573</c:v>
                </c:pt>
                <c:pt idx="157">
                  <c:v>0.125</c:v>
                </c:pt>
                <c:pt idx="158">
                  <c:v>0.17857142857142858</c:v>
                </c:pt>
                <c:pt idx="159">
                  <c:v>0.25</c:v>
                </c:pt>
                <c:pt idx="160">
                  <c:v>0.10714285714285714</c:v>
                </c:pt>
                <c:pt idx="161">
                  <c:v>0.10256410256410256</c:v>
                </c:pt>
                <c:pt idx="162">
                  <c:v>0.10256410256410256</c:v>
                </c:pt>
                <c:pt idx="163">
                  <c:v>0.10256410256410256</c:v>
                </c:pt>
                <c:pt idx="164">
                  <c:v>0.15384615384615385</c:v>
                </c:pt>
                <c:pt idx="165">
                  <c:v>0.15384615384615385</c:v>
                </c:pt>
                <c:pt idx="166">
                  <c:v>0.15384615384615385</c:v>
                </c:pt>
                <c:pt idx="167">
                  <c:v>0.23076923076923078</c:v>
                </c:pt>
                <c:pt idx="168">
                  <c:v>0.15517241379310345</c:v>
                </c:pt>
                <c:pt idx="169">
                  <c:v>0.17241379310344829</c:v>
                </c:pt>
                <c:pt idx="170">
                  <c:v>0.10344827586206896</c:v>
                </c:pt>
                <c:pt idx="171">
                  <c:v>0.10344827586206896</c:v>
                </c:pt>
                <c:pt idx="172">
                  <c:v>0.1206896551724138</c:v>
                </c:pt>
                <c:pt idx="173">
                  <c:v>0.18965517241379309</c:v>
                </c:pt>
                <c:pt idx="174">
                  <c:v>0.15517241379310345</c:v>
                </c:pt>
                <c:pt idx="175">
                  <c:v>0.14666666666666667</c:v>
                </c:pt>
                <c:pt idx="176">
                  <c:v>0.14666666666666667</c:v>
                </c:pt>
                <c:pt idx="177">
                  <c:v>0.12</c:v>
                </c:pt>
                <c:pt idx="178">
                  <c:v>0.13333333333333333</c:v>
                </c:pt>
                <c:pt idx="179">
                  <c:v>6.6666666666666666E-2</c:v>
                </c:pt>
                <c:pt idx="180">
                  <c:v>0.21333333333333335</c:v>
                </c:pt>
                <c:pt idx="181">
                  <c:v>0.17333333333333334</c:v>
                </c:pt>
                <c:pt idx="182">
                  <c:v>0.17757009345794392</c:v>
                </c:pt>
                <c:pt idx="183">
                  <c:v>0.15887850467289719</c:v>
                </c:pt>
                <c:pt idx="184">
                  <c:v>0.10280373831775701</c:v>
                </c:pt>
                <c:pt idx="185">
                  <c:v>0.16822429906542055</c:v>
                </c:pt>
                <c:pt idx="186">
                  <c:v>0.14018691588785046</c:v>
                </c:pt>
                <c:pt idx="187">
                  <c:v>0.14018691588785046</c:v>
                </c:pt>
                <c:pt idx="188">
                  <c:v>0.11214953271028037</c:v>
                </c:pt>
                <c:pt idx="189">
                  <c:v>0.15957446808510639</c:v>
                </c:pt>
                <c:pt idx="190">
                  <c:v>0.15957446808510639</c:v>
                </c:pt>
                <c:pt idx="191">
                  <c:v>0.18085106382978725</c:v>
                </c:pt>
                <c:pt idx="192">
                  <c:v>0.18085106382978725</c:v>
                </c:pt>
                <c:pt idx="193">
                  <c:v>0.11702127659574468</c:v>
                </c:pt>
                <c:pt idx="194">
                  <c:v>8.5106382978723402E-2</c:v>
                </c:pt>
                <c:pt idx="195">
                  <c:v>0.11702127659574468</c:v>
                </c:pt>
                <c:pt idx="196">
                  <c:v>0.16883116883116883</c:v>
                </c:pt>
                <c:pt idx="197">
                  <c:v>0.18181818181818182</c:v>
                </c:pt>
                <c:pt idx="198">
                  <c:v>0.15584415584415584</c:v>
                </c:pt>
                <c:pt idx="199">
                  <c:v>0.14285714285714285</c:v>
                </c:pt>
                <c:pt idx="200">
                  <c:v>0.15584415584415584</c:v>
                </c:pt>
                <c:pt idx="201">
                  <c:v>7.792207792207792E-2</c:v>
                </c:pt>
                <c:pt idx="202">
                  <c:v>0.11688311688311688</c:v>
                </c:pt>
                <c:pt idx="203">
                  <c:v>0.14736842105263157</c:v>
                </c:pt>
                <c:pt idx="204">
                  <c:v>0.18947368421052632</c:v>
                </c:pt>
                <c:pt idx="205">
                  <c:v>0.1368421052631579</c:v>
                </c:pt>
                <c:pt idx="206">
                  <c:v>0.1368421052631579</c:v>
                </c:pt>
                <c:pt idx="207">
                  <c:v>0.14736842105263157</c:v>
                </c:pt>
                <c:pt idx="208">
                  <c:v>0.11578947368421053</c:v>
                </c:pt>
                <c:pt idx="209">
                  <c:v>0.12631578947368421</c:v>
                </c:pt>
                <c:pt idx="210">
                  <c:v>0.17582417582417584</c:v>
                </c:pt>
                <c:pt idx="211">
                  <c:v>0.14285714285714285</c:v>
                </c:pt>
                <c:pt idx="212">
                  <c:v>0.17582417582417584</c:v>
                </c:pt>
                <c:pt idx="213">
                  <c:v>0.16483516483516483</c:v>
                </c:pt>
                <c:pt idx="214">
                  <c:v>0.13186813186813187</c:v>
                </c:pt>
                <c:pt idx="215">
                  <c:v>0.12087912087912088</c:v>
                </c:pt>
                <c:pt idx="216">
                  <c:v>8.7912087912087919E-2</c:v>
                </c:pt>
                <c:pt idx="217">
                  <c:v>0.12790697674418605</c:v>
                </c:pt>
                <c:pt idx="218">
                  <c:v>0.19767441860465115</c:v>
                </c:pt>
                <c:pt idx="219">
                  <c:v>0.1744186046511628</c:v>
                </c:pt>
                <c:pt idx="220">
                  <c:v>0.13953488372093023</c:v>
                </c:pt>
                <c:pt idx="221">
                  <c:v>0.11627906976744186</c:v>
                </c:pt>
                <c:pt idx="222">
                  <c:v>0.1744186046511628</c:v>
                </c:pt>
                <c:pt idx="223">
                  <c:v>6.9767441860465115E-2</c:v>
                </c:pt>
                <c:pt idx="224">
                  <c:v>0.16279069767441862</c:v>
                </c:pt>
                <c:pt idx="225">
                  <c:v>0.11627906976744186</c:v>
                </c:pt>
                <c:pt idx="226">
                  <c:v>0.13953488372093023</c:v>
                </c:pt>
                <c:pt idx="227">
                  <c:v>0.1744186046511628</c:v>
                </c:pt>
                <c:pt idx="228">
                  <c:v>0.12790697674418605</c:v>
                </c:pt>
                <c:pt idx="229">
                  <c:v>0.11627906976744186</c:v>
                </c:pt>
                <c:pt idx="230">
                  <c:v>0.16279069767441862</c:v>
                </c:pt>
                <c:pt idx="231">
                  <c:v>0.22285714285714286</c:v>
                </c:pt>
                <c:pt idx="232">
                  <c:v>0.13142857142857142</c:v>
                </c:pt>
                <c:pt idx="233">
                  <c:v>0.12</c:v>
                </c:pt>
                <c:pt idx="234">
                  <c:v>0.10857142857142857</c:v>
                </c:pt>
                <c:pt idx="235">
                  <c:v>0.13142857142857142</c:v>
                </c:pt>
                <c:pt idx="236">
                  <c:v>0.12</c:v>
                </c:pt>
                <c:pt idx="237">
                  <c:v>0.1657142857142857</c:v>
                </c:pt>
                <c:pt idx="238">
                  <c:v>0.13953488372093023</c:v>
                </c:pt>
                <c:pt idx="239">
                  <c:v>0.14534883720930233</c:v>
                </c:pt>
                <c:pt idx="240">
                  <c:v>0.15116279069767441</c:v>
                </c:pt>
                <c:pt idx="241">
                  <c:v>0.15697674418604651</c:v>
                </c:pt>
                <c:pt idx="242">
                  <c:v>0.10465116279069768</c:v>
                </c:pt>
                <c:pt idx="243">
                  <c:v>0.14534883720930233</c:v>
                </c:pt>
                <c:pt idx="244">
                  <c:v>0.15697674418604651</c:v>
                </c:pt>
                <c:pt idx="245">
                  <c:v>0.10303030303030303</c:v>
                </c:pt>
                <c:pt idx="246">
                  <c:v>0.15151515151515152</c:v>
                </c:pt>
                <c:pt idx="247">
                  <c:v>0.1393939393939394</c:v>
                </c:pt>
                <c:pt idx="248">
                  <c:v>0.15151515151515152</c:v>
                </c:pt>
                <c:pt idx="249">
                  <c:v>0.12727272727272726</c:v>
                </c:pt>
                <c:pt idx="250">
                  <c:v>0.17575757575757575</c:v>
                </c:pt>
                <c:pt idx="251">
                  <c:v>0.15151515151515152</c:v>
                </c:pt>
                <c:pt idx="252">
                  <c:v>0.10975609756097561</c:v>
                </c:pt>
                <c:pt idx="253">
                  <c:v>0.18292682926829268</c:v>
                </c:pt>
                <c:pt idx="254">
                  <c:v>0.15853658536585366</c:v>
                </c:pt>
                <c:pt idx="255">
                  <c:v>0.12195121951219512</c:v>
                </c:pt>
                <c:pt idx="256">
                  <c:v>0.13414634146341464</c:v>
                </c:pt>
                <c:pt idx="257">
                  <c:v>0.13414634146341464</c:v>
                </c:pt>
                <c:pt idx="258">
                  <c:v>0.15853658536585366</c:v>
                </c:pt>
                <c:pt idx="259">
                  <c:v>0.11724137931034483</c:v>
                </c:pt>
                <c:pt idx="260">
                  <c:v>0.15862068965517243</c:v>
                </c:pt>
                <c:pt idx="261">
                  <c:v>0.18620689655172415</c:v>
                </c:pt>
                <c:pt idx="262">
                  <c:v>0.12413793103448276</c:v>
                </c:pt>
                <c:pt idx="263">
                  <c:v>0.10344827586206896</c:v>
                </c:pt>
                <c:pt idx="264">
                  <c:v>0.19310344827586207</c:v>
                </c:pt>
                <c:pt idx="265">
                  <c:v>0.11724137931034483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14-4DD3-8C41-D61C198B5009}"/>
            </c:ext>
          </c:extLst>
        </c:ser>
        <c:ser>
          <c:idx val="1"/>
          <c:order val="1"/>
          <c:tx>
            <c:strRef>
              <c:f>'Маркетинг. аналитика'!$H$1</c:f>
              <c:strCache>
                <c:ptCount val="1"/>
                <c:pt idx="0">
                  <c:v> SF (month)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movingAvg"/>
            <c:period val="14"/>
            <c:dispRSqr val="0"/>
            <c:dispEq val="0"/>
          </c:trendline>
          <c:cat>
            <c:numRef>
              <c:f>'Маркетинг. аналитика'!$C$5:$C$270</c:f>
              <c:numCache>
                <c:formatCode>m/d/yyyy</c:formatCode>
                <c:ptCount val="266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</c:numCache>
            </c:numRef>
          </c:cat>
          <c:val>
            <c:numRef>
              <c:f>'Маркетинг. аналитика'!$H$5:$H$270</c:f>
              <c:numCache>
                <c:formatCode>0.0000</c:formatCode>
                <c:ptCount val="266"/>
                <c:pt idx="0">
                  <c:v>5.4054054054054057E-2</c:v>
                </c:pt>
                <c:pt idx="1">
                  <c:v>3.0888030888030889E-2</c:v>
                </c:pt>
                <c:pt idx="2">
                  <c:v>3.0888030888030889E-2</c:v>
                </c:pt>
                <c:pt idx="3">
                  <c:v>3.8610038610038609E-2</c:v>
                </c:pt>
                <c:pt idx="4">
                  <c:v>5.4054054054054057E-2</c:v>
                </c:pt>
                <c:pt idx="5">
                  <c:v>2.3166023166023165E-2</c:v>
                </c:pt>
                <c:pt idx="6">
                  <c:v>2.7027027027027029E-2</c:v>
                </c:pt>
                <c:pt idx="7">
                  <c:v>1.9305019305019305E-2</c:v>
                </c:pt>
                <c:pt idx="8">
                  <c:v>2.7027027027027029E-2</c:v>
                </c:pt>
                <c:pt idx="9">
                  <c:v>1.9305019305019305E-2</c:v>
                </c:pt>
                <c:pt idx="10">
                  <c:v>2.7027027027027029E-2</c:v>
                </c:pt>
                <c:pt idx="11">
                  <c:v>2.3166023166023165E-2</c:v>
                </c:pt>
                <c:pt idx="12">
                  <c:v>3.8610038610038609E-2</c:v>
                </c:pt>
                <c:pt idx="13">
                  <c:v>3.4749034749034749E-2</c:v>
                </c:pt>
                <c:pt idx="14">
                  <c:v>3.8610038610038609E-2</c:v>
                </c:pt>
                <c:pt idx="15">
                  <c:v>3.0888030888030889E-2</c:v>
                </c:pt>
                <c:pt idx="16">
                  <c:v>2.3166023166023165E-2</c:v>
                </c:pt>
                <c:pt idx="17">
                  <c:v>3.0888030888030889E-2</c:v>
                </c:pt>
                <c:pt idx="18">
                  <c:v>3.8610038610038609E-2</c:v>
                </c:pt>
                <c:pt idx="19">
                  <c:v>4.2471042471042469E-2</c:v>
                </c:pt>
                <c:pt idx="20">
                  <c:v>3.0888030888030889E-2</c:v>
                </c:pt>
                <c:pt idx="21">
                  <c:v>4.633204633204633E-2</c:v>
                </c:pt>
                <c:pt idx="22">
                  <c:v>1.9305019305019305E-2</c:v>
                </c:pt>
                <c:pt idx="23">
                  <c:v>3.0888030888030889E-2</c:v>
                </c:pt>
                <c:pt idx="24">
                  <c:v>4.633204633204633E-2</c:v>
                </c:pt>
                <c:pt idx="25">
                  <c:v>1.1583011583011582E-2</c:v>
                </c:pt>
                <c:pt idx="26">
                  <c:v>3.8610038610038609E-2</c:v>
                </c:pt>
                <c:pt idx="27">
                  <c:v>4.633204633204633E-2</c:v>
                </c:pt>
                <c:pt idx="28">
                  <c:v>2.553191489361702E-2</c:v>
                </c:pt>
                <c:pt idx="29">
                  <c:v>3.4042553191489362E-2</c:v>
                </c:pt>
                <c:pt idx="30">
                  <c:v>1.7021276595744681E-2</c:v>
                </c:pt>
                <c:pt idx="31">
                  <c:v>3.8297872340425532E-2</c:v>
                </c:pt>
                <c:pt idx="32">
                  <c:v>4.2553191489361701E-2</c:v>
                </c:pt>
                <c:pt idx="33">
                  <c:v>1.7021276595744681E-2</c:v>
                </c:pt>
                <c:pt idx="34">
                  <c:v>1.7021276595744681E-2</c:v>
                </c:pt>
                <c:pt idx="35">
                  <c:v>5.9574468085106386E-2</c:v>
                </c:pt>
                <c:pt idx="36">
                  <c:v>2.9787234042553193E-2</c:v>
                </c:pt>
                <c:pt idx="37">
                  <c:v>3.4042553191489362E-2</c:v>
                </c:pt>
                <c:pt idx="38">
                  <c:v>3.8297872340425532E-2</c:v>
                </c:pt>
                <c:pt idx="39">
                  <c:v>4.2553191489361701E-2</c:v>
                </c:pt>
                <c:pt idx="40">
                  <c:v>3.8297872340425532E-2</c:v>
                </c:pt>
                <c:pt idx="41">
                  <c:v>3.4042553191489362E-2</c:v>
                </c:pt>
                <c:pt idx="42">
                  <c:v>2.553191489361702E-2</c:v>
                </c:pt>
                <c:pt idx="43">
                  <c:v>5.106382978723404E-2</c:v>
                </c:pt>
                <c:pt idx="44">
                  <c:v>1.7021276595744681E-2</c:v>
                </c:pt>
                <c:pt idx="45">
                  <c:v>2.1276595744680851E-2</c:v>
                </c:pt>
                <c:pt idx="46">
                  <c:v>3.8297872340425532E-2</c:v>
                </c:pt>
                <c:pt idx="47">
                  <c:v>5.106382978723404E-2</c:v>
                </c:pt>
                <c:pt idx="48">
                  <c:v>2.9787234042553193E-2</c:v>
                </c:pt>
                <c:pt idx="49">
                  <c:v>2.9787234042553193E-2</c:v>
                </c:pt>
                <c:pt idx="50">
                  <c:v>6.3829787234042548E-2</c:v>
                </c:pt>
                <c:pt idx="51">
                  <c:v>2.553191489361702E-2</c:v>
                </c:pt>
                <c:pt idx="52">
                  <c:v>2.553191489361702E-2</c:v>
                </c:pt>
                <c:pt idx="53">
                  <c:v>2.553191489361702E-2</c:v>
                </c:pt>
                <c:pt idx="54">
                  <c:v>2.1276595744680851E-2</c:v>
                </c:pt>
                <c:pt idx="55">
                  <c:v>2.553191489361702E-2</c:v>
                </c:pt>
                <c:pt idx="56">
                  <c:v>2.9787234042553193E-2</c:v>
                </c:pt>
                <c:pt idx="57">
                  <c:v>2.9787234042553193E-2</c:v>
                </c:pt>
                <c:pt idx="58">
                  <c:v>2.1276595744680851E-2</c:v>
                </c:pt>
                <c:pt idx="59">
                  <c:v>3.5019455252918288E-2</c:v>
                </c:pt>
                <c:pt idx="60">
                  <c:v>3.5019455252918288E-2</c:v>
                </c:pt>
                <c:pt idx="61">
                  <c:v>3.1128404669260701E-2</c:v>
                </c:pt>
                <c:pt idx="62">
                  <c:v>3.5019455252918288E-2</c:v>
                </c:pt>
                <c:pt idx="63">
                  <c:v>5.4474708171206226E-2</c:v>
                </c:pt>
                <c:pt idx="64">
                  <c:v>2.3346303501945526E-2</c:v>
                </c:pt>
                <c:pt idx="65">
                  <c:v>3.5019455252918288E-2</c:v>
                </c:pt>
                <c:pt idx="66">
                  <c:v>2.7237354085603113E-2</c:v>
                </c:pt>
                <c:pt idx="67">
                  <c:v>2.3346303501945526E-2</c:v>
                </c:pt>
                <c:pt idx="68">
                  <c:v>3.8910505836575876E-2</c:v>
                </c:pt>
                <c:pt idx="69">
                  <c:v>1.9455252918287938E-2</c:v>
                </c:pt>
                <c:pt idx="70">
                  <c:v>3.1128404669260701E-2</c:v>
                </c:pt>
                <c:pt idx="71">
                  <c:v>3.5019455252918288E-2</c:v>
                </c:pt>
                <c:pt idx="72">
                  <c:v>3.8910505836575876E-2</c:v>
                </c:pt>
                <c:pt idx="73">
                  <c:v>5.0583657587548639E-2</c:v>
                </c:pt>
                <c:pt idx="74">
                  <c:v>6.2256809338521402E-2</c:v>
                </c:pt>
                <c:pt idx="75">
                  <c:v>3.8910505836575876E-2</c:v>
                </c:pt>
                <c:pt idx="76">
                  <c:v>3.1128404669260701E-2</c:v>
                </c:pt>
                <c:pt idx="77">
                  <c:v>2.7237354085603113E-2</c:v>
                </c:pt>
                <c:pt idx="78">
                  <c:v>1.556420233463035E-2</c:v>
                </c:pt>
                <c:pt idx="79">
                  <c:v>3.5019455252918288E-2</c:v>
                </c:pt>
                <c:pt idx="80">
                  <c:v>3.5019455252918288E-2</c:v>
                </c:pt>
                <c:pt idx="81">
                  <c:v>2.7237354085603113E-2</c:v>
                </c:pt>
                <c:pt idx="82">
                  <c:v>4.2801556420233464E-2</c:v>
                </c:pt>
                <c:pt idx="83">
                  <c:v>2.3346303501945526E-2</c:v>
                </c:pt>
                <c:pt idx="84">
                  <c:v>2.7237354085603113E-2</c:v>
                </c:pt>
                <c:pt idx="85">
                  <c:v>3.1128404669260701E-2</c:v>
                </c:pt>
                <c:pt idx="86">
                  <c:v>2.3346303501945526E-2</c:v>
                </c:pt>
                <c:pt idx="87">
                  <c:v>4.2801556420233464E-2</c:v>
                </c:pt>
                <c:pt idx="88">
                  <c:v>2.3346303501945526E-2</c:v>
                </c:pt>
                <c:pt idx="89">
                  <c:v>6.8441064638783272E-2</c:v>
                </c:pt>
                <c:pt idx="90">
                  <c:v>1.9011406844106463E-2</c:v>
                </c:pt>
                <c:pt idx="91">
                  <c:v>3.4220532319391636E-2</c:v>
                </c:pt>
                <c:pt idx="92">
                  <c:v>2.2813688212927757E-2</c:v>
                </c:pt>
                <c:pt idx="93">
                  <c:v>1.9011406844106463E-2</c:v>
                </c:pt>
                <c:pt idx="94">
                  <c:v>3.4220532319391636E-2</c:v>
                </c:pt>
                <c:pt idx="95">
                  <c:v>2.6615969581749048E-2</c:v>
                </c:pt>
                <c:pt idx="96">
                  <c:v>1.5209125475285171E-2</c:v>
                </c:pt>
                <c:pt idx="97">
                  <c:v>1.5209125475285171E-2</c:v>
                </c:pt>
                <c:pt idx="98">
                  <c:v>2.6615969581749048E-2</c:v>
                </c:pt>
                <c:pt idx="99">
                  <c:v>2.6615969581749048E-2</c:v>
                </c:pt>
                <c:pt idx="100">
                  <c:v>5.3231939163498096E-2</c:v>
                </c:pt>
                <c:pt idx="101">
                  <c:v>4.1825095057034217E-2</c:v>
                </c:pt>
                <c:pt idx="102">
                  <c:v>3.0418250950570342E-2</c:v>
                </c:pt>
                <c:pt idx="103">
                  <c:v>2.2813688212927757E-2</c:v>
                </c:pt>
                <c:pt idx="104">
                  <c:v>4.1825095057034217E-2</c:v>
                </c:pt>
                <c:pt idx="105">
                  <c:v>3.0418250950570342E-2</c:v>
                </c:pt>
                <c:pt idx="106">
                  <c:v>3.8022813688212927E-2</c:v>
                </c:pt>
                <c:pt idx="107">
                  <c:v>3.0418250950570342E-2</c:v>
                </c:pt>
                <c:pt idx="108">
                  <c:v>4.9429657794676805E-2</c:v>
                </c:pt>
                <c:pt idx="109">
                  <c:v>3.0418250950570342E-2</c:v>
                </c:pt>
                <c:pt idx="110">
                  <c:v>1.1406844106463879E-2</c:v>
                </c:pt>
                <c:pt idx="111">
                  <c:v>2.6615969581749048E-2</c:v>
                </c:pt>
                <c:pt idx="112">
                  <c:v>4.1825095057034217E-2</c:v>
                </c:pt>
                <c:pt idx="113">
                  <c:v>4.1825095057034217E-2</c:v>
                </c:pt>
                <c:pt idx="114">
                  <c:v>2.2813688212927757E-2</c:v>
                </c:pt>
                <c:pt idx="115">
                  <c:v>4.1825095057034217E-2</c:v>
                </c:pt>
                <c:pt idx="116">
                  <c:v>4.9429657794676805E-2</c:v>
                </c:pt>
                <c:pt idx="117">
                  <c:v>2.6615969581749048E-2</c:v>
                </c:pt>
                <c:pt idx="118">
                  <c:v>2.6615969581749048E-2</c:v>
                </c:pt>
                <c:pt idx="119">
                  <c:v>3.4220532319391636E-2</c:v>
                </c:pt>
                <c:pt idx="120">
                  <c:v>2.7450980392156862E-2</c:v>
                </c:pt>
                <c:pt idx="121">
                  <c:v>2.3529411764705882E-2</c:v>
                </c:pt>
                <c:pt idx="122">
                  <c:v>3.5294117647058823E-2</c:v>
                </c:pt>
                <c:pt idx="123">
                  <c:v>3.5294117647058823E-2</c:v>
                </c:pt>
                <c:pt idx="124">
                  <c:v>2.3529411764705882E-2</c:v>
                </c:pt>
                <c:pt idx="125">
                  <c:v>5.0980392156862744E-2</c:v>
                </c:pt>
                <c:pt idx="126">
                  <c:v>5.0980392156862744E-2</c:v>
                </c:pt>
                <c:pt idx="127">
                  <c:v>2.7450980392156862E-2</c:v>
                </c:pt>
                <c:pt idx="128">
                  <c:v>2.7450980392156862E-2</c:v>
                </c:pt>
                <c:pt idx="129">
                  <c:v>3.1372549019607843E-2</c:v>
                </c:pt>
                <c:pt idx="130">
                  <c:v>5.0980392156862744E-2</c:v>
                </c:pt>
                <c:pt idx="131">
                  <c:v>3.9215686274509803E-2</c:v>
                </c:pt>
                <c:pt idx="132">
                  <c:v>4.3137254901960784E-2</c:v>
                </c:pt>
                <c:pt idx="133">
                  <c:v>3.9215686274509803E-2</c:v>
                </c:pt>
                <c:pt idx="134">
                  <c:v>3.5294117647058823E-2</c:v>
                </c:pt>
                <c:pt idx="135">
                  <c:v>3.9215686274509803E-2</c:v>
                </c:pt>
                <c:pt idx="136">
                  <c:v>2.3529411764705882E-2</c:v>
                </c:pt>
                <c:pt idx="137">
                  <c:v>4.7058823529411764E-2</c:v>
                </c:pt>
                <c:pt idx="138">
                  <c:v>1.5686274509803921E-2</c:v>
                </c:pt>
                <c:pt idx="139">
                  <c:v>3.5294117647058823E-2</c:v>
                </c:pt>
                <c:pt idx="140">
                  <c:v>2.3529411764705882E-2</c:v>
                </c:pt>
                <c:pt idx="141">
                  <c:v>3.5294117647058823E-2</c:v>
                </c:pt>
                <c:pt idx="142">
                  <c:v>1.5686274509803921E-2</c:v>
                </c:pt>
                <c:pt idx="143">
                  <c:v>3.5294117647058823E-2</c:v>
                </c:pt>
                <c:pt idx="144">
                  <c:v>2.7450980392156862E-2</c:v>
                </c:pt>
                <c:pt idx="145">
                  <c:v>3.9215686274509803E-2</c:v>
                </c:pt>
                <c:pt idx="146">
                  <c:v>3.1372549019607843E-2</c:v>
                </c:pt>
                <c:pt idx="147">
                  <c:v>1.1764705882352941E-2</c:v>
                </c:pt>
                <c:pt idx="148">
                  <c:v>5.0980392156862744E-2</c:v>
                </c:pt>
                <c:pt idx="149">
                  <c:v>2.7450980392156862E-2</c:v>
                </c:pt>
                <c:pt idx="150">
                  <c:v>5.0980392156862744E-2</c:v>
                </c:pt>
                <c:pt idx="151">
                  <c:v>2.7450980392156862E-2</c:v>
                </c:pt>
                <c:pt idx="152">
                  <c:v>5.0980392156862744E-2</c:v>
                </c:pt>
                <c:pt idx="153">
                  <c:v>2.7450980392156862E-2</c:v>
                </c:pt>
                <c:pt idx="154">
                  <c:v>2.3529411764705882E-2</c:v>
                </c:pt>
                <c:pt idx="155">
                  <c:v>1.5686274509803921E-2</c:v>
                </c:pt>
                <c:pt idx="156">
                  <c:v>3.5294117647058823E-2</c:v>
                </c:pt>
                <c:pt idx="157">
                  <c:v>2.7450980392156862E-2</c:v>
                </c:pt>
                <c:pt idx="158">
                  <c:v>3.9215686274509803E-2</c:v>
                </c:pt>
                <c:pt idx="159">
                  <c:v>5.4901960784313725E-2</c:v>
                </c:pt>
                <c:pt idx="160">
                  <c:v>2.3529411764705882E-2</c:v>
                </c:pt>
                <c:pt idx="161">
                  <c:v>1.5686274509803921E-2</c:v>
                </c:pt>
                <c:pt idx="162">
                  <c:v>1.5686274509803921E-2</c:v>
                </c:pt>
                <c:pt idx="163">
                  <c:v>1.5686274509803921E-2</c:v>
                </c:pt>
                <c:pt idx="164">
                  <c:v>2.3529411764705882E-2</c:v>
                </c:pt>
                <c:pt idx="165">
                  <c:v>2.3529411764705882E-2</c:v>
                </c:pt>
                <c:pt idx="166">
                  <c:v>2.3529411764705882E-2</c:v>
                </c:pt>
                <c:pt idx="167">
                  <c:v>3.5294117647058823E-2</c:v>
                </c:pt>
                <c:pt idx="168">
                  <c:v>3.5294117647058823E-2</c:v>
                </c:pt>
                <c:pt idx="169">
                  <c:v>3.9215686274509803E-2</c:v>
                </c:pt>
                <c:pt idx="170">
                  <c:v>2.3529411764705882E-2</c:v>
                </c:pt>
                <c:pt idx="171">
                  <c:v>2.3529411764705882E-2</c:v>
                </c:pt>
                <c:pt idx="172">
                  <c:v>2.7450980392156862E-2</c:v>
                </c:pt>
                <c:pt idx="173">
                  <c:v>4.3137254901960784E-2</c:v>
                </c:pt>
                <c:pt idx="174">
                  <c:v>3.5294117647058823E-2</c:v>
                </c:pt>
                <c:pt idx="175">
                  <c:v>4.3137254901960784E-2</c:v>
                </c:pt>
                <c:pt idx="176">
                  <c:v>4.3137254901960784E-2</c:v>
                </c:pt>
                <c:pt idx="177">
                  <c:v>3.5294117647058823E-2</c:v>
                </c:pt>
                <c:pt idx="178">
                  <c:v>3.9215686274509803E-2</c:v>
                </c:pt>
                <c:pt idx="179">
                  <c:v>1.9607843137254902E-2</c:v>
                </c:pt>
                <c:pt idx="180">
                  <c:v>6.2745098039215685E-2</c:v>
                </c:pt>
                <c:pt idx="181">
                  <c:v>3.1325301204819279E-2</c:v>
                </c:pt>
                <c:pt idx="182">
                  <c:v>4.5783132530120479E-2</c:v>
                </c:pt>
                <c:pt idx="183">
                  <c:v>4.0963855421686748E-2</c:v>
                </c:pt>
                <c:pt idx="184">
                  <c:v>2.6506024096385541E-2</c:v>
                </c:pt>
                <c:pt idx="185">
                  <c:v>4.3373493975903614E-2</c:v>
                </c:pt>
                <c:pt idx="186">
                  <c:v>3.614457831325301E-2</c:v>
                </c:pt>
                <c:pt idx="187">
                  <c:v>3.614457831325301E-2</c:v>
                </c:pt>
                <c:pt idx="188">
                  <c:v>2.891566265060241E-2</c:v>
                </c:pt>
                <c:pt idx="189">
                  <c:v>3.614457831325301E-2</c:v>
                </c:pt>
                <c:pt idx="190">
                  <c:v>3.614457831325301E-2</c:v>
                </c:pt>
                <c:pt idx="191">
                  <c:v>4.0963855421686748E-2</c:v>
                </c:pt>
                <c:pt idx="192">
                  <c:v>4.0963855421686748E-2</c:v>
                </c:pt>
                <c:pt idx="193">
                  <c:v>2.6506024096385541E-2</c:v>
                </c:pt>
                <c:pt idx="194">
                  <c:v>1.9277108433734941E-2</c:v>
                </c:pt>
                <c:pt idx="195">
                  <c:v>2.6506024096385541E-2</c:v>
                </c:pt>
                <c:pt idx="196">
                  <c:v>3.1325301204819279E-2</c:v>
                </c:pt>
                <c:pt idx="197">
                  <c:v>3.3734939759036145E-2</c:v>
                </c:pt>
                <c:pt idx="198">
                  <c:v>2.891566265060241E-2</c:v>
                </c:pt>
                <c:pt idx="199">
                  <c:v>2.6506024096385541E-2</c:v>
                </c:pt>
                <c:pt idx="200">
                  <c:v>2.891566265060241E-2</c:v>
                </c:pt>
                <c:pt idx="201">
                  <c:v>1.4457831325301205E-2</c:v>
                </c:pt>
                <c:pt idx="202">
                  <c:v>2.1686746987951807E-2</c:v>
                </c:pt>
                <c:pt idx="203">
                  <c:v>3.3734939759036145E-2</c:v>
                </c:pt>
                <c:pt idx="204">
                  <c:v>4.3373493975903614E-2</c:v>
                </c:pt>
                <c:pt idx="205">
                  <c:v>3.1325301204819279E-2</c:v>
                </c:pt>
                <c:pt idx="206">
                  <c:v>3.1325301204819279E-2</c:v>
                </c:pt>
                <c:pt idx="207">
                  <c:v>3.3734939759036145E-2</c:v>
                </c:pt>
                <c:pt idx="208">
                  <c:v>2.6506024096385541E-2</c:v>
                </c:pt>
                <c:pt idx="209">
                  <c:v>2.891566265060241E-2</c:v>
                </c:pt>
                <c:pt idx="210">
                  <c:v>3.8554216867469883E-2</c:v>
                </c:pt>
                <c:pt idx="211">
                  <c:v>3.1325301204819279E-2</c:v>
                </c:pt>
                <c:pt idx="212">
                  <c:v>3.4934497816593885E-2</c:v>
                </c:pt>
                <c:pt idx="213">
                  <c:v>3.2751091703056769E-2</c:v>
                </c:pt>
                <c:pt idx="214">
                  <c:v>2.6200873362445413E-2</c:v>
                </c:pt>
                <c:pt idx="215">
                  <c:v>2.4017467248908297E-2</c:v>
                </c:pt>
                <c:pt idx="216">
                  <c:v>1.7467248908296942E-2</c:v>
                </c:pt>
                <c:pt idx="217">
                  <c:v>2.4017467248908297E-2</c:v>
                </c:pt>
                <c:pt idx="218">
                  <c:v>3.7117903930131008E-2</c:v>
                </c:pt>
                <c:pt idx="219">
                  <c:v>3.2751091703056769E-2</c:v>
                </c:pt>
                <c:pt idx="220">
                  <c:v>2.6200873362445413E-2</c:v>
                </c:pt>
                <c:pt idx="221">
                  <c:v>2.1834061135371178E-2</c:v>
                </c:pt>
                <c:pt idx="222">
                  <c:v>3.2751091703056769E-2</c:v>
                </c:pt>
                <c:pt idx="223">
                  <c:v>1.3100436681222707E-2</c:v>
                </c:pt>
                <c:pt idx="224">
                  <c:v>3.0567685589519649E-2</c:v>
                </c:pt>
                <c:pt idx="225">
                  <c:v>2.1834061135371178E-2</c:v>
                </c:pt>
                <c:pt idx="226">
                  <c:v>2.6200873362445413E-2</c:v>
                </c:pt>
                <c:pt idx="227">
                  <c:v>3.2751091703056769E-2</c:v>
                </c:pt>
                <c:pt idx="228">
                  <c:v>2.4017467248908297E-2</c:v>
                </c:pt>
                <c:pt idx="229">
                  <c:v>2.1834061135371178E-2</c:v>
                </c:pt>
                <c:pt idx="230">
                  <c:v>3.0567685589519649E-2</c:v>
                </c:pt>
                <c:pt idx="231">
                  <c:v>8.5152838427947602E-2</c:v>
                </c:pt>
                <c:pt idx="232">
                  <c:v>5.0218340611353711E-2</c:v>
                </c:pt>
                <c:pt idx="233">
                  <c:v>4.5851528384279479E-2</c:v>
                </c:pt>
                <c:pt idx="234">
                  <c:v>4.148471615720524E-2</c:v>
                </c:pt>
                <c:pt idx="235">
                  <c:v>5.0218340611353711E-2</c:v>
                </c:pt>
                <c:pt idx="236">
                  <c:v>4.5851528384279479E-2</c:v>
                </c:pt>
                <c:pt idx="237">
                  <c:v>6.3318777292576414E-2</c:v>
                </c:pt>
                <c:pt idx="238">
                  <c:v>5.2401746724890827E-2</c:v>
                </c:pt>
                <c:pt idx="239">
                  <c:v>5.458515283842795E-2</c:v>
                </c:pt>
                <c:pt idx="240">
                  <c:v>3.81791483113069E-2</c:v>
                </c:pt>
                <c:pt idx="241">
                  <c:v>3.9647577092511016E-2</c:v>
                </c:pt>
                <c:pt idx="242">
                  <c:v>2.643171806167401E-2</c:v>
                </c:pt>
                <c:pt idx="243">
                  <c:v>3.6710719530102791E-2</c:v>
                </c:pt>
                <c:pt idx="244">
                  <c:v>3.9647577092511016E-2</c:v>
                </c:pt>
                <c:pt idx="245">
                  <c:v>2.4963289280469897E-2</c:v>
                </c:pt>
                <c:pt idx="246">
                  <c:v>3.6710719530102791E-2</c:v>
                </c:pt>
                <c:pt idx="247">
                  <c:v>3.3773861967694566E-2</c:v>
                </c:pt>
                <c:pt idx="248">
                  <c:v>3.6710719530102791E-2</c:v>
                </c:pt>
                <c:pt idx="249">
                  <c:v>3.0837004405286344E-2</c:v>
                </c:pt>
                <c:pt idx="250">
                  <c:v>4.2584434654919234E-2</c:v>
                </c:pt>
                <c:pt idx="251">
                  <c:v>3.6710719530102791E-2</c:v>
                </c:pt>
                <c:pt idx="252">
                  <c:v>2.643171806167401E-2</c:v>
                </c:pt>
                <c:pt idx="253">
                  <c:v>4.405286343612335E-2</c:v>
                </c:pt>
                <c:pt idx="254">
                  <c:v>3.81791483113069E-2</c:v>
                </c:pt>
                <c:pt idx="255">
                  <c:v>2.9368575624082231E-2</c:v>
                </c:pt>
                <c:pt idx="256">
                  <c:v>3.2305433186490456E-2</c:v>
                </c:pt>
                <c:pt idx="257">
                  <c:v>3.2305433186490456E-2</c:v>
                </c:pt>
                <c:pt idx="258">
                  <c:v>3.81791483113069E-2</c:v>
                </c:pt>
                <c:pt idx="259">
                  <c:v>2.4963289280469897E-2</c:v>
                </c:pt>
                <c:pt idx="260">
                  <c:v>3.3773861967694566E-2</c:v>
                </c:pt>
                <c:pt idx="261">
                  <c:v>3.9647577092511016E-2</c:v>
                </c:pt>
                <c:pt idx="262">
                  <c:v>2.643171806167401E-2</c:v>
                </c:pt>
                <c:pt idx="263">
                  <c:v>2.2026431718061675E-2</c:v>
                </c:pt>
                <c:pt idx="264">
                  <c:v>4.1116005873715125E-2</c:v>
                </c:pt>
                <c:pt idx="265">
                  <c:v>2.4963289280469897E-2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14-4DD3-8C41-D61C198B5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778015"/>
        <c:axId val="207787167"/>
      </c:lineChart>
      <c:dateAx>
        <c:axId val="2077780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43788548763011226"/>
              <c:y val="0.936313912431784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787167"/>
        <c:crosses val="autoZero"/>
        <c:auto val="1"/>
        <c:lblOffset val="100"/>
        <c:baseTimeUnit val="days"/>
      </c:dateAx>
      <c:valAx>
        <c:axId val="207787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Доля активных пользователей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9.7811937774668085E-3"/>
              <c:y val="0.330824912915546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-* #\ ##0.0000_-;\-* #\ ##0.000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77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5457125180557938"/>
          <c:y val="0.94623589310317557"/>
          <c:w val="0.20484891367502769"/>
          <c:h val="5.37641068968244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800" b="1" i="0" u="none" strike="noStrike" kern="1200" spc="0" baseline="0">
                <a:solidFill>
                  <a:srgbClr val="71215C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dirty="0" smtClean="0">
                <a:effectLst/>
              </a:rPr>
              <a:t>Суммарная длительность сессий ТОП-25 игроков 2022 г.</a:t>
            </a:r>
            <a:endParaRPr lang="en-US" dirty="0"/>
          </a:p>
        </c:rich>
      </c:tx>
      <c:layout>
        <c:manualLayout>
          <c:xMode val="edge"/>
          <c:yMode val="edge"/>
          <c:x val="0.12486859972225081"/>
          <c:y val="7.583769300543582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800" b="1" i="0" u="none" strike="noStrike" kern="1200" spc="0" baseline="0">
              <a:solidFill>
                <a:srgbClr val="71215C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580579027083043"/>
          <c:y val="0.15432970526606191"/>
          <c:w val="0.81565726840767194"/>
          <c:h val="0.82484329364892162"/>
        </c:manualLayout>
      </c:layout>
      <c:scatterChart>
        <c:scatterStyle val="lineMarker"/>
        <c:varyColors val="0"/>
        <c:ser>
          <c:idx val="0"/>
          <c:order val="0"/>
          <c:tx>
            <c:strRef>
              <c:f>'ТОП-25 вовлеченных '!$B$2</c:f>
              <c:strCache>
                <c:ptCount val="1"/>
                <c:pt idx="0">
                  <c:v>time_session, h.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1215C"/>
              </a:solidFill>
              <a:ln w="9525">
                <a:solidFill>
                  <a:srgbClr val="71215C"/>
                </a:solidFill>
              </a:ln>
              <a:effectLst/>
            </c:spPr>
          </c:marker>
          <c:xVal>
            <c:numRef>
              <c:f>'ТОП-25 вовлеченных '!$A$3:$A$27</c:f>
              <c:numCache>
                <c:formatCode>General</c:formatCode>
                <c:ptCount val="25"/>
                <c:pt idx="0">
                  <c:v>2902744</c:v>
                </c:pt>
                <c:pt idx="1">
                  <c:v>2903516</c:v>
                </c:pt>
                <c:pt idx="2">
                  <c:v>2901980</c:v>
                </c:pt>
                <c:pt idx="3">
                  <c:v>2901943</c:v>
                </c:pt>
                <c:pt idx="4">
                  <c:v>2902753</c:v>
                </c:pt>
                <c:pt idx="5">
                  <c:v>2903006</c:v>
                </c:pt>
                <c:pt idx="6">
                  <c:v>2901218</c:v>
                </c:pt>
                <c:pt idx="7">
                  <c:v>2901168</c:v>
                </c:pt>
                <c:pt idx="8">
                  <c:v>2903361</c:v>
                </c:pt>
                <c:pt idx="9">
                  <c:v>2902442</c:v>
                </c:pt>
                <c:pt idx="10">
                  <c:v>2901948</c:v>
                </c:pt>
                <c:pt idx="11">
                  <c:v>2902846</c:v>
                </c:pt>
                <c:pt idx="12">
                  <c:v>2901648</c:v>
                </c:pt>
                <c:pt idx="13">
                  <c:v>2902723</c:v>
                </c:pt>
                <c:pt idx="14">
                  <c:v>2901672</c:v>
                </c:pt>
                <c:pt idx="15">
                  <c:v>2901519</c:v>
                </c:pt>
                <c:pt idx="16">
                  <c:v>2903986</c:v>
                </c:pt>
                <c:pt idx="17">
                  <c:v>2903106</c:v>
                </c:pt>
                <c:pt idx="18">
                  <c:v>2902358</c:v>
                </c:pt>
                <c:pt idx="19">
                  <c:v>2901282</c:v>
                </c:pt>
                <c:pt idx="20">
                  <c:v>2901611</c:v>
                </c:pt>
                <c:pt idx="21">
                  <c:v>2903797</c:v>
                </c:pt>
                <c:pt idx="22">
                  <c:v>2903735</c:v>
                </c:pt>
                <c:pt idx="23">
                  <c:v>2903053</c:v>
                </c:pt>
                <c:pt idx="24">
                  <c:v>2902281</c:v>
                </c:pt>
              </c:numCache>
            </c:numRef>
          </c:xVal>
          <c:yVal>
            <c:numRef>
              <c:f>'ТОП-25 вовлеченных '!$B$3:$B$27</c:f>
              <c:numCache>
                <c:formatCode>_-* #\ ##0.00\ _₽_-;\-* #\ ##0.00\ _₽_-;_-* "-"??\ _₽_-;_-@_-</c:formatCode>
                <c:ptCount val="25"/>
                <c:pt idx="0">
                  <c:v>162.55000000000001</c:v>
                </c:pt>
                <c:pt idx="1">
                  <c:v>140.31666666666666</c:v>
                </c:pt>
                <c:pt idx="2">
                  <c:v>130.26666666666668</c:v>
                </c:pt>
                <c:pt idx="3">
                  <c:v>130.15</c:v>
                </c:pt>
                <c:pt idx="4">
                  <c:v>127.48333333333333</c:v>
                </c:pt>
                <c:pt idx="5">
                  <c:v>121.53333333333333</c:v>
                </c:pt>
                <c:pt idx="6">
                  <c:v>119.81666666666666</c:v>
                </c:pt>
                <c:pt idx="7">
                  <c:v>118.86666666666666</c:v>
                </c:pt>
                <c:pt idx="8">
                  <c:v>118.58333333333333</c:v>
                </c:pt>
                <c:pt idx="9">
                  <c:v>113.71666666666667</c:v>
                </c:pt>
                <c:pt idx="10">
                  <c:v>113.63333333333334</c:v>
                </c:pt>
                <c:pt idx="11">
                  <c:v>112.56666666666666</c:v>
                </c:pt>
                <c:pt idx="12">
                  <c:v>111.73333333333333</c:v>
                </c:pt>
                <c:pt idx="13">
                  <c:v>104.46666666666667</c:v>
                </c:pt>
                <c:pt idx="14">
                  <c:v>102.81666666666666</c:v>
                </c:pt>
                <c:pt idx="15">
                  <c:v>96.7</c:v>
                </c:pt>
                <c:pt idx="16">
                  <c:v>95.4</c:v>
                </c:pt>
                <c:pt idx="17">
                  <c:v>92.5</c:v>
                </c:pt>
                <c:pt idx="18">
                  <c:v>90.283333333333331</c:v>
                </c:pt>
                <c:pt idx="19">
                  <c:v>87.9</c:v>
                </c:pt>
                <c:pt idx="20">
                  <c:v>84.816666666666663</c:v>
                </c:pt>
                <c:pt idx="21">
                  <c:v>84.316666666666663</c:v>
                </c:pt>
                <c:pt idx="22">
                  <c:v>83.566666666666663</c:v>
                </c:pt>
                <c:pt idx="23">
                  <c:v>82.233333333333334</c:v>
                </c:pt>
                <c:pt idx="24">
                  <c:v>81.5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727-4360-B251-AAD2E5F64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3098368"/>
        <c:axId val="1253116256"/>
      </c:scatterChart>
      <c:valAx>
        <c:axId val="125309836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53116256"/>
        <c:crosses val="autoZero"/>
        <c:crossBetween val="midCat"/>
      </c:valAx>
      <c:valAx>
        <c:axId val="125311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Длительность</a:t>
                </a:r>
                <a:r>
                  <a:rPr lang="ru-RU" baseline="0" dirty="0" smtClean="0"/>
                  <a:t> сессий, ч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1.2812701955570487E-2"/>
              <c:y val="0.3983880967779150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-* #\ ##0.00\ _₽_-;\-* #\ ##0.00\ _₽_-;_-* &quot;-&quot;??\ _₽_-;_-@_-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53098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16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Средняя длительность игровых сессий</a:t>
            </a:r>
            <a:endParaRPr lang="en-US" sz="1600" b="1" i="0" u="none" strike="noStrike" kern="1200" spc="0" baseline="0" dirty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'Длительность сессии'!$B$27</c:f>
              <c:strCache>
                <c:ptCount val="1"/>
                <c:pt idx="0">
                  <c:v>Средняя длительность сессии
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89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753-450F-A934-43279F4A12F5}"/>
              </c:ext>
            </c:extLst>
          </c:dPt>
          <c:dPt>
            <c:idx val="1"/>
            <c:invertIfNegative val="0"/>
            <c:bubble3D val="0"/>
            <c:spPr>
              <a:solidFill>
                <a:srgbClr val="71215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753-450F-A934-43279F4A12F5}"/>
              </c:ext>
            </c:extLst>
          </c:dPt>
          <c:cat>
            <c:strRef>
              <c:f>'Длительность сессии'!$A$28:$A$29</c:f>
              <c:strCache>
                <c:ptCount val="2"/>
                <c:pt idx="0">
                  <c:v>Ноябрь-декабрь_2022</c:v>
                </c:pt>
                <c:pt idx="1">
                  <c:v>Другие</c:v>
                </c:pt>
              </c:strCache>
            </c:strRef>
          </c:cat>
          <c:val>
            <c:numRef>
              <c:f>'Длительность сессии'!$B$28:$B$29</c:f>
              <c:numCache>
                <c:formatCode>General</c:formatCode>
                <c:ptCount val="2"/>
                <c:pt idx="0">
                  <c:v>217.14263322884011</c:v>
                </c:pt>
                <c:pt idx="1">
                  <c:v>177.06564902383718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53-450F-A934-43279F4A1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2556336"/>
        <c:axId val="1092563824"/>
      </c:barChart>
      <c:catAx>
        <c:axId val="109255633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Когорта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2563824"/>
        <c:crosses val="autoZero"/>
        <c:auto val="1"/>
        <c:lblAlgn val="ctr"/>
        <c:lblOffset val="100"/>
        <c:noMultiLvlLbl val="0"/>
      </c:catAx>
      <c:valAx>
        <c:axId val="1092563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минуты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2556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</a:t>
            </a:r>
            <a:r>
              <a:rPr lang="ru-RU" sz="1400" b="1" baseline="0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14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битых» сессий по </a:t>
            </a:r>
            <a:r>
              <a:rPr lang="ru-RU" sz="1400" b="1" i="0" u="none" strike="noStrike" baseline="0" dirty="0" smtClean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типу операционной системы</a:t>
            </a:r>
            <a:r>
              <a:rPr lang="ru-RU" sz="1400" b="1" dirty="0" smtClean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400" b="1" dirty="0">
              <a:solidFill>
                <a:srgbClr val="71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2337754224121493"/>
          <c:y val="1.637650867640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71215C"/>
            </a:solidFill>
          </c:spPr>
          <c:dPt>
            <c:idx val="0"/>
            <c:bubble3D val="0"/>
            <c:spPr>
              <a:solidFill>
                <a:srgbClr val="71215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A2D-472A-A1B2-2F16F230C7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A2D-472A-A1B2-2F16F230C71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2D-472A-A1B2-2F16F230C7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'Чистота данных'!$A$3:$A$4</c:f>
              <c:strCache>
                <c:ptCount val="2"/>
                <c:pt idx="0">
                  <c:v>ios</c:v>
                </c:pt>
                <c:pt idx="1">
                  <c:v>android</c:v>
                </c:pt>
              </c:strCache>
            </c:strRef>
          </c:cat>
          <c:val>
            <c:numRef>
              <c:f>'Чистота данных'!$E$3:$E$4</c:f>
              <c:numCache>
                <c:formatCode>0%</c:formatCode>
                <c:ptCount val="2"/>
                <c:pt idx="0">
                  <c:v>0.97608828939301095</c:v>
                </c:pt>
                <c:pt idx="1">
                  <c:v>2.39117106069896E-2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2D-472A-A1B2-2F16F230C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1" baseline="0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sz="1800" b="1" i="0" u="none" strike="noStrike" baseline="0" dirty="0" smtClean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«битых» </a:t>
            </a:r>
            <a:r>
              <a:rPr lang="ru-RU" sz="1800" b="1" i="0" u="none" strike="noStrike" baseline="0" dirty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сессий  относительно сессий всего по типу операционной системы   </a:t>
            </a:r>
            <a:endParaRPr lang="ru-RU" sz="1800" b="1" dirty="0">
              <a:solidFill>
                <a:srgbClr val="71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9824376178141132"/>
          <c:y val="2.89426207053144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233953699939161"/>
          <c:y val="0.22901162398666525"/>
          <c:w val="0.80356291779356182"/>
          <c:h val="0.64247021632084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'Чистота данных'!$B$1</c:f>
              <c:strCache>
                <c:ptCount val="1"/>
                <c:pt idx="0">
                  <c:v>Кол-во сессий всего</c:v>
                </c:pt>
              </c:strCache>
            </c:strRef>
          </c:tx>
          <c:spPr>
            <a:solidFill>
              <a:srgbClr val="71215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'Чистота данных'!$A$2:$A$4</c:f>
              <c:strCache>
                <c:ptCount val="3"/>
                <c:pt idx="0">
                  <c:v>all</c:v>
                </c:pt>
                <c:pt idx="1">
                  <c:v>ios</c:v>
                </c:pt>
                <c:pt idx="2">
                  <c:v>android</c:v>
                </c:pt>
              </c:strCache>
            </c:strRef>
          </c:cat>
          <c:val>
            <c:numRef>
              <c:f>'Чистота данных'!$B$2:$B$4</c:f>
              <c:numCache>
                <c:formatCode>#,##0</c:formatCode>
                <c:ptCount val="3"/>
                <c:pt idx="0">
                  <c:v>27161</c:v>
                </c:pt>
                <c:pt idx="1">
                  <c:v>16773</c:v>
                </c:pt>
                <c:pt idx="2">
                  <c:v>10388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5-4D9E-8880-2EB4BBFEFFF7}"/>
            </c:ext>
          </c:extLst>
        </c:ser>
        <c:ser>
          <c:idx val="1"/>
          <c:order val="1"/>
          <c:tx>
            <c:strRef>
              <c:f>'Чистота данных'!$C$1</c:f>
              <c:strCache>
                <c:ptCount val="1"/>
                <c:pt idx="0">
                  <c:v>Кол-во «битых» сессий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3.1960805482761762E-3"/>
                  <c:y val="-2.024174541223629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C25-4D9E-8880-2EB4BBFEF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'Чистота данных'!$A$2:$A$4</c:f>
              <c:strCache>
                <c:ptCount val="3"/>
                <c:pt idx="0">
                  <c:v>all</c:v>
                </c:pt>
                <c:pt idx="1">
                  <c:v>ios</c:v>
                </c:pt>
                <c:pt idx="2">
                  <c:v>android</c:v>
                </c:pt>
              </c:strCache>
            </c:strRef>
          </c:cat>
          <c:val>
            <c:numRef>
              <c:f>'Чистота данных'!$C$2:$C$4</c:f>
              <c:numCache>
                <c:formatCode>#,##0</c:formatCode>
                <c:ptCount val="3"/>
                <c:pt idx="0">
                  <c:v>3262</c:v>
                </c:pt>
                <c:pt idx="1">
                  <c:v>3184</c:v>
                </c:pt>
                <c:pt idx="2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25-4D9E-8880-2EB4BBFEF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94618127"/>
        <c:axId val="394620207"/>
      </c:barChart>
      <c:catAx>
        <c:axId val="394618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4620207"/>
        <c:crosses val="autoZero"/>
        <c:auto val="1"/>
        <c:lblAlgn val="ctr"/>
        <c:lblOffset val="100"/>
        <c:noMultiLvlLbl val="0"/>
      </c:catAx>
      <c:valAx>
        <c:axId val="39462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900"/>
                  <a:t>Кол-во сессий, шт.</a:t>
                </a:r>
              </a:p>
            </c:rich>
          </c:tx>
          <c:layout>
            <c:manualLayout>
              <c:xMode val="edge"/>
              <c:yMode val="edge"/>
              <c:x val="3.0669602990786526E-2"/>
              <c:y val="0.441068608163608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4618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Доля «битых» сессий от всего сессий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9043171404852214"/>
          <c:y val="0.23937253540802003"/>
          <c:w val="0.5151111549189541"/>
          <c:h val="0.6627996138843114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'Чистота данных'!$A$2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rgbClr val="71215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'Чистота данных'!$D$1</c:f>
              <c:strCache>
                <c:ptCount val="1"/>
                <c:pt idx="0">
                  <c:v>Доля «битых» сессий от всего сессий</c:v>
                </c:pt>
              </c:strCache>
            </c:strRef>
          </c:cat>
          <c:val>
            <c:numRef>
              <c:f>'Чистота данных'!$D$2</c:f>
              <c:numCache>
                <c:formatCode>_(* #,##0.00_);_(* \(#,##0.00\);_(* "-"??_);_(@_)</c:formatCode>
                <c:ptCount val="1"/>
                <c:pt idx="0">
                  <c:v>0.12009867088840617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30-4A42-B10D-64E6D6C2F51F}"/>
            </c:ext>
          </c:extLst>
        </c:ser>
        <c:ser>
          <c:idx val="1"/>
          <c:order val="1"/>
          <c:tx>
            <c:strRef>
              <c:f>'Чистота данных'!$A$3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'Чистота данных'!$D$1</c:f>
              <c:strCache>
                <c:ptCount val="1"/>
                <c:pt idx="0">
                  <c:v>Доля «битых» сессий от всего сессий</c:v>
                </c:pt>
              </c:strCache>
            </c:strRef>
          </c:cat>
          <c:val>
            <c:numRef>
              <c:f>'Чистота данных'!$D$3</c:f>
              <c:numCache>
                <c:formatCode>_(* #,##0.00_);_(* \(#,##0.00\);_(* "-"??_);_(@_)</c:formatCode>
                <c:ptCount val="1"/>
                <c:pt idx="0">
                  <c:v>0.18982889167113814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30-4A42-B10D-64E6D6C2F51F}"/>
            </c:ext>
          </c:extLst>
        </c:ser>
        <c:ser>
          <c:idx val="2"/>
          <c:order val="2"/>
          <c:tx>
            <c:strRef>
              <c:f>'Чистота данных'!$A$4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8314089173721419E-2"/>
                  <c:y val="-1.6832963798563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3147038440157787E-2"/>
                      <c:h val="0.118529996132142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330-4A42-B10D-64E6D6C2F5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'Чистота данных'!$D$1</c:f>
              <c:strCache>
                <c:ptCount val="1"/>
                <c:pt idx="0">
                  <c:v>Доля «битых» сессий от всего сессий</c:v>
                </c:pt>
              </c:strCache>
            </c:strRef>
          </c:cat>
          <c:val>
            <c:numRef>
              <c:f>'Чистота данных'!$D$4</c:f>
              <c:numCache>
                <c:formatCode>_(* #,##0.00_);_(* \(#,##0.00\);_(* "-"??_);_(@_)</c:formatCode>
                <c:ptCount val="1"/>
                <c:pt idx="0">
                  <c:v>7.5086638428956487E-3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30-4A42-B10D-64E6D6C2F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1914303"/>
        <c:axId val="301918047"/>
      </c:barChart>
      <c:catAx>
        <c:axId val="3019143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1918047"/>
        <c:crosses val="autoZero"/>
        <c:auto val="1"/>
        <c:lblAlgn val="ctr"/>
        <c:lblOffset val="100"/>
        <c:noMultiLvlLbl val="0"/>
      </c:catAx>
      <c:valAx>
        <c:axId val="30191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layout>
            <c:manualLayout>
              <c:xMode val="edge"/>
              <c:yMode val="edge"/>
              <c:x val="9.224462408381065E-2"/>
              <c:y val="0.473022664712762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1914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b="1" dirty="0">
                <a:solidFill>
                  <a:srgbClr val="71215C"/>
                </a:solidFill>
              </a:rPr>
              <a:t>Динамика суммарных клиентских выплат по типам продукта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074201797920807"/>
          <c:y val="0.21033154951910299"/>
          <c:w val="0.87255324739730789"/>
          <c:h val="0.49806940989069487"/>
        </c:manualLayout>
      </c:layout>
      <c:lineChart>
        <c:grouping val="standard"/>
        <c:varyColors val="0"/>
        <c:ser>
          <c:idx val="0"/>
          <c:order val="0"/>
          <c:tx>
            <c:strRef>
              <c:f>'Выручка по типам продукта'!$B$1</c:f>
              <c:strCache>
                <c:ptCount val="1"/>
                <c:pt idx="0">
                  <c:v> Ammo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'Выручка по типам продукта'!$A$2:$A$11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'Выручка по типам продукта'!$B$2:$B$11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2A-426F-B8FF-2D40FE92D72D}"/>
            </c:ext>
          </c:extLst>
        </c:ser>
        <c:ser>
          <c:idx val="1"/>
          <c:order val="1"/>
          <c:tx>
            <c:strRef>
              <c:f>'Выручка по типам продукта'!$C$1</c:f>
              <c:strCache>
                <c:ptCount val="1"/>
                <c:pt idx="0">
                  <c:v>Currency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'Выручка по типам продукта'!$A$2:$A$11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'Выручка по типам продукта'!$C$2:$C$11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2A-426F-B8FF-2D40FE92D72D}"/>
            </c:ext>
          </c:extLst>
        </c:ser>
        <c:ser>
          <c:idx val="2"/>
          <c:order val="2"/>
          <c:tx>
            <c:strRef>
              <c:f>'Выручка по типам продукта'!$D$1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cat>
            <c:numRef>
              <c:f>'Выручка по типам продукта'!$A$2:$A$11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'Выручка по типам продукта'!$D$2:$D$11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2A-426F-B8FF-2D40FE92D72D}"/>
            </c:ext>
          </c:extLst>
        </c:ser>
        <c:ser>
          <c:idx val="3"/>
          <c:order val="3"/>
          <c:tx>
            <c:strRef>
              <c:f>'Выручка по типам продукта'!$E$1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'Выручка по типам продукта'!$A$2:$A$11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'Выручка по типам продукта'!$E$2:$E$11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A2A-426F-B8FF-2D40FE92D72D}"/>
            </c:ext>
          </c:extLst>
        </c:ser>
        <c:ser>
          <c:idx val="4"/>
          <c:order val="4"/>
          <c:tx>
            <c:strRef>
              <c:f>'Выручка по типам продукта'!$F$1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'Выручка по типам продукта'!$A$2:$A$11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'Выручка по типам продукта'!$F$2:$F$11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A2A-426F-B8FF-2D40FE92D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2675199"/>
        <c:axId val="1482676031"/>
      </c:lineChart>
      <c:dateAx>
        <c:axId val="1482675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dd/mm/yyyy\ 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482676031"/>
        <c:crosses val="autoZero"/>
        <c:auto val="1"/>
        <c:lblOffset val="100"/>
        <c:baseTimeUnit val="months"/>
      </c:dateAx>
      <c:valAx>
        <c:axId val="148267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dirty="0" smtClean="0"/>
                  <a:t>Выручка,</a:t>
                </a:r>
                <a:r>
                  <a:rPr lang="ru-RU" baseline="0" dirty="0" smtClean="0"/>
                  <a:t> руб.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3327818919989187E-3"/>
              <c:y val="0.354487213432540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482675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1800" b="1" i="0" baseline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выручки и среднего количества приобретаемых кристаллов </a:t>
            </a:r>
            <a:endParaRPr lang="ru-RU" sz="1800" b="1">
              <a:solidFill>
                <a:srgbClr val="71215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6125445006005488"/>
          <c:y val="1.94983078802553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2624940780537094"/>
          <c:y val="0.15821484108550085"/>
          <c:w val="0.79856405498187211"/>
          <c:h val="0.58699630317763707"/>
        </c:manualLayout>
      </c:layout>
      <c:lineChart>
        <c:grouping val="standard"/>
        <c:varyColors val="0"/>
        <c:ser>
          <c:idx val="1"/>
          <c:order val="1"/>
          <c:tx>
            <c:strRef>
              <c:f>'Маркет.акция ЯНВ 2023'!$C$1</c:f>
              <c:strCache>
                <c:ptCount val="1"/>
                <c:pt idx="0">
                  <c:v>Выручка, руб.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6"/>
            <c:marker>
              <c:symbol val="circle"/>
              <c:size val="5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452-4FB5-84A3-0A0065E2FC34}"/>
              </c:ext>
            </c:extLst>
          </c:dPt>
          <c:cat>
            <c:numRef>
              <c:f>'Маркет.акция ЯНВ 2023'!$A$2:$A$11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'Маркет.акция ЯНВ 2023'!$C$2:$C$11</c:f>
              <c:numCache>
                <c:formatCode>General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52-4FB5-84A3-0A0065E2FC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283679"/>
        <c:axId val="223271615"/>
      </c:lineChart>
      <c:lineChart>
        <c:grouping val="standard"/>
        <c:varyColors val="0"/>
        <c:ser>
          <c:idx val="0"/>
          <c:order val="0"/>
          <c:tx>
            <c:strRef>
              <c:f>'Маркет.акция ЯНВ 2023'!$B$1</c:f>
              <c:strCache>
                <c:ptCount val="1"/>
                <c:pt idx="0">
                  <c:v>Среднее количество, шт.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dPt>
            <c:idx val="6"/>
            <c:marker>
              <c:symbol val="circle"/>
              <c:size val="5"/>
              <c:spPr>
                <a:solidFill>
                  <a:srgbClr val="FF0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452-4FB5-84A3-0A0065E2FC34}"/>
              </c:ext>
            </c:extLst>
          </c:dPt>
          <c:cat>
            <c:numRef>
              <c:f>'Маркет.акция ЯНВ 2023'!$A$2:$A$11</c:f>
              <c:numCache>
                <c:formatCode>dd/mm/yyyy\ 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'Маркет.акция ЯНВ 2023'!$B$2:$B$11</c:f>
              <c:numCache>
                <c:formatCode>0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52-4FB5-84A3-0A0065E2FC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8549503"/>
        <c:axId val="228549087"/>
      </c:lineChart>
      <c:dateAx>
        <c:axId val="2232836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>
            <c:manualLayout>
              <c:xMode val="edge"/>
              <c:yMode val="edge"/>
              <c:x val="0.44503968605002414"/>
              <c:y val="0.8531745172673311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dd/mm/yyyy\ 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3271615"/>
        <c:crosses val="autoZero"/>
        <c:auto val="1"/>
        <c:lblOffset val="100"/>
        <c:baseTimeUnit val="months"/>
      </c:dateAx>
      <c:valAx>
        <c:axId val="223271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Выручка, руб. </a:t>
                </a:r>
              </a:p>
            </c:rich>
          </c:tx>
          <c:layout>
            <c:manualLayout>
              <c:xMode val="edge"/>
              <c:yMode val="edge"/>
              <c:x val="1.6643699671647326E-2"/>
              <c:y val="0.401305882172317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3283679"/>
        <c:crosses val="autoZero"/>
        <c:crossBetween val="between"/>
      </c:valAx>
      <c:valAx>
        <c:axId val="2285490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Ср.</a:t>
                </a:r>
                <a:r>
                  <a:rPr lang="ru-RU" baseline="0"/>
                  <a:t> кол-во, шт.</a:t>
                </a:r>
                <a:endParaRPr lang="ru-RU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8549503"/>
        <c:crosses val="max"/>
        <c:crossBetween val="between"/>
      </c:valAx>
      <c:dateAx>
        <c:axId val="228549503"/>
        <c:scaling>
          <c:orientation val="minMax"/>
        </c:scaling>
        <c:delete val="1"/>
        <c:axPos val="b"/>
        <c:numFmt formatCode="dd/mm/yyyy\ " sourceLinked="1"/>
        <c:majorTickMark val="out"/>
        <c:minorTickMark val="none"/>
        <c:tickLblPos val="nextTo"/>
        <c:crossAx val="228549087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1800" b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выручка с человека </a:t>
            </a:r>
            <a:r>
              <a:rPr lang="ru-RU" sz="1800" b="1" i="0" u="none" strike="noStrike" baseline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 один месяц </a:t>
            </a:r>
            <a:r>
              <a:rPr lang="ru-RU" sz="1800" b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когортам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1"/>
          <c:tx>
            <c:strRef>
              <c:f>'Ср. выручка с1чел по когортам'!$F$1</c:f>
              <c:strCache>
                <c:ptCount val="1"/>
                <c:pt idx="0">
                  <c:v>Средняя выручка с человека за месяц, руб. </c:v>
                </c:pt>
              </c:strCache>
            </c:strRef>
          </c:tx>
          <c:spPr>
            <a:solidFill>
              <a:srgbClr val="008000"/>
            </a:solidFill>
            <a:ln>
              <a:noFill/>
            </a:ln>
            <a:effectLst/>
          </c:spPr>
          <c:invertIfNegative val="0"/>
          <c:cat>
            <c:numRef>
              <c:f>'Ср. выручка с1чел по когортам'!$A$2:$A$10</c:f>
              <c:numCache>
                <c:formatCode>dd/mm/yyyy\ 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'Ср. выручка с1чел по когортам'!$F$2:$F$10</c:f>
              <c:numCache>
                <c:formatCode>0</c:formatCode>
                <c:ptCount val="9"/>
                <c:pt idx="0">
                  <c:v>118.54647887323942</c:v>
                </c:pt>
                <c:pt idx="1">
                  <c:v>95.038011695906434</c:v>
                </c:pt>
                <c:pt idx="2">
                  <c:v>150.36933797909407</c:v>
                </c:pt>
                <c:pt idx="3">
                  <c:v>154.87356321839081</c:v>
                </c:pt>
                <c:pt idx="4">
                  <c:v>209.65974025974023</c:v>
                </c:pt>
                <c:pt idx="5">
                  <c:v>248.06325301204819</c:v>
                </c:pt>
                <c:pt idx="6">
                  <c:v>340.4199475065617</c:v>
                </c:pt>
                <c:pt idx="7">
                  <c:v>577.60887096774195</c:v>
                </c:pt>
                <c:pt idx="8">
                  <c:v>1067.9954337899544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8D-43F4-A049-DB6F5EA66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6885631"/>
        <c:axId val="226883135"/>
      </c:barChart>
      <c:lineChart>
        <c:grouping val="standard"/>
        <c:varyColors val="0"/>
        <c:ser>
          <c:idx val="1"/>
          <c:order val="0"/>
          <c:tx>
            <c:strRef>
              <c:f>'Ср. выручка с1чел по когортам'!$C$1</c:f>
              <c:strCache>
                <c:ptCount val="1"/>
                <c:pt idx="0">
                  <c:v>Выручка с когорты, руб.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'Ср. выручка с1чел по когортам'!$A$2:$A$10</c:f>
              <c:numCache>
                <c:formatCode>dd/mm/yyyy\ 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'Ср. выручка с1чел по когортам'!$C$2:$C$10</c:f>
              <c:numCache>
                <c:formatCode>_-* #,##0\ _₽_-;\-* #,##0\ _₽_-;_-* "-"??\ _₽_-;_-@_-</c:formatCode>
                <c:ptCount val="9"/>
                <c:pt idx="0">
                  <c:v>84168</c:v>
                </c:pt>
                <c:pt idx="1">
                  <c:v>65006</c:v>
                </c:pt>
                <c:pt idx="2">
                  <c:v>86312</c:v>
                </c:pt>
                <c:pt idx="3">
                  <c:v>80844</c:v>
                </c:pt>
                <c:pt idx="4">
                  <c:v>80719</c:v>
                </c:pt>
                <c:pt idx="5">
                  <c:v>82357</c:v>
                </c:pt>
                <c:pt idx="6">
                  <c:v>129700</c:v>
                </c:pt>
                <c:pt idx="7">
                  <c:v>143247</c:v>
                </c:pt>
                <c:pt idx="8">
                  <c:v>233891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58D-43F4-A049-DB6F5EA66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6469231"/>
        <c:axId val="157992799"/>
      </c:lineChart>
      <c:dateAx>
        <c:axId val="2268856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Когорта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dd/mm/yyyy\ 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6883135"/>
        <c:crosses val="autoZero"/>
        <c:auto val="1"/>
        <c:lblOffset val="100"/>
        <c:baseTimeUnit val="months"/>
      </c:dateAx>
      <c:valAx>
        <c:axId val="226883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Ср.</a:t>
                </a:r>
                <a:r>
                  <a:rPr lang="ru-RU" baseline="0" dirty="0" smtClean="0"/>
                  <a:t> выручка с чел./мес., руб.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6885631"/>
        <c:crosses val="autoZero"/>
        <c:crossBetween val="between"/>
      </c:valAx>
      <c:valAx>
        <c:axId val="15799279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Выручка с когорты, </a:t>
                </a:r>
                <a:r>
                  <a:rPr lang="ru-RU" dirty="0"/>
                  <a:t>руб.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-* #,##0\ _₽_-;\-* #,##0\ _₽_-;_-* &quot;-&quot;??\ _₽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6469231"/>
        <c:crosses val="max"/>
        <c:crossBetween val="between"/>
      </c:valAx>
      <c:dateAx>
        <c:axId val="236469231"/>
        <c:scaling>
          <c:orientation val="minMax"/>
        </c:scaling>
        <c:delete val="1"/>
        <c:axPos val="b"/>
        <c:numFmt formatCode="dd/mm/yyyy\ " sourceLinked="1"/>
        <c:majorTickMark val="out"/>
        <c:minorTickMark val="none"/>
        <c:tickLblPos val="nextTo"/>
        <c:crossAx val="157992799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600" dirty="0"/>
              <a:t>Кол-во </a:t>
            </a:r>
            <a:r>
              <a:rPr lang="ru-RU" sz="1600" dirty="0" smtClean="0"/>
              <a:t>пользователей</a:t>
            </a:r>
            <a:endParaRPr lang="ru-RU" sz="16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'Ср. выручка с1чел по когортам'!$B$1</c:f>
              <c:strCache>
                <c:ptCount val="1"/>
                <c:pt idx="0">
                  <c:v>Кол-во пользователей, чел.</c:v>
                </c:pt>
              </c:strCache>
            </c:strRef>
          </c:tx>
          <c:spPr>
            <a:ln w="19050" cap="rnd">
              <a:solidFill>
                <a:srgbClr val="71215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1215C"/>
              </a:solidFill>
              <a:ln w="9525">
                <a:noFill/>
              </a:ln>
              <a:effectLst/>
            </c:spPr>
          </c:marker>
          <c:xVal>
            <c:numRef>
              <c:f>'Ср. выручка с1чел по когортам'!$A$2:$A$10</c:f>
              <c:numCache>
                <c:formatCode>dd/mm/yyyy\ 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xVal>
          <c:yVal>
            <c:numRef>
              <c:f>'Ср. выручка с1чел по когортам'!$B$2:$B$10</c:f>
              <c:numCache>
                <c:formatCode>General</c:formatCode>
                <c:ptCount val="9"/>
                <c:pt idx="0">
                  <c:v>71</c:v>
                </c:pt>
                <c:pt idx="1">
                  <c:v>76</c:v>
                </c:pt>
                <c:pt idx="2">
                  <c:v>82</c:v>
                </c:pt>
                <c:pt idx="3">
                  <c:v>87</c:v>
                </c:pt>
                <c:pt idx="4">
                  <c:v>77</c:v>
                </c:pt>
                <c:pt idx="5">
                  <c:v>83</c:v>
                </c:pt>
                <c:pt idx="6">
                  <c:v>127</c:v>
                </c:pt>
                <c:pt idx="7">
                  <c:v>124</c:v>
                </c:pt>
                <c:pt idx="8">
                  <c:v>219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8E-4DB7-8B92-6BCCE49BB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672959"/>
        <c:axId val="188677119"/>
      </c:scatterChart>
      <c:valAx>
        <c:axId val="1886729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Когорта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dd/mm/yyyy\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677119"/>
        <c:crosses val="autoZero"/>
        <c:crossBetween val="midCat"/>
      </c:valAx>
      <c:valAx>
        <c:axId val="188677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 пользователей, чел.</a:t>
                </a:r>
              </a:p>
            </c:rich>
          </c:tx>
          <c:layout>
            <c:manualLayout>
              <c:xMode val="edge"/>
              <c:yMode val="edge"/>
              <c:x val="9.0317276770538642E-3"/>
              <c:y val="0.11730913411426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6729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</a:t>
            </a:r>
            <a:r>
              <a:rPr lang="en-US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LMAU</a:t>
            </a:r>
            <a:endParaRPr lang="ru-RU" sz="1800" b="1" i="0" u="none" strike="noStrike" kern="1200" spc="0" baseline="0" dirty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en-US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для критерия лояльности </a:t>
            </a:r>
            <a:r>
              <a:rPr lang="en-US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crit</a:t>
            </a:r>
            <a:r>
              <a:rPr lang="en-US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_invite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5378851696296569"/>
          <c:y val="0.20656246619653515"/>
          <c:w val="0.84621148303703431"/>
          <c:h val="0.56439372711953428"/>
        </c:manualLayout>
      </c:layout>
      <c:lineChart>
        <c:grouping val="standard"/>
        <c:varyColors val="0"/>
        <c:ser>
          <c:idx val="0"/>
          <c:order val="0"/>
          <c:tx>
            <c:strRef>
              <c:f>LMAU!$B$3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LMAU!$A$4:$A$13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LMAU!$B$4:$B$13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0D-4076-B8F1-1C9E52D21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6693615"/>
        <c:axId val="766694031"/>
      </c:lineChart>
      <c:dateAx>
        <c:axId val="766693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41748225744868145"/>
              <c:y val="0.923184452556552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94031"/>
        <c:crosses val="autoZero"/>
        <c:auto val="1"/>
        <c:lblOffset val="100"/>
        <c:baseTimeUnit val="months"/>
      </c:dateAx>
      <c:valAx>
        <c:axId val="766694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Кол-во лояльных</a:t>
                </a:r>
                <a:r>
                  <a:rPr lang="ru-RU" baseline="0" dirty="0" smtClean="0"/>
                  <a:t> активных</a:t>
                </a:r>
              </a:p>
              <a:p>
                <a:pPr>
                  <a:defRPr/>
                </a:pPr>
                <a:r>
                  <a:rPr lang="ru-RU" baseline="0" dirty="0" smtClean="0"/>
                  <a:t> пользователей, чел.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1.0128631627848553E-2"/>
              <c:y val="0.250919449911327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9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LMAU</a:t>
            </a:r>
          </a:p>
          <a:p>
            <a:pPr algn="ctr" rtl="0">
              <a:defRPr lang="ru-RU" sz="1800" b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для критерия лояльности crit_1000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800" b="1" i="0" u="none" strike="noStrike" kern="1200" spc="0" baseline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LMAU!$B$19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LMAU!$A$20:$A$29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LMAU!$B$20:$B$29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17-4604-9670-9C46271A1F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6676143"/>
        <c:axId val="766680303"/>
      </c:lineChart>
      <c:dateAx>
        <c:axId val="766676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80303"/>
        <c:crosses val="autoZero"/>
        <c:auto val="1"/>
        <c:lblOffset val="100"/>
        <c:baseTimeUnit val="months"/>
      </c:dateAx>
      <c:valAx>
        <c:axId val="76668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baseline="0" dirty="0" smtClean="0">
                    <a:effectLst/>
                  </a:rPr>
                  <a:t>Кол-во лояльных активных</a:t>
                </a:r>
                <a:endParaRPr lang="ru-RU" sz="1000" dirty="0" smtClean="0">
                  <a:effectLst/>
                </a:endParaRPr>
              </a:p>
              <a:p>
                <a:pPr>
                  <a:defRPr/>
                </a:pPr>
                <a:r>
                  <a:rPr lang="ru-RU" sz="1000" b="0" i="0" baseline="0" dirty="0" smtClean="0">
                    <a:effectLst/>
                  </a:rPr>
                  <a:t> пользователей, чел.</a:t>
                </a:r>
                <a:endParaRPr lang="ru-RU" sz="10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4.6663932968546307E-3"/>
              <c:y val="0.285205641943571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76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400" b="1" i="0" u="none" strike="noStrike" kern="1200" spc="0" baseline="0">
                <a:solidFill>
                  <a:srgbClr val="71215C"/>
                </a:solidFill>
                <a:latin typeface="+mn-lt"/>
                <a:ea typeface="+mn-ea"/>
                <a:cs typeface="+mn-cs"/>
              </a:defRPr>
            </a:pPr>
            <a:r>
              <a:rPr lang="ru-RU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LMAU для критерия лояльности </a:t>
            </a:r>
            <a:r>
              <a:rPr lang="en-US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crit_invite AND</a:t>
            </a:r>
            <a:r>
              <a:rPr lang="ru-RU" sz="1800" b="1" i="0" u="none" strike="noStrike" kern="1200" spc="0" baseline="0" dirty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crit_1000</a:t>
            </a:r>
          </a:p>
          <a:p>
            <a:pPr algn="ctr" rtl="0">
              <a:defRPr lang="ru-RU" b="1">
                <a:solidFill>
                  <a:srgbClr val="71215C"/>
                </a:solidFill>
              </a:defRPr>
            </a:pPr>
            <a:endParaRPr lang="ru-RU" sz="1400" b="1" i="0" u="none" strike="noStrike" kern="1200" spc="0" baseline="0" dirty="0">
              <a:solidFill>
                <a:srgbClr val="71215C"/>
              </a:solidFill>
              <a:latin typeface="+mn-lt"/>
              <a:ea typeface="+mn-ea"/>
              <a:cs typeface="+mn-cs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400" b="1" i="0" u="none" strike="noStrike" kern="1200" spc="0" baseline="0">
              <a:solidFill>
                <a:srgbClr val="71215C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LMAU!$B$34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LMAU!$A$35:$A$44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LMAU!$B$35:$B$44</c:f>
              <c:numCache>
                <c:formatCode>General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7C-41A4-A590-2C1E352D95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6655759"/>
        <c:axId val="766656175"/>
      </c:lineChart>
      <c:dateAx>
        <c:axId val="7666557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43732602803980419"/>
              <c:y val="0.943339964856951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56175"/>
        <c:crosses val="autoZero"/>
        <c:auto val="1"/>
        <c:lblOffset val="100"/>
        <c:baseTimeUnit val="months"/>
      </c:dateAx>
      <c:valAx>
        <c:axId val="76665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baseline="0" dirty="0" smtClean="0">
                    <a:effectLst/>
                  </a:rPr>
                  <a:t>Кол-во лояльных активных</a:t>
                </a:r>
                <a:endParaRPr lang="ru-RU" sz="1000" dirty="0" smtClean="0">
                  <a:effectLst/>
                </a:endParaRPr>
              </a:p>
              <a:p>
                <a:pPr>
                  <a:defRPr/>
                </a:pPr>
                <a:r>
                  <a:rPr lang="ru-RU" sz="1000" b="0" i="0" baseline="0" dirty="0" smtClean="0">
                    <a:effectLst/>
                  </a:rPr>
                  <a:t> пользователей, чел.</a:t>
                </a:r>
                <a:endParaRPr lang="ru-RU" sz="1000" dirty="0"/>
              </a:p>
            </c:rich>
          </c:tx>
          <c:layout>
            <c:manualLayout>
              <c:xMode val="edge"/>
              <c:yMode val="edge"/>
              <c:x val="0"/>
              <c:y val="0.310297138592457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557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Динамика LMAU</a:t>
            </a:r>
          </a:p>
          <a:p>
            <a:pPr algn="ctr" rtl="0">
              <a:defRPr lang="ru-RU" sz="1800" b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для критерия лояльности crit_invite OR crit_1000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800" b="1" i="0" u="none" strike="noStrike" kern="1200" spc="0" baseline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LMAU!$B$50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rnd">
              <a:solidFill>
                <a:srgbClr val="71215C"/>
              </a:solidFill>
              <a:round/>
            </a:ln>
            <a:effectLst/>
          </c:spPr>
          <c:marker>
            <c:symbol val="none"/>
          </c:marker>
          <c:cat>
            <c:numRef>
              <c:f>LMAU!$A$51:$A$60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LMAU!$B$51:$B$60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8C-4CB3-A367-08F7181E9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6634959"/>
        <c:axId val="766647439"/>
      </c:lineChart>
      <c:dateAx>
        <c:axId val="766634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Месяц</a:t>
                </a:r>
                <a:endParaRPr lang="ru-RU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47439"/>
        <c:crosses val="autoZero"/>
        <c:auto val="1"/>
        <c:lblOffset val="100"/>
        <c:baseTimeUnit val="months"/>
      </c:dateAx>
      <c:valAx>
        <c:axId val="76664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baseline="0" dirty="0" smtClean="0">
                    <a:effectLst/>
                  </a:rPr>
                  <a:t>Кол-во лояльных активных</a:t>
                </a:r>
                <a:endParaRPr lang="ru-RU" sz="1000" dirty="0" smtClean="0">
                  <a:effectLst/>
                </a:endParaRPr>
              </a:p>
              <a:p>
                <a:pPr>
                  <a:defRPr/>
                </a:pPr>
                <a:r>
                  <a:rPr lang="ru-RU" sz="1000" b="0" i="0" baseline="0" dirty="0" smtClean="0">
                    <a:effectLst/>
                  </a:rPr>
                  <a:t> пользователей, чел.</a:t>
                </a:r>
                <a:endParaRPr lang="ru-RU" sz="1000" dirty="0"/>
              </a:p>
            </c:rich>
          </c:tx>
          <c:layout>
            <c:manualLayout>
              <c:xMode val="edge"/>
              <c:yMode val="edge"/>
              <c:x val="2.318840579710145E-2"/>
              <c:y val="0.319932108229102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3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20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b="1" i="0" u="none" strike="noStrike" kern="1200" spc="0" baseline="0">
                <a:solidFill>
                  <a:srgbClr val="71215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Топ-100 пользователей по средним выплатам за один месяц своей жизни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2000" b="1" i="0" u="none" strike="noStrike" kern="1200" spc="0" baseline="0">
              <a:solidFill>
                <a:srgbClr val="71215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225860355948889E-2"/>
          <c:y val="0.18070684093362327"/>
          <c:w val="0.9145136364759695"/>
          <c:h val="0.783148530877396"/>
        </c:manualLayout>
      </c:layout>
      <c:scatterChart>
        <c:scatterStyle val="lineMarker"/>
        <c:varyColors val="0"/>
        <c:ser>
          <c:idx val="0"/>
          <c:order val="0"/>
          <c:tx>
            <c:strRef>
              <c:f>LMAU!$B$65</c:f>
              <c:strCache>
                <c:ptCount val="1"/>
                <c:pt idx="0">
                  <c:v>rpu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1215C"/>
              </a:solidFill>
              <a:ln w="9525">
                <a:solidFill>
                  <a:srgbClr val="71215C"/>
                </a:solidFill>
              </a:ln>
              <a:effectLst/>
            </c:spPr>
          </c:marker>
          <c:dLbls>
            <c:dLbl>
              <c:idx val="0"/>
              <c:layout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5EAC-4295-ADD0-42ED6236E5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71215C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LMAU!$A$66:$A$165</c:f>
              <c:numCache>
                <c:formatCode>General</c:formatCode>
                <c:ptCount val="100"/>
                <c:pt idx="0">
                  <c:v>2901537</c:v>
                </c:pt>
                <c:pt idx="1">
                  <c:v>2902123</c:v>
                </c:pt>
                <c:pt idx="2">
                  <c:v>2902643</c:v>
                </c:pt>
                <c:pt idx="3">
                  <c:v>2903744</c:v>
                </c:pt>
                <c:pt idx="4">
                  <c:v>2902639</c:v>
                </c:pt>
                <c:pt idx="5">
                  <c:v>2902735</c:v>
                </c:pt>
                <c:pt idx="6">
                  <c:v>2902041</c:v>
                </c:pt>
                <c:pt idx="7">
                  <c:v>2903371</c:v>
                </c:pt>
                <c:pt idx="8">
                  <c:v>2901829</c:v>
                </c:pt>
                <c:pt idx="9">
                  <c:v>2903432</c:v>
                </c:pt>
                <c:pt idx="10">
                  <c:v>2901445</c:v>
                </c:pt>
                <c:pt idx="11">
                  <c:v>2903925</c:v>
                </c:pt>
                <c:pt idx="12">
                  <c:v>2901335</c:v>
                </c:pt>
                <c:pt idx="13">
                  <c:v>2902459</c:v>
                </c:pt>
                <c:pt idx="14">
                  <c:v>2904079</c:v>
                </c:pt>
                <c:pt idx="15">
                  <c:v>2903618</c:v>
                </c:pt>
                <c:pt idx="16">
                  <c:v>2901681</c:v>
                </c:pt>
                <c:pt idx="17">
                  <c:v>2901252</c:v>
                </c:pt>
                <c:pt idx="18">
                  <c:v>2903898</c:v>
                </c:pt>
                <c:pt idx="19">
                  <c:v>2902995</c:v>
                </c:pt>
                <c:pt idx="20">
                  <c:v>2903310</c:v>
                </c:pt>
                <c:pt idx="21">
                  <c:v>2902131</c:v>
                </c:pt>
                <c:pt idx="22">
                  <c:v>2904047</c:v>
                </c:pt>
                <c:pt idx="23">
                  <c:v>2903317</c:v>
                </c:pt>
                <c:pt idx="24">
                  <c:v>2902538</c:v>
                </c:pt>
                <c:pt idx="25">
                  <c:v>2903300</c:v>
                </c:pt>
                <c:pt idx="26">
                  <c:v>2904013</c:v>
                </c:pt>
                <c:pt idx="27">
                  <c:v>2901421</c:v>
                </c:pt>
                <c:pt idx="28">
                  <c:v>2904022</c:v>
                </c:pt>
                <c:pt idx="29">
                  <c:v>2903100</c:v>
                </c:pt>
                <c:pt idx="30">
                  <c:v>2901530</c:v>
                </c:pt>
                <c:pt idx="31">
                  <c:v>2902221</c:v>
                </c:pt>
                <c:pt idx="32">
                  <c:v>2903552</c:v>
                </c:pt>
                <c:pt idx="33">
                  <c:v>2901164</c:v>
                </c:pt>
                <c:pt idx="34">
                  <c:v>2903218</c:v>
                </c:pt>
                <c:pt idx="35">
                  <c:v>2902542</c:v>
                </c:pt>
                <c:pt idx="36">
                  <c:v>2901032</c:v>
                </c:pt>
                <c:pt idx="37">
                  <c:v>2903047</c:v>
                </c:pt>
                <c:pt idx="38">
                  <c:v>2903097</c:v>
                </c:pt>
                <c:pt idx="39">
                  <c:v>2901991</c:v>
                </c:pt>
                <c:pt idx="40">
                  <c:v>2901730</c:v>
                </c:pt>
                <c:pt idx="41">
                  <c:v>2902887</c:v>
                </c:pt>
                <c:pt idx="42">
                  <c:v>2903083</c:v>
                </c:pt>
                <c:pt idx="43">
                  <c:v>2902190</c:v>
                </c:pt>
                <c:pt idx="44">
                  <c:v>2902436</c:v>
                </c:pt>
                <c:pt idx="45">
                  <c:v>2902888</c:v>
                </c:pt>
                <c:pt idx="46">
                  <c:v>2902797</c:v>
                </c:pt>
                <c:pt idx="47">
                  <c:v>2903559</c:v>
                </c:pt>
                <c:pt idx="48">
                  <c:v>2904008</c:v>
                </c:pt>
                <c:pt idx="49">
                  <c:v>2901676</c:v>
                </c:pt>
                <c:pt idx="50">
                  <c:v>2901881</c:v>
                </c:pt>
                <c:pt idx="51">
                  <c:v>2902073</c:v>
                </c:pt>
                <c:pt idx="52">
                  <c:v>2902481</c:v>
                </c:pt>
                <c:pt idx="53">
                  <c:v>2901364</c:v>
                </c:pt>
                <c:pt idx="54">
                  <c:v>2902600</c:v>
                </c:pt>
                <c:pt idx="55">
                  <c:v>2902455</c:v>
                </c:pt>
                <c:pt idx="56">
                  <c:v>2903271</c:v>
                </c:pt>
                <c:pt idx="57">
                  <c:v>2902331</c:v>
                </c:pt>
                <c:pt idx="58">
                  <c:v>2901222</c:v>
                </c:pt>
                <c:pt idx="59">
                  <c:v>2903384</c:v>
                </c:pt>
                <c:pt idx="60">
                  <c:v>2902965</c:v>
                </c:pt>
                <c:pt idx="61">
                  <c:v>2901186</c:v>
                </c:pt>
                <c:pt idx="62">
                  <c:v>2901173</c:v>
                </c:pt>
                <c:pt idx="63">
                  <c:v>2903458</c:v>
                </c:pt>
                <c:pt idx="64">
                  <c:v>2902568</c:v>
                </c:pt>
                <c:pt idx="65">
                  <c:v>2901923</c:v>
                </c:pt>
                <c:pt idx="66">
                  <c:v>2903692</c:v>
                </c:pt>
                <c:pt idx="67">
                  <c:v>2902977</c:v>
                </c:pt>
                <c:pt idx="68">
                  <c:v>2903248</c:v>
                </c:pt>
                <c:pt idx="69">
                  <c:v>2901133</c:v>
                </c:pt>
                <c:pt idx="70">
                  <c:v>2903653</c:v>
                </c:pt>
                <c:pt idx="71">
                  <c:v>2902509</c:v>
                </c:pt>
                <c:pt idx="72">
                  <c:v>2903751</c:v>
                </c:pt>
                <c:pt idx="73">
                  <c:v>2903442</c:v>
                </c:pt>
                <c:pt idx="74">
                  <c:v>2903204</c:v>
                </c:pt>
                <c:pt idx="75">
                  <c:v>2901686</c:v>
                </c:pt>
                <c:pt idx="76">
                  <c:v>2901556</c:v>
                </c:pt>
                <c:pt idx="77">
                  <c:v>2901066</c:v>
                </c:pt>
                <c:pt idx="78">
                  <c:v>2902749</c:v>
                </c:pt>
                <c:pt idx="79">
                  <c:v>2901645</c:v>
                </c:pt>
                <c:pt idx="80">
                  <c:v>2902236</c:v>
                </c:pt>
                <c:pt idx="81">
                  <c:v>2902269</c:v>
                </c:pt>
                <c:pt idx="82">
                  <c:v>2901095</c:v>
                </c:pt>
                <c:pt idx="83">
                  <c:v>2902420</c:v>
                </c:pt>
                <c:pt idx="84">
                  <c:v>2903162</c:v>
                </c:pt>
                <c:pt idx="85">
                  <c:v>2901586</c:v>
                </c:pt>
                <c:pt idx="86">
                  <c:v>2902182</c:v>
                </c:pt>
                <c:pt idx="87">
                  <c:v>2901411</c:v>
                </c:pt>
                <c:pt idx="88">
                  <c:v>2903671</c:v>
                </c:pt>
                <c:pt idx="89">
                  <c:v>2903386</c:v>
                </c:pt>
                <c:pt idx="90">
                  <c:v>2902897</c:v>
                </c:pt>
                <c:pt idx="91">
                  <c:v>2903396</c:v>
                </c:pt>
                <c:pt idx="92">
                  <c:v>2903415</c:v>
                </c:pt>
                <c:pt idx="93">
                  <c:v>2902120</c:v>
                </c:pt>
                <c:pt idx="94">
                  <c:v>2901953</c:v>
                </c:pt>
                <c:pt idx="95">
                  <c:v>2902348</c:v>
                </c:pt>
                <c:pt idx="96">
                  <c:v>2901656</c:v>
                </c:pt>
                <c:pt idx="97">
                  <c:v>2901132</c:v>
                </c:pt>
                <c:pt idx="98">
                  <c:v>2901265</c:v>
                </c:pt>
                <c:pt idx="99">
                  <c:v>2901679</c:v>
                </c:pt>
              </c:numCache>
            </c:numRef>
          </c:xVal>
          <c:yVal>
            <c:numRef>
              <c:f>LMAU!$B$66:$B$165</c:f>
              <c:numCache>
                <c:formatCode>General</c:formatCode>
                <c:ptCount val="100"/>
                <c:pt idx="0">
                  <c:v>5600</c:v>
                </c:pt>
                <c:pt idx="1">
                  <c:v>5000</c:v>
                </c:pt>
                <c:pt idx="2">
                  <c:v>5000</c:v>
                </c:pt>
                <c:pt idx="3">
                  <c:v>4800</c:v>
                </c:pt>
                <c:pt idx="4">
                  <c:v>4200</c:v>
                </c:pt>
                <c:pt idx="5">
                  <c:v>4200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3200</c:v>
                </c:pt>
                <c:pt idx="12">
                  <c:v>3200</c:v>
                </c:pt>
                <c:pt idx="13">
                  <c:v>3000</c:v>
                </c:pt>
                <c:pt idx="14">
                  <c:v>3000</c:v>
                </c:pt>
                <c:pt idx="15">
                  <c:v>3000</c:v>
                </c:pt>
                <c:pt idx="16">
                  <c:v>3000</c:v>
                </c:pt>
                <c:pt idx="17">
                  <c:v>2800</c:v>
                </c:pt>
                <c:pt idx="18">
                  <c:v>2800</c:v>
                </c:pt>
                <c:pt idx="19">
                  <c:v>2800</c:v>
                </c:pt>
                <c:pt idx="20">
                  <c:v>2800</c:v>
                </c:pt>
                <c:pt idx="21">
                  <c:v>2800</c:v>
                </c:pt>
                <c:pt idx="22">
                  <c:v>2800</c:v>
                </c:pt>
                <c:pt idx="23">
                  <c:v>2800</c:v>
                </c:pt>
                <c:pt idx="24">
                  <c:v>2800</c:v>
                </c:pt>
                <c:pt idx="25">
                  <c:v>2800</c:v>
                </c:pt>
                <c:pt idx="26">
                  <c:v>2800</c:v>
                </c:pt>
                <c:pt idx="27">
                  <c:v>2800</c:v>
                </c:pt>
                <c:pt idx="28">
                  <c:v>2495</c:v>
                </c:pt>
                <c:pt idx="29">
                  <c:v>2495</c:v>
                </c:pt>
                <c:pt idx="30">
                  <c:v>2400</c:v>
                </c:pt>
                <c:pt idx="31">
                  <c:v>2400</c:v>
                </c:pt>
                <c:pt idx="32">
                  <c:v>2400</c:v>
                </c:pt>
                <c:pt idx="33">
                  <c:v>2400</c:v>
                </c:pt>
                <c:pt idx="34">
                  <c:v>2400</c:v>
                </c:pt>
                <c:pt idx="35">
                  <c:v>2100</c:v>
                </c:pt>
                <c:pt idx="36">
                  <c:v>2100</c:v>
                </c:pt>
                <c:pt idx="37">
                  <c:v>2100</c:v>
                </c:pt>
                <c:pt idx="38">
                  <c:v>2100</c:v>
                </c:pt>
                <c:pt idx="39">
                  <c:v>2000</c:v>
                </c:pt>
                <c:pt idx="40">
                  <c:v>2000</c:v>
                </c:pt>
                <c:pt idx="41">
                  <c:v>2000</c:v>
                </c:pt>
                <c:pt idx="42">
                  <c:v>2000</c:v>
                </c:pt>
                <c:pt idx="43">
                  <c:v>2000</c:v>
                </c:pt>
                <c:pt idx="44">
                  <c:v>2000</c:v>
                </c:pt>
                <c:pt idx="45">
                  <c:v>2000</c:v>
                </c:pt>
                <c:pt idx="46">
                  <c:v>2000</c:v>
                </c:pt>
                <c:pt idx="47">
                  <c:v>2000</c:v>
                </c:pt>
                <c:pt idx="48">
                  <c:v>2000</c:v>
                </c:pt>
                <c:pt idx="49">
                  <c:v>2000</c:v>
                </c:pt>
                <c:pt idx="50">
                  <c:v>2000</c:v>
                </c:pt>
                <c:pt idx="51">
                  <c:v>2000</c:v>
                </c:pt>
                <c:pt idx="52">
                  <c:v>2000</c:v>
                </c:pt>
                <c:pt idx="53">
                  <c:v>2000</c:v>
                </c:pt>
                <c:pt idx="54">
                  <c:v>2000</c:v>
                </c:pt>
                <c:pt idx="55">
                  <c:v>2000</c:v>
                </c:pt>
                <c:pt idx="56">
                  <c:v>2000</c:v>
                </c:pt>
                <c:pt idx="57">
                  <c:v>2000</c:v>
                </c:pt>
                <c:pt idx="58">
                  <c:v>1996</c:v>
                </c:pt>
                <c:pt idx="59">
                  <c:v>1866.6666666666667</c:v>
                </c:pt>
                <c:pt idx="60">
                  <c:v>1800</c:v>
                </c:pt>
                <c:pt idx="61">
                  <c:v>1600</c:v>
                </c:pt>
                <c:pt idx="62">
                  <c:v>1600</c:v>
                </c:pt>
                <c:pt idx="63">
                  <c:v>1600</c:v>
                </c:pt>
                <c:pt idx="64">
                  <c:v>1600</c:v>
                </c:pt>
                <c:pt idx="65">
                  <c:v>1600</c:v>
                </c:pt>
                <c:pt idx="66">
                  <c:v>1600</c:v>
                </c:pt>
                <c:pt idx="67">
                  <c:v>1600</c:v>
                </c:pt>
                <c:pt idx="68">
                  <c:v>1600</c:v>
                </c:pt>
                <c:pt idx="69">
                  <c:v>1600</c:v>
                </c:pt>
                <c:pt idx="70">
                  <c:v>1600</c:v>
                </c:pt>
                <c:pt idx="71">
                  <c:v>1600</c:v>
                </c:pt>
                <c:pt idx="72">
                  <c:v>1600</c:v>
                </c:pt>
                <c:pt idx="73">
                  <c:v>1600</c:v>
                </c:pt>
                <c:pt idx="74">
                  <c:v>1500</c:v>
                </c:pt>
                <c:pt idx="75">
                  <c:v>1500</c:v>
                </c:pt>
                <c:pt idx="76">
                  <c:v>1500</c:v>
                </c:pt>
                <c:pt idx="77">
                  <c:v>1500</c:v>
                </c:pt>
                <c:pt idx="78">
                  <c:v>1497</c:v>
                </c:pt>
                <c:pt idx="79">
                  <c:v>1497</c:v>
                </c:pt>
                <c:pt idx="80">
                  <c:v>1400</c:v>
                </c:pt>
                <c:pt idx="81">
                  <c:v>1400</c:v>
                </c:pt>
                <c:pt idx="82">
                  <c:v>1400</c:v>
                </c:pt>
                <c:pt idx="83">
                  <c:v>1400</c:v>
                </c:pt>
                <c:pt idx="84">
                  <c:v>1400</c:v>
                </c:pt>
                <c:pt idx="85">
                  <c:v>1400</c:v>
                </c:pt>
                <c:pt idx="86">
                  <c:v>1400</c:v>
                </c:pt>
                <c:pt idx="87">
                  <c:v>1400</c:v>
                </c:pt>
                <c:pt idx="88">
                  <c:v>1400</c:v>
                </c:pt>
                <c:pt idx="89">
                  <c:v>1400</c:v>
                </c:pt>
                <c:pt idx="90">
                  <c:v>1400</c:v>
                </c:pt>
                <c:pt idx="91">
                  <c:v>1400</c:v>
                </c:pt>
                <c:pt idx="92">
                  <c:v>1400</c:v>
                </c:pt>
                <c:pt idx="93">
                  <c:v>1400</c:v>
                </c:pt>
                <c:pt idx="94">
                  <c:v>1400</c:v>
                </c:pt>
                <c:pt idx="95">
                  <c:v>1400</c:v>
                </c:pt>
                <c:pt idx="96">
                  <c:v>1400</c:v>
                </c:pt>
                <c:pt idx="97">
                  <c:v>1400</c:v>
                </c:pt>
                <c:pt idx="98">
                  <c:v>1400</c:v>
                </c:pt>
                <c:pt idx="99">
                  <c:v>1400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AC-4295-ADD0-42ED6236E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6681551"/>
        <c:axId val="766664911"/>
      </c:scatterChart>
      <c:valAx>
        <c:axId val="76668155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66664911"/>
        <c:crosses val="autoZero"/>
        <c:crossBetween val="midCat"/>
      </c:valAx>
      <c:valAx>
        <c:axId val="766664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Средняя выплата за месяц, руб.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1.0576148010017496E-2"/>
              <c:y val="0.349293200463230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681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60D62BE-2249-43E9-ACFC-9A1E45AEBE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85EBA1-2475-4D83-B553-36225D7424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8C196-DA73-4A65-A99E-179246111B2E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320B46-4868-44FA-B355-056E598778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2226E9-C082-4BCE-A631-F6274FD94E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784C9-0000-4056-9659-72BBE2301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82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6FD8-D575-4668-B407-310C6FB55A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FB6EC-DDA5-4D2B-A68A-757D400047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1911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1BF97-9715-4478-BBB2-D3159D944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71BC2A-2293-44DC-A51A-D1E2538CE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8E653-70D1-4458-85C6-0A89917C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F754D-A088-4690-ADC5-12D4F320EFF0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FFB610-4419-410A-A0FE-EFAC977E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2828D-5D3B-46A2-84D4-EEBAC875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3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CD530-2EAE-426B-889A-362190E2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AEEA1C-D3C8-44A4-9C70-E771FB2CE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F32D70-87B8-47F1-A065-304597A3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33-1027-40AB-A79B-550030EE8134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49193-9341-438B-8A1E-1F617C5D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F3720-2E8C-4120-836F-B77F12D2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85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B2E9F-DDD4-4728-96C8-479B724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D1D51E-EDBF-4462-A326-A099FEEA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C7BE8-8C7E-4F47-AE5B-1F503640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23E2-7085-4905-9330-8D6F73A1DDFD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C08F54-7F65-41E4-8726-E5C5B476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CC13B-D8F9-48E9-BD03-6C7790AD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95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12F66-0D9C-49D8-9199-1B907912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E8584-E504-4B2E-B319-7BD3387A9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B3B363-CFDA-4F5E-B64E-9BE1D556C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D77171-AD29-4BA7-9AC8-D2157E84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8708C-A16B-43AD-9186-844CEF1DFF50}" type="datetime1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8784E-3D09-49DD-8BDC-E32B370A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E416A4-3B65-4860-9125-90C97E6E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49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7AB66-9835-442E-8AEC-C9C3E1CD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91A4AC-9D49-4800-89C0-0F9971398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5024BC-6DAB-4E98-820C-4C9989AF4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DD9610-C478-4E47-B0CF-9A7584B5F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07ED1D-D675-468F-B619-2E791A8F0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71901C-6C4B-4338-BFD8-2164C635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44C1-1815-42F5-903A-4BBD5CFC3672}" type="datetime1">
              <a:rPr lang="ru-RU" smtClean="0"/>
              <a:t>06.11.2025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89288-8C5D-4A98-982D-AF6BBB64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4C19A8-155D-4B77-A7BA-C3F8CF8F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91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9F3B-0966-4F0A-802A-0A4CE775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FD9E1A-6F85-484C-8CF5-BB2C8B32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6E-0627-4852-A17D-F6AD14FA7B1A}" type="datetime1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B318F8-F2DD-44A1-B3FB-92EC4F10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8ADA1C-3F3C-41E7-9B9F-7972AF9E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93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A14681-37AC-4A4C-A514-CFA8328D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9C97-73E5-4834-BA88-26E57F6A7B68}" type="datetime1">
              <a:rPr lang="ru-RU" smtClean="0"/>
              <a:t>06.11.2025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0E66F9-2B53-4403-99CE-811C4258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23BF80-6017-4F22-87F8-A22FF461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75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922A6-8939-4A4F-9262-8B0C48F4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75A97A-3326-4F34-8FFE-B810D57A9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009FD1-0C4B-4F4F-978B-67A1D71BA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C99AB-FA25-4B37-96CB-562592F6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161-ABB7-4BCE-806D-3C975D0B7BAE}" type="datetime1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CA45FD-7C87-4E8A-AD0C-1F1F81277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DF59B8-01AA-4158-BE82-8197EB3D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6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D0C3D-988A-4772-9FA0-2DD059DB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C8C480-4FEA-4C28-BCD4-9C178AC07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2B516C-60D3-4160-A9CD-D03776945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F9E974-44B0-411C-A657-6C66C94D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24BA-892A-453D-A6F7-47C377C837E7}" type="datetime1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2EED9C-C87E-4770-ACD3-38F0F67F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1A184-DB64-46D9-A3EB-F725846D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71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4BBC9-10F7-49BC-BB85-05C98F7A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95021D-0FE9-4DD4-AFEF-AE1BF7C6E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FD7C3-2C5E-4930-9958-C02A8AE7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32F1-859C-4FD4-93DD-7F6056F49C1A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93686-6BFC-4D00-B37B-A80CC18F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2920A8-7422-4C7C-A6BA-A83DB9AF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28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699179-795E-4F16-AFEA-E88A9C756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37B997-8A04-469B-97A8-79BF103F1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6B8483-03D8-4781-9C82-5DB4F9CD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F3BA-EAA8-4DEF-BD78-C1097F1943AD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A15BA3-8985-4837-97D1-E8944FE8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7F1405-908F-4B96-87B2-CB8AE2A4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30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5D661-A55A-44B4-89BE-63DF94D5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6C7561-29F5-42C2-90AB-95B7440E9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CAE801-14FA-47EE-AF4C-F1F7D3396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FAC50-7C7E-4321-B619-055B9A604732}" type="datetime1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C424CA-0D23-4A85-B640-DE90E9AF2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514A6D-EA52-410C-9781-027A36770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78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878774" y="1666089"/>
            <a:ext cx="1090889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5C2C03C-46E7-4B57-9F7B-D45218F2780E}"/>
              </a:ext>
            </a:extLst>
          </p:cNvPr>
          <p:cNvCxnSpPr>
            <a:cxnSpLocks/>
          </p:cNvCxnSpPr>
          <p:nvPr/>
        </p:nvCxnSpPr>
        <p:spPr>
          <a:xfrm flipV="1">
            <a:off x="9750585" y="484634"/>
            <a:ext cx="0" cy="60011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1347763" y="404205"/>
            <a:ext cx="74556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мобильной игры </a:t>
            </a:r>
          </a:p>
          <a:p>
            <a:r>
              <a:rPr lang="en-US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Zombie Revolution</a:t>
            </a:r>
            <a:endParaRPr lang="ru-RU" sz="3800" b="1" dirty="0">
              <a:solidFill>
                <a:srgbClr val="5251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9895374" y="1959819"/>
            <a:ext cx="2044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dirty="0">
                <a:solidFill>
                  <a:srgbClr val="71215C"/>
                </a:solidFill>
                <a:latin typeface="Sylfaen" panose="010A0502050306030303" pitchFamily="18" charset="0"/>
              </a:rPr>
              <a:t>Курсовая работа</a:t>
            </a:r>
            <a:r>
              <a:rPr lang="en-US" sz="1500" b="1" dirty="0">
                <a:solidFill>
                  <a:srgbClr val="71215C"/>
                </a:solidFill>
                <a:latin typeface="Sylfaen" panose="010A0502050306030303" pitchFamily="18" charset="0"/>
              </a:rPr>
              <a:t> SQL</a:t>
            </a:r>
            <a:endParaRPr lang="ru-RU" sz="1500" b="1" dirty="0">
              <a:solidFill>
                <a:srgbClr val="71215C"/>
              </a:solidFill>
              <a:latin typeface="Sylfaen" panose="010A0502050306030303" pitchFamily="18" charset="0"/>
            </a:endParaRPr>
          </a:p>
          <a:p>
            <a:pPr algn="r"/>
            <a:r>
              <a:rPr lang="ru-RU" sz="1100" b="1" dirty="0">
                <a:solidFill>
                  <a:srgbClr val="71215C"/>
                </a:solidFill>
                <a:latin typeface="Sylfaen" panose="010A0502050306030303" pitchFamily="18" charset="0"/>
              </a:rPr>
              <a:t>на базе Технических заданий</a:t>
            </a:r>
            <a:endParaRPr lang="en-US" sz="1100" b="1" dirty="0">
              <a:solidFill>
                <a:srgbClr val="71215C"/>
              </a:solidFill>
              <a:latin typeface="Sylfaen" panose="010A0502050306030303" pitchFamily="18" charset="0"/>
            </a:endParaRPr>
          </a:p>
          <a:p>
            <a:pPr algn="r"/>
            <a:endParaRPr lang="ru-RU" sz="1500" b="1" dirty="0">
              <a:solidFill>
                <a:srgbClr val="71215C"/>
              </a:solidFill>
              <a:latin typeface="Sylfaen" panose="010A0502050306030303" pitchFamily="18" charset="0"/>
            </a:endParaRPr>
          </a:p>
          <a:p>
            <a:pPr algn="r"/>
            <a:r>
              <a:rPr lang="ru-RU" sz="1500" b="1" dirty="0">
                <a:solidFill>
                  <a:srgbClr val="71215C"/>
                </a:solidFill>
                <a:latin typeface="Sylfaen" panose="010A0502050306030303" pitchFamily="18" charset="0"/>
              </a:rPr>
              <a:t>Фунтова О.Н.</a:t>
            </a:r>
          </a:p>
        </p:txBody>
      </p:sp>
      <p:graphicFrame>
        <p:nvGraphicFramePr>
          <p:cNvPr id="22" name="Таблица 22">
            <a:extLst>
              <a:ext uri="{FF2B5EF4-FFF2-40B4-BE49-F238E27FC236}">
                <a16:creationId xmlns:a16="http://schemas.microsoft.com/office/drawing/2014/main" id="{BAD2E598-5A31-4FE1-BFCA-A9D586417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706513"/>
              </p:ext>
            </p:extLst>
          </p:nvPr>
        </p:nvGraphicFramePr>
        <p:xfrm>
          <a:off x="1285755" y="1905635"/>
          <a:ext cx="7106721" cy="481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550">
                  <a:extLst>
                    <a:ext uri="{9D8B030D-6E8A-4147-A177-3AD203B41FA5}">
                      <a16:colId xmlns:a16="http://schemas.microsoft.com/office/drawing/2014/main" val="713448914"/>
                    </a:ext>
                  </a:extLst>
                </a:gridCol>
                <a:gridCol w="6515171">
                  <a:extLst>
                    <a:ext uri="{9D8B030D-6E8A-4147-A177-3AD203B41FA5}">
                      <a16:colId xmlns:a16="http://schemas.microsoft.com/office/drawing/2014/main" val="23422212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Базовые метрики и когортный анализ игры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ru-RU" dirty="0"/>
                        <a:t>Анализ инцидентов с 1 по 7сентября 2022 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284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ru-RU" sz="2000" dirty="0">
                        <a:solidFill>
                          <a:srgbClr val="666633"/>
                        </a:solidFill>
                        <a:latin typeface="Sylfaen" panose="010A050205030603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Анализ пользовательской базы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«Вирусность» игры и прогноз размера когорты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Анализ игровых сессий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  <a:ea typeface="+mn-ea"/>
                          <a:cs typeface="+mn-cs"/>
                        </a:rPr>
                        <a:t>Маркетинговая аналитика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  <a:ea typeface="+mn-ea"/>
                          <a:cs typeface="+mn-cs"/>
                        </a:rPr>
                        <a:t>Аналитика активности пользователей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  <a:ea typeface="+mn-ea"/>
                          <a:cs typeface="+mn-cs"/>
                        </a:rPr>
                        <a:t>Чистота данных (</a:t>
                      </a:r>
                      <a:r>
                        <a:rPr lang="en-US" sz="2000" kern="12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  <a:ea typeface="+mn-ea"/>
                          <a:cs typeface="+mn-cs"/>
                        </a:rPr>
                        <a:t>Data Quality) </a:t>
                      </a:r>
                      <a:endParaRPr lang="ru-RU" sz="2000" kern="1200" dirty="0">
                        <a:solidFill>
                          <a:srgbClr val="666633"/>
                        </a:solidFill>
                        <a:latin typeface="Sylfaen" panose="010A05020503060303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405108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Маркетинговые и финансовые метрики игры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ru-RU" dirty="0"/>
                        <a:t>Анализ маркетинговых активностей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8826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rgbClr val="666633"/>
                        </a:solidFill>
                        <a:latin typeface="Sylfaen" panose="010A050205030603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Анализ динамики выручки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Анализ повышения цены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Анализ средних платежей по когортам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41613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Loyal MAU/DAU/WAU</a:t>
                      </a:r>
                      <a:endParaRPr lang="ru-RU" sz="2000" b="1" dirty="0">
                        <a:solidFill>
                          <a:srgbClr val="666633"/>
                        </a:solidFill>
                        <a:latin typeface="Sylfaen" panose="010A050205030603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ru-RU" dirty="0"/>
                        <a:t>Операционная отчетность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40560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666633"/>
                          </a:solidFill>
                          <a:latin typeface="Sylfaen" panose="010A0502050306030303" pitchFamily="18" charset="0"/>
                        </a:rPr>
                        <a:t>Выводы</a:t>
                      </a:r>
                    </a:p>
                    <a:p>
                      <a:endParaRPr lang="ru-RU" sz="2000" b="1" dirty="0">
                        <a:solidFill>
                          <a:srgbClr val="666633"/>
                        </a:solidFill>
                        <a:latin typeface="Sylfaen" panose="010A050205030603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837463"/>
                  </a:ext>
                </a:extLst>
              </a:tr>
            </a:tbl>
          </a:graphicData>
        </a:graphic>
      </p:graphicFrame>
      <p:pic>
        <p:nvPicPr>
          <p:cNvPr id="37" name="Рисунок 36" descr="Квадратная академическая шапочка со сплошной заливкой">
            <a:extLst>
              <a:ext uri="{FF2B5EF4-FFF2-40B4-BE49-F238E27FC236}">
                <a16:creationId xmlns:a16="http://schemas.microsoft.com/office/drawing/2014/main" id="{67724652-D1B6-49FF-B2A4-D39B93E430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237568" y="209582"/>
            <a:ext cx="550105" cy="5501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9882744" y="630985"/>
            <a:ext cx="2044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solidFill>
                  <a:srgbClr val="71215C"/>
                </a:solidFill>
                <a:latin typeface="Sylfaen" panose="010A0502050306030303" pitchFamily="18" charset="0"/>
              </a:rPr>
              <a:t>Skypro</a:t>
            </a:r>
            <a:endParaRPr lang="ru-RU" sz="1300" b="1" dirty="0">
              <a:solidFill>
                <a:srgbClr val="71215C"/>
              </a:solidFill>
              <a:latin typeface="Sylfaen" panose="010A050205030603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9968710" y="6343271"/>
            <a:ext cx="20442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300" b="1" dirty="0">
                <a:solidFill>
                  <a:srgbClr val="71215C"/>
                </a:solidFill>
                <a:latin typeface="Sylfaen" panose="010A0502050306030303" pitchFamily="18" charset="0"/>
              </a:rPr>
              <a:t>Ноябрь 2025 г.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E3FDD99-D9F7-4B48-9D08-ED001B7E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78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1158360"/>
            <a:ext cx="1072745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85650" y="313003"/>
            <a:ext cx="95848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пользовательской базы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4895861"/>
            <a:ext cx="108207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A73C51-FB88-4F94-AE04-822D32E7DD97}"/>
              </a:ext>
            </a:extLst>
          </p:cNvPr>
          <p:cNvSpPr txBox="1"/>
          <p:nvPr/>
        </p:nvSpPr>
        <p:spPr>
          <a:xfrm>
            <a:off x="802105" y="5064110"/>
            <a:ext cx="107042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Всего 3 078 игроков (с одной регистрацией).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регистрация  - 01.0</a:t>
            </a:r>
            <a:r>
              <a:rPr lang="en-US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.2022 г., крайняя – 30.03.2023 г.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Пользовательская база с течением времени растет.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 количество пользователей наблюдается в марте 2023 г.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5A649C1-036D-413C-805F-97D3BE4B7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786764"/>
              </p:ext>
            </p:extLst>
          </p:nvPr>
        </p:nvGraphicFramePr>
        <p:xfrm>
          <a:off x="1100944" y="2052870"/>
          <a:ext cx="2420854" cy="2434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632">
                  <a:extLst>
                    <a:ext uri="{9D8B030D-6E8A-4147-A177-3AD203B41FA5}">
                      <a16:colId xmlns:a16="http://schemas.microsoft.com/office/drawing/2014/main" val="1371387291"/>
                    </a:ext>
                  </a:extLst>
                </a:gridCol>
                <a:gridCol w="1340222">
                  <a:extLst>
                    <a:ext uri="{9D8B030D-6E8A-4147-A177-3AD203B41FA5}">
                      <a16:colId xmlns:a16="http://schemas.microsoft.com/office/drawing/2014/main" val="2363463454"/>
                    </a:ext>
                  </a:extLst>
                </a:gridCol>
              </a:tblGrid>
              <a:tr h="382756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 smtClean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Месяц (период)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Количество пользователей, чел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0357758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01.07.2022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6102479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01.08.2022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9710520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01.09.2022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5126416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01.10.2022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0386759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01.11.2022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3394086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01.12.2022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9468457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01.01.2023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415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048850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01.02.2023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458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6758425"/>
                  </a:ext>
                </a:extLst>
              </a:tr>
              <a:tr h="228011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01.03.2023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681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1102488"/>
                  </a:ext>
                </a:extLst>
              </a:tr>
            </a:tbl>
          </a:graphicData>
        </a:graphic>
      </p:graphicFrame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2610681"/>
              </p:ext>
            </p:extLst>
          </p:nvPr>
        </p:nvGraphicFramePr>
        <p:xfrm>
          <a:off x="4658518" y="1158359"/>
          <a:ext cx="6441282" cy="342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5EB53D-674B-4B8C-8584-D55F9BE224F8}"/>
              </a:ext>
            </a:extLst>
          </p:cNvPr>
          <p:cNvSpPr txBox="1"/>
          <p:nvPr/>
        </p:nvSpPr>
        <p:spPr>
          <a:xfrm>
            <a:off x="552919" y="1238291"/>
            <a:ext cx="3777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пользователей </a:t>
            </a:r>
          </a:p>
          <a:p>
            <a:pPr algn="ctr"/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разрезе по месяцам регистрации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817A53-FFED-44D9-B446-B0BA63A8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78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108978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85651" y="316985"/>
            <a:ext cx="9982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«Вирусность»</a:t>
            </a:r>
            <a:r>
              <a:rPr lang="en-US" sz="3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 </a:t>
            </a:r>
            <a:r>
              <a:rPr lang="ru-RU" sz="3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игры и прогноз размера когорты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604941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1BDAFB-7533-48D6-95D4-45721C3D5DB9}"/>
              </a:ext>
            </a:extLst>
          </p:cNvPr>
          <p:cNvSpPr txBox="1"/>
          <p:nvPr/>
        </p:nvSpPr>
        <p:spPr>
          <a:xfrm>
            <a:off x="713103" y="1062035"/>
            <a:ext cx="327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уникальных пользователей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C4F4BA-34F2-4B85-B526-889BC11D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6310" y="6339427"/>
            <a:ext cx="2743200" cy="365125"/>
          </a:xfrm>
        </p:spPr>
        <p:txBody>
          <a:bodyPr/>
          <a:lstStyle/>
          <a:p>
            <a:fld id="{802A4121-6301-4835-BA69-AC75EE1BE7E1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B39151C-5198-436D-8BFC-342FEEB96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085022"/>
              </p:ext>
            </p:extLst>
          </p:nvPr>
        </p:nvGraphicFramePr>
        <p:xfrm>
          <a:off x="793091" y="1630885"/>
          <a:ext cx="3110695" cy="2537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436">
                  <a:extLst>
                    <a:ext uri="{9D8B030D-6E8A-4147-A177-3AD203B41FA5}">
                      <a16:colId xmlns:a16="http://schemas.microsoft.com/office/drawing/2014/main" val="399085360"/>
                    </a:ext>
                  </a:extLst>
                </a:gridCol>
                <a:gridCol w="1113576">
                  <a:extLst>
                    <a:ext uri="{9D8B030D-6E8A-4147-A177-3AD203B41FA5}">
                      <a16:colId xmlns:a16="http://schemas.microsoft.com/office/drawing/2014/main" val="1176299378"/>
                    </a:ext>
                  </a:extLst>
                </a:gridCol>
                <a:gridCol w="1131683">
                  <a:extLst>
                    <a:ext uri="{9D8B030D-6E8A-4147-A177-3AD203B41FA5}">
                      <a16:colId xmlns:a16="http://schemas.microsoft.com/office/drawing/2014/main" val="390567909"/>
                    </a:ext>
                  </a:extLst>
                </a:gridCol>
              </a:tblGrid>
              <a:tr h="2063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Когорта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Количество пользователей, чел.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u="none" strike="noStrike" dirty="0" smtClean="0">
                          <a:effectLst/>
                        </a:rPr>
                        <a:t>Среднее количество пользователей, чел.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7232215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01.07.2022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259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7221013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01.08.2022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235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5504061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01.09.2022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257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9205744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01.10.2022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263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0134253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01.11.2022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255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9941311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01.12.2022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255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6006288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01.01.2023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9265390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01.02.2023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458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342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5731345"/>
                  </a:ext>
                </a:extLst>
              </a:tr>
              <a:tr h="206359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01.03.2023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681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342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9954948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5242EC3-7DA3-45CB-9F9F-8D53FDB8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75443"/>
              </p:ext>
            </p:extLst>
          </p:nvPr>
        </p:nvGraphicFramePr>
        <p:xfrm>
          <a:off x="803015" y="4295324"/>
          <a:ext cx="3090846" cy="7167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8057">
                  <a:extLst>
                    <a:ext uri="{9D8B030D-6E8A-4147-A177-3AD203B41FA5}">
                      <a16:colId xmlns:a16="http://schemas.microsoft.com/office/drawing/2014/main" val="1786299037"/>
                    </a:ext>
                  </a:extLst>
                </a:gridCol>
                <a:gridCol w="1077362">
                  <a:extLst>
                    <a:ext uri="{9D8B030D-6E8A-4147-A177-3AD203B41FA5}">
                      <a16:colId xmlns:a16="http://schemas.microsoft.com/office/drawing/2014/main" val="69133331"/>
                    </a:ext>
                  </a:extLst>
                </a:gridCol>
                <a:gridCol w="855427">
                  <a:extLst>
                    <a:ext uri="{9D8B030D-6E8A-4147-A177-3AD203B41FA5}">
                      <a16:colId xmlns:a16="http://schemas.microsoft.com/office/drawing/2014/main" val="4093122650"/>
                    </a:ext>
                  </a:extLst>
                </a:gridCol>
              </a:tblGrid>
              <a:tr h="20431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Количество регистрации по приглашению,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шт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Количество пользователей всего, чел.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err="1">
                          <a:effectLst/>
                        </a:rPr>
                        <a:t>k_fa</a:t>
                      </a:r>
                      <a:r>
                        <a:rPr lang="ru-RU" sz="1100" b="1" u="none" strike="noStrike" dirty="0">
                          <a:effectLst/>
                        </a:rPr>
                        <a:t>с</a:t>
                      </a:r>
                      <a:r>
                        <a:rPr lang="en-US" sz="1100" b="1" u="none" strike="noStrike" dirty="0">
                          <a:effectLst/>
                        </a:rPr>
                        <a:t>tor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276748"/>
                  </a:ext>
                </a:extLst>
              </a:tr>
              <a:tr h="204311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2834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3078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u="none" strike="noStrike" dirty="0">
                          <a:effectLst/>
                        </a:rPr>
                        <a:t>0,92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73209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F8D8D08-5D14-4CD3-9F1B-81B7E3A2F795}"/>
              </a:ext>
            </a:extLst>
          </p:cNvPr>
          <p:cNvSpPr txBox="1"/>
          <p:nvPr/>
        </p:nvSpPr>
        <p:spPr>
          <a:xfrm>
            <a:off x="651755" y="5125699"/>
            <a:ext cx="1088849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Прогнозный объем когорты с учетом “</a:t>
            </a:r>
            <a:r>
              <a:rPr lang="ru-RU" b="1" dirty="0" err="1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вирусности</a:t>
            </a:r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игры </a:t>
            </a:r>
          </a:p>
          <a:p>
            <a:pPr algn="ctr"/>
            <a:endParaRPr lang="ru-RU" sz="1400" dirty="0">
              <a:solidFill>
                <a:srgbClr val="5251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K-factor * </a:t>
            </a:r>
            <a:r>
              <a:rPr lang="en-US" sz="1600" b="1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avg_cnt_user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0,92 * 342 = 314.89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33339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7A2647-48EA-4ECC-9F76-250E99814607}"/>
              </a:ext>
            </a:extLst>
          </p:cNvPr>
          <p:cNvSpPr txBox="1"/>
          <p:nvPr/>
        </p:nvSpPr>
        <p:spPr>
          <a:xfrm>
            <a:off x="983522" y="6207709"/>
            <a:ext cx="968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Текущая клиентская база за счет приглашений может составлять в среднем 315 человек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17624605-33FA-493A-84C4-FCD5F7FC0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20588"/>
              </p:ext>
            </p:extLst>
          </p:nvPr>
        </p:nvGraphicFramePr>
        <p:xfrm>
          <a:off x="4809996" y="1286648"/>
          <a:ext cx="6696354" cy="3549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902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106692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18699" y="321471"/>
            <a:ext cx="65508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игровых сессий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6489" y="5039974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9A21A2-6050-40E4-8CD2-F2319519FFEA}"/>
              </a:ext>
            </a:extLst>
          </p:cNvPr>
          <p:cNvSpPr txBox="1"/>
          <p:nvPr/>
        </p:nvSpPr>
        <p:spPr>
          <a:xfrm>
            <a:off x="618699" y="5075447"/>
            <a:ext cx="108884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игровых сессий в динамике растет.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марте 2023 года принимает максимальное значение.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игровых сессий свыше 5 минут со временем снижается.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декабре 2022 года общая просадка  количества всех сессий.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январе рост 2023 года начинается количества игровых сессий, но доля сессий свыше 5 минут снижается.</a:t>
            </a:r>
            <a:endParaRPr lang="ru-RU" sz="1600" dirty="0">
              <a:solidFill>
                <a:srgbClr val="333399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7DB7314-FEAE-49BE-9B50-96C31815F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926289"/>
              </p:ext>
            </p:extLst>
          </p:nvPr>
        </p:nvGraphicFramePr>
        <p:xfrm>
          <a:off x="618699" y="1945572"/>
          <a:ext cx="3619503" cy="2482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217">
                  <a:extLst>
                    <a:ext uri="{9D8B030D-6E8A-4147-A177-3AD203B41FA5}">
                      <a16:colId xmlns:a16="http://schemas.microsoft.com/office/drawing/2014/main" val="2296645581"/>
                    </a:ext>
                  </a:extLst>
                </a:gridCol>
                <a:gridCol w="976787">
                  <a:extLst>
                    <a:ext uri="{9D8B030D-6E8A-4147-A177-3AD203B41FA5}">
                      <a16:colId xmlns:a16="http://schemas.microsoft.com/office/drawing/2014/main" val="2909757178"/>
                    </a:ext>
                  </a:extLst>
                </a:gridCol>
                <a:gridCol w="905347">
                  <a:extLst>
                    <a:ext uri="{9D8B030D-6E8A-4147-A177-3AD203B41FA5}">
                      <a16:colId xmlns:a16="http://schemas.microsoft.com/office/drawing/2014/main" val="1745169661"/>
                    </a:ext>
                  </a:extLst>
                </a:gridCol>
                <a:gridCol w="843152">
                  <a:extLst>
                    <a:ext uri="{9D8B030D-6E8A-4147-A177-3AD203B41FA5}">
                      <a16:colId xmlns:a16="http://schemas.microsoft.com/office/drawing/2014/main" val="3450303907"/>
                    </a:ext>
                  </a:extLst>
                </a:gridCol>
              </a:tblGrid>
              <a:tr h="19705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Месяц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Количество</a:t>
                      </a:r>
                      <a:r>
                        <a:rPr lang="ru-RU" sz="110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игровых сессий всего, шт.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121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Количество</a:t>
                      </a:r>
                      <a:r>
                        <a:rPr lang="ru-RU" sz="110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сессий свыше 5 минут, шт.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Доля сессий свыше 5 минут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89170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01.07.2022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1203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919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0,76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3107948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01.08.2022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2209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1707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133228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01.09.2022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2233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1715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8031273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01.10.2022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2332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1809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0,78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9850787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01.11.2022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1688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1253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1004475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01.12.2022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935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612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0,65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03758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01.01.2023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2426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1775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0925134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01.02.2023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3383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2429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0,72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6043336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01.03.2023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5779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3895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0,67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266956"/>
                  </a:ext>
                </a:extLst>
              </a:tr>
              <a:tr h="197052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01.04.2023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4973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3243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0,65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48457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1BDAFB-7533-48D6-95D4-45721C3D5DB9}"/>
              </a:ext>
            </a:extLst>
          </p:cNvPr>
          <p:cNvSpPr txBox="1"/>
          <p:nvPr/>
        </p:nvSpPr>
        <p:spPr>
          <a:xfrm>
            <a:off x="793113" y="1161621"/>
            <a:ext cx="3270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игровых </a:t>
            </a:r>
          </a:p>
          <a:p>
            <a:pPr algn="ctr"/>
            <a:r>
              <a:rPr lang="ru-RU" sz="20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сессий по месяцам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C4F4BA-34F2-4B85-B526-889BC11D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015702"/>
              </p:ext>
            </p:extLst>
          </p:nvPr>
        </p:nvGraphicFramePr>
        <p:xfrm>
          <a:off x="4522124" y="1252825"/>
          <a:ext cx="7116851" cy="382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223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115836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50002" y="312513"/>
            <a:ext cx="69395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Длительность игровых сессий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74147" y="515623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DB60B6-71DA-44F0-9452-B9FAC2A0F398}"/>
              </a:ext>
            </a:extLst>
          </p:cNvPr>
          <p:cNvSpPr txBox="1"/>
          <p:nvPr/>
        </p:nvSpPr>
        <p:spPr>
          <a:xfrm>
            <a:off x="1132112" y="5201146"/>
            <a:ext cx="3698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длительность игровых сессий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увеличивается в декабре 2022 г.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резко возрастает в марте 2023 г.</a:t>
            </a:r>
            <a:endParaRPr lang="ru-RU" sz="1400" dirty="0">
              <a:solidFill>
                <a:srgbClr val="5251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A375249-DDDA-44EA-A316-9885C58C8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940760"/>
              </p:ext>
            </p:extLst>
          </p:nvPr>
        </p:nvGraphicFramePr>
        <p:xfrm>
          <a:off x="911570" y="1876275"/>
          <a:ext cx="3208191" cy="2756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1716">
                  <a:extLst>
                    <a:ext uri="{9D8B030D-6E8A-4147-A177-3AD203B41FA5}">
                      <a16:colId xmlns:a16="http://schemas.microsoft.com/office/drawing/2014/main" val="448042469"/>
                    </a:ext>
                  </a:extLst>
                </a:gridCol>
                <a:gridCol w="1181273">
                  <a:extLst>
                    <a:ext uri="{9D8B030D-6E8A-4147-A177-3AD203B41FA5}">
                      <a16:colId xmlns:a16="http://schemas.microsoft.com/office/drawing/2014/main" val="3290798"/>
                    </a:ext>
                  </a:extLst>
                </a:gridCol>
                <a:gridCol w="1095202">
                  <a:extLst>
                    <a:ext uri="{9D8B030D-6E8A-4147-A177-3AD203B41FA5}">
                      <a16:colId xmlns:a16="http://schemas.microsoft.com/office/drawing/2014/main" val="1377620600"/>
                    </a:ext>
                  </a:extLst>
                </a:gridCol>
              </a:tblGrid>
              <a:tr h="23808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 smtClean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Месяц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Средняя длительность, ч.</a:t>
                      </a:r>
                      <a:endParaRPr lang="ru-RU" sz="120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7121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Доля сессий свыше 1</a:t>
                      </a:r>
                      <a:r>
                        <a:rPr lang="ru-RU" sz="120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часа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142248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01.07.2022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2,218825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0,668118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0968577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01.08.2022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2,323033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0,692443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226740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01.09.2022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2,276093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0,691545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4015161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01.10.2022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2,371504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0,684356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3021562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01.11.2022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2,516347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0,636073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7407903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01.12.2022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2,731182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0,563725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6260574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01.01.2023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2,399878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0,650141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5563080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01.02.2023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2,289543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0,669411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7806604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01.03.2023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5,535978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0,642619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4777854"/>
                  </a:ext>
                </a:extLst>
              </a:tr>
              <a:tr h="238089"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01.04.2023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2,334377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0,700278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68987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29D916-C9D7-4C1D-8EB8-9D9E8332606E}"/>
              </a:ext>
            </a:extLst>
          </p:cNvPr>
          <p:cNvSpPr txBox="1"/>
          <p:nvPr/>
        </p:nvSpPr>
        <p:spPr>
          <a:xfrm>
            <a:off x="268110" y="1158360"/>
            <a:ext cx="4562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</a:t>
            </a:r>
            <a:r>
              <a:rPr lang="ru-RU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лительность игровых </a:t>
            </a:r>
          </a:p>
          <a:p>
            <a:pPr algn="ctr"/>
            <a:r>
              <a:rPr lang="ru-RU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сессий и </a:t>
            </a:r>
            <a:r>
              <a:rPr lang="ru-RU" sz="1800" b="1" i="0" u="none" strike="noStrike" baseline="0" dirty="0">
                <a:solidFill>
                  <a:srgbClr val="7121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доли сессий свыше 1 часа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734FC-BD3E-4298-9455-6DE497B67889}"/>
              </a:ext>
            </a:extLst>
          </p:cNvPr>
          <p:cNvSpPr txBox="1"/>
          <p:nvPr/>
        </p:nvSpPr>
        <p:spPr>
          <a:xfrm>
            <a:off x="6373633" y="5201146"/>
            <a:ext cx="5042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сессий длительностью свыше 1 часа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снижение в декабре 2022г.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снижение в марте 2023г.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94EFD7-88C7-4171-B640-2CF442EB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00000000-0008-0000-02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2140506"/>
              </p:ext>
            </p:extLst>
          </p:nvPr>
        </p:nvGraphicFramePr>
        <p:xfrm>
          <a:off x="5146011" y="1135327"/>
          <a:ext cx="6270211" cy="398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574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971037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05639" y="274591"/>
            <a:ext cx="6042811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Маркетинговая аналитика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74147" y="5356915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61DBA82F-2520-4612-B49A-AD6D15DD4D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869576"/>
              </p:ext>
            </p:extLst>
          </p:nvPr>
        </p:nvGraphicFramePr>
        <p:xfrm>
          <a:off x="440576" y="1027899"/>
          <a:ext cx="11054272" cy="422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D914AA6-2E21-44C4-90E2-B0646E489FD4}"/>
              </a:ext>
            </a:extLst>
          </p:cNvPr>
          <p:cNvSpPr txBox="1"/>
          <p:nvPr/>
        </p:nvSpPr>
        <p:spPr>
          <a:xfrm>
            <a:off x="605639" y="5403088"/>
            <a:ext cx="109582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MAU, WAU, DAU  в 2022 году практически не меняются.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января 2023 г. рост всех 3-х показателей.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маркетинговой акции, проведенной в первые 3 недели марта 2023г. (чем чаще игрок заходил в игру, тем больше получал бесплатных кристаллов) наблюдается значительный рост MAU, WAU, DAU 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632300-40EA-4188-A762-6D981B10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05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59459" y="85904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511380" y="268817"/>
            <a:ext cx="57941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Маркетинговая аналитика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95523" y="5721638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BA955F-75B7-4171-9357-B280F051C5BC}"/>
              </a:ext>
            </a:extLst>
          </p:cNvPr>
          <p:cNvSpPr txBox="1"/>
          <p:nvPr/>
        </p:nvSpPr>
        <p:spPr>
          <a:xfrm>
            <a:off x="437028" y="5824546"/>
            <a:ext cx="11242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активных пользователей</a:t>
            </a:r>
            <a:r>
              <a:rPr lang="en-US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ticky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возвращающихся к игре ежедневно, в марте 2023г. увеличивается и становится более стабильной</a:t>
            </a:r>
            <a:r>
              <a:rPr lang="ru-RU" sz="14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CF1BFA2A-561C-401B-87FB-C938ADED6E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770629"/>
              </p:ext>
            </p:extLst>
          </p:nvPr>
        </p:nvGraphicFramePr>
        <p:xfrm>
          <a:off x="384613" y="775441"/>
          <a:ext cx="11419465" cy="4843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229EF0-0AE5-4990-9A95-FAB79619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41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42784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474904" y="5145137"/>
            <a:ext cx="1081201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63ECCD-859F-4BC5-A2FF-0AE027FA7481}"/>
              </a:ext>
            </a:extLst>
          </p:cNvPr>
          <p:cNvSpPr txBox="1"/>
          <p:nvPr/>
        </p:nvSpPr>
        <p:spPr>
          <a:xfrm>
            <a:off x="710622" y="199541"/>
            <a:ext cx="95535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Аналитика активности пользователей 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48BEAA2D-F7C5-4A6D-BD04-CAA7C3F56F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4036188"/>
              </p:ext>
            </p:extLst>
          </p:nvPr>
        </p:nvGraphicFramePr>
        <p:xfrm>
          <a:off x="432447" y="1019168"/>
          <a:ext cx="5620048" cy="3891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088204-AA20-4F16-B419-5381028B1050}"/>
              </a:ext>
            </a:extLst>
          </p:cNvPr>
          <p:cNvSpPr txBox="1"/>
          <p:nvPr/>
        </p:nvSpPr>
        <p:spPr>
          <a:xfrm>
            <a:off x="474904" y="5321521"/>
            <a:ext cx="55287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Суммарная длительность сессий самого вовлечённого игрока 2022 года равна 162,55 часа</a:t>
            </a:r>
            <a:r>
              <a:rPr lang="ru-RU" sz="14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4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 «битых» сессий)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76F710-D497-48B1-98B4-057094BA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8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9F2F1-9FC7-432F-8FB2-6C0D9B8405C6}"/>
              </a:ext>
            </a:extLst>
          </p:cNvPr>
          <p:cNvSpPr txBox="1"/>
          <p:nvPr/>
        </p:nvSpPr>
        <p:spPr>
          <a:xfrm>
            <a:off x="5825069" y="5348969"/>
            <a:ext cx="55287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ноябре и декабре 2022 года из-за более дорогой и таргетированной рекламы  приобрели более «лояльных» игроков, которые больше времени посвящают нашей игре.</a:t>
            </a:r>
            <a:endParaRPr lang="ru-RU" sz="1400" dirty="0">
              <a:solidFill>
                <a:srgbClr val="5251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E36AC-0DCE-42FC-95A0-0E1ED6AAD44A}"/>
              </a:ext>
            </a:extLst>
          </p:cNvPr>
          <p:cNvSpPr txBox="1"/>
          <p:nvPr/>
        </p:nvSpPr>
        <p:spPr>
          <a:xfrm>
            <a:off x="6052495" y="829910"/>
            <a:ext cx="53911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71215C"/>
                </a:solidFill>
                <a:latin typeface="Sylfaen" panose="010A0502050306030303" pitchFamily="18" charset="0"/>
              </a:rPr>
              <a:t>Валидация новой стратегии привлечения игроков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ECF9565-EB18-486B-9E4F-374398EF0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24978"/>
              </p:ext>
            </p:extLst>
          </p:nvPr>
        </p:nvGraphicFramePr>
        <p:xfrm>
          <a:off x="6862527" y="3837015"/>
          <a:ext cx="4324940" cy="10620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8823">
                  <a:extLst>
                    <a:ext uri="{9D8B030D-6E8A-4147-A177-3AD203B41FA5}">
                      <a16:colId xmlns:a16="http://schemas.microsoft.com/office/drawing/2014/main" val="779330375"/>
                    </a:ext>
                  </a:extLst>
                </a:gridCol>
                <a:gridCol w="2196117">
                  <a:extLst>
                    <a:ext uri="{9D8B030D-6E8A-4147-A177-3AD203B41FA5}">
                      <a16:colId xmlns:a16="http://schemas.microsoft.com/office/drawing/2014/main" val="77324516"/>
                    </a:ext>
                  </a:extLst>
                </a:gridCol>
              </a:tblGrid>
              <a:tr h="39396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dirty="0" smtClean="0">
                          <a:effectLst/>
                        </a:rPr>
                        <a:t>Когорта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dirty="0" smtClean="0">
                          <a:effectLst/>
                        </a:rPr>
                        <a:t>Средняя длительность сессии, мин</a:t>
                      </a:r>
                      <a:endParaRPr lang="ru-RU" sz="1200" b="1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1291776"/>
                  </a:ext>
                </a:extLst>
              </a:tr>
              <a:tr h="33402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CC6600"/>
                          </a:highlight>
                        </a:rPr>
                        <a:t>Ноябрь-декабрь</a:t>
                      </a:r>
                      <a:r>
                        <a:rPr lang="en-US" sz="1200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CC6600"/>
                          </a:highlight>
                        </a:rPr>
                        <a:t>_2022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CC66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</a:rPr>
                        <a:t>217,14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1022434"/>
                  </a:ext>
                </a:extLst>
              </a:tr>
              <a:tr h="33402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 smtClean="0">
                          <a:solidFill>
                            <a:schemeClr val="bg1"/>
                          </a:solidFill>
                          <a:effectLst/>
                          <a:highlight>
                            <a:srgbClr val="71215C"/>
                          </a:highlight>
                        </a:rPr>
                        <a:t>Другие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71215C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1215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effectLst/>
                        </a:rPr>
                        <a:t>177,06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666157"/>
                  </a:ext>
                </a:extLst>
              </a:tr>
            </a:tbl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A6974569-F365-444C-B1CA-C46D7EB4B2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727875"/>
              </p:ext>
            </p:extLst>
          </p:nvPr>
        </p:nvGraphicFramePr>
        <p:xfrm>
          <a:off x="6622835" y="1609961"/>
          <a:ext cx="4664079" cy="2050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778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457802" y="95978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36537" y="237066"/>
            <a:ext cx="69453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Чистота данных (</a:t>
            </a:r>
            <a:r>
              <a:rPr lang="en-US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Data Quality)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6490" y="561933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223CC-F3D4-42D2-98B7-85ABCE39CC18}"/>
              </a:ext>
            </a:extLst>
          </p:cNvPr>
          <p:cNvSpPr txBox="1"/>
          <p:nvPr/>
        </p:nvSpPr>
        <p:spPr>
          <a:xfrm>
            <a:off x="686489" y="5644032"/>
            <a:ext cx="10748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«Битые» сессии – сессии с не заполненным полем 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600" dirty="0" err="1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end_session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600" dirty="0">
              <a:solidFill>
                <a:srgbClr val="5251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Почти все проблемные записи поступают 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операционно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 системы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E64BD7A-39CF-4CF6-B3CE-A5AEB06A1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714314"/>
              </p:ext>
            </p:extLst>
          </p:nvPr>
        </p:nvGraphicFramePr>
        <p:xfrm>
          <a:off x="457802" y="1215042"/>
          <a:ext cx="4771176" cy="1089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989">
                  <a:extLst>
                    <a:ext uri="{9D8B030D-6E8A-4147-A177-3AD203B41FA5}">
                      <a16:colId xmlns:a16="http://schemas.microsoft.com/office/drawing/2014/main" val="3095182852"/>
                    </a:ext>
                  </a:extLst>
                </a:gridCol>
                <a:gridCol w="760491">
                  <a:extLst>
                    <a:ext uri="{9D8B030D-6E8A-4147-A177-3AD203B41FA5}">
                      <a16:colId xmlns:a16="http://schemas.microsoft.com/office/drawing/2014/main" val="23328089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932148466"/>
                    </a:ext>
                  </a:extLst>
                </a:gridCol>
                <a:gridCol w="1196600">
                  <a:extLst>
                    <a:ext uri="{9D8B030D-6E8A-4147-A177-3AD203B41FA5}">
                      <a16:colId xmlns:a16="http://schemas.microsoft.com/office/drawing/2014/main" val="3632526574"/>
                    </a:ext>
                  </a:extLst>
                </a:gridCol>
                <a:gridCol w="1066766">
                  <a:extLst>
                    <a:ext uri="{9D8B030D-6E8A-4147-A177-3AD203B41FA5}">
                      <a16:colId xmlns:a16="http://schemas.microsoft.com/office/drawing/2014/main" val="161343158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Имя операционной системы 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Кол-во сессий всего, шт.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Кол-во «битых» сессий, шт.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«битых» сессий от всего сессий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Процентное</a:t>
                      </a:r>
                      <a:r>
                        <a:rPr lang="ru-RU" sz="110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распределение </a:t>
                      </a:r>
                      <a:r>
                        <a:rPr lang="ru-RU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«битых» сессий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98239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all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27 161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3 262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0,12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4852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ios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16 773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3 184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0,19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30887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android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10 388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0,01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7726060"/>
                  </a:ext>
                </a:extLst>
              </a:tr>
            </a:tbl>
          </a:graphicData>
        </a:graphic>
      </p:graphicFrame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835231"/>
              </p:ext>
            </p:extLst>
          </p:nvPr>
        </p:nvGraphicFramePr>
        <p:xfrm>
          <a:off x="0" y="2726022"/>
          <a:ext cx="3371850" cy="258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3ED909-9E25-4976-8DC2-2BA6801B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5497245"/>
              </p:ext>
            </p:extLst>
          </p:nvPr>
        </p:nvGraphicFramePr>
        <p:xfrm>
          <a:off x="6220350" y="938874"/>
          <a:ext cx="5407353" cy="4456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5253971"/>
              </p:ext>
            </p:extLst>
          </p:nvPr>
        </p:nvGraphicFramePr>
        <p:xfrm>
          <a:off x="2953558" y="2750722"/>
          <a:ext cx="3266792" cy="2569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70911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92976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15662" y="262177"/>
            <a:ext cx="107662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динамики выручки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6490" y="527643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223CC-F3D4-42D2-98B7-85ABCE39CC18}"/>
              </a:ext>
            </a:extLst>
          </p:cNvPr>
          <p:cNvSpPr txBox="1"/>
          <p:nvPr/>
        </p:nvSpPr>
        <p:spPr>
          <a:xfrm>
            <a:off x="581714" y="5339232"/>
            <a:ext cx="11105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Наибольшую выручку приносят клиентские выплаты по типу продукта 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(валюта) </a:t>
            </a:r>
          </a:p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 в 2022 г. клиентские выплаты по всем типам игровых продуктов стабильные и не имеют значимых изменений. </a:t>
            </a:r>
          </a:p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 выручки начинается с января 2023 года и уже в марте достигает максимальных значений по продуктам 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Ammo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600" dirty="0" err="1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4AAB417-15AB-4AAC-A917-BDA04905A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614704"/>
              </p:ext>
            </p:extLst>
          </p:nvPr>
        </p:nvGraphicFramePr>
        <p:xfrm>
          <a:off x="526821" y="1878558"/>
          <a:ext cx="3987800" cy="22173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5603">
                  <a:extLst>
                    <a:ext uri="{9D8B030D-6E8A-4147-A177-3AD203B41FA5}">
                      <a16:colId xmlns:a16="http://schemas.microsoft.com/office/drawing/2014/main" val="638222580"/>
                    </a:ext>
                  </a:extLst>
                </a:gridCol>
                <a:gridCol w="675737">
                  <a:extLst>
                    <a:ext uri="{9D8B030D-6E8A-4147-A177-3AD203B41FA5}">
                      <a16:colId xmlns:a16="http://schemas.microsoft.com/office/drawing/2014/main" val="2574219772"/>
                    </a:ext>
                  </a:extLst>
                </a:gridCol>
                <a:gridCol w="609115">
                  <a:extLst>
                    <a:ext uri="{9D8B030D-6E8A-4147-A177-3AD203B41FA5}">
                      <a16:colId xmlns:a16="http://schemas.microsoft.com/office/drawing/2014/main" val="2662701775"/>
                    </a:ext>
                  </a:extLst>
                </a:gridCol>
                <a:gridCol w="609115">
                  <a:extLst>
                    <a:ext uri="{9D8B030D-6E8A-4147-A177-3AD203B41FA5}">
                      <a16:colId xmlns:a16="http://schemas.microsoft.com/office/drawing/2014/main" val="2091820287"/>
                    </a:ext>
                  </a:extLst>
                </a:gridCol>
                <a:gridCol w="609115">
                  <a:extLst>
                    <a:ext uri="{9D8B030D-6E8A-4147-A177-3AD203B41FA5}">
                      <a16:colId xmlns:a16="http://schemas.microsoft.com/office/drawing/2014/main" val="1373498812"/>
                    </a:ext>
                  </a:extLst>
                </a:gridCol>
                <a:gridCol w="609115">
                  <a:extLst>
                    <a:ext uri="{9D8B030D-6E8A-4147-A177-3AD203B41FA5}">
                      <a16:colId xmlns:a16="http://schemas.microsoft.com/office/drawing/2014/main" val="1854584867"/>
                    </a:ext>
                  </a:extLst>
                </a:gridCol>
              </a:tblGrid>
              <a:tr h="31238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Месяц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Ammo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Currency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Materials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Transport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Weapon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0549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01.07.2022 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11500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12930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14700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9485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798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4399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01.08.2022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14750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39170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11900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11681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1270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478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01.09.2022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18500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25580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21800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5291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2039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0977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01.10.2022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16250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31280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18800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9584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599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103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01.11.2022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22250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24580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20400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10782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6784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01.12.2022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11250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26730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18800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5691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609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8882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01.01.2023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31000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49300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27000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15374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4064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8712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01.02.2023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32500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45180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30200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15374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1258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8106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01.03.2023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49000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106440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46500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13578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3670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34247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01.04.2023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16750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39800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26500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10281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1669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6013824"/>
                  </a:ext>
                </a:extLst>
              </a:tr>
            </a:tbl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884670"/>
              </p:ext>
            </p:extLst>
          </p:nvPr>
        </p:nvGraphicFramePr>
        <p:xfrm>
          <a:off x="4906978" y="1111342"/>
          <a:ext cx="6755025" cy="398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DF6899-48B5-4AD4-AC6A-8664038D7F58}"/>
              </a:ext>
            </a:extLst>
          </p:cNvPr>
          <p:cNvSpPr txBox="1"/>
          <p:nvPr/>
        </p:nvSpPr>
        <p:spPr>
          <a:xfrm>
            <a:off x="444271" y="1169427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Выручка </a:t>
            </a:r>
            <a:endParaRPr lang="ru-RU" sz="1800" b="1" dirty="0" smtClean="0">
              <a:solidFill>
                <a:srgbClr val="71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b="1" dirty="0" smtClean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типам игрового продукта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9E784F-5F64-4C75-A03C-92765AA4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80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8213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647962" y="198692"/>
            <a:ext cx="107662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повышения цены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6490" y="577173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756562B-9BC3-4017-AD9E-64F794563A5B}"/>
              </a:ext>
            </a:extLst>
          </p:cNvPr>
          <p:cNvSpPr txBox="1"/>
          <p:nvPr/>
        </p:nvSpPr>
        <p:spPr>
          <a:xfrm>
            <a:off x="686490" y="5871743"/>
            <a:ext cx="1085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стоимости кристалла в январе 2023 года привело к снижению количества их приобретения и небольшому росту объема клиентских выплат по ним в январе. То есть акция позитивно повлияла на выручку.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C4167E3-2D5C-476A-8D91-80EF651E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66448"/>
              </p:ext>
            </p:extLst>
          </p:nvPr>
        </p:nvGraphicFramePr>
        <p:xfrm>
          <a:off x="790574" y="1905000"/>
          <a:ext cx="2676525" cy="2268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451">
                  <a:extLst>
                    <a:ext uri="{9D8B030D-6E8A-4147-A177-3AD203B41FA5}">
                      <a16:colId xmlns:a16="http://schemas.microsoft.com/office/drawing/2014/main" val="891865326"/>
                    </a:ext>
                  </a:extLst>
                </a:gridCol>
                <a:gridCol w="966018">
                  <a:extLst>
                    <a:ext uri="{9D8B030D-6E8A-4147-A177-3AD203B41FA5}">
                      <a16:colId xmlns:a16="http://schemas.microsoft.com/office/drawing/2014/main" val="4107257534"/>
                    </a:ext>
                  </a:extLst>
                </a:gridCol>
                <a:gridCol w="777056">
                  <a:extLst>
                    <a:ext uri="{9D8B030D-6E8A-4147-A177-3AD203B41FA5}">
                      <a16:colId xmlns:a16="http://schemas.microsoft.com/office/drawing/2014/main" val="159693935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effectLst/>
                        </a:rPr>
                        <a:t>Месяц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Среднее количество,</a:t>
                      </a:r>
                      <a:r>
                        <a:rPr lang="ru-RU" sz="1100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шт.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121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Выручка, руб.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659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01.07.2022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4930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59024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01.08.2022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17170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59871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01.09.2022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12580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9072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01.10.2022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14280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766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01.11.2022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12580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31886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01.12.2022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11730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590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01.01.2023 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19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14300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2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159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01.02.2023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12980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18365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01.03.2023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37840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02050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01.04.2023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13200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2982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8E6B6C-F8EB-4211-9036-0BA033C8F117}"/>
              </a:ext>
            </a:extLst>
          </p:cNvPr>
          <p:cNvSpPr txBox="1"/>
          <p:nvPr/>
        </p:nvSpPr>
        <p:spPr>
          <a:xfrm>
            <a:off x="476249" y="1070402"/>
            <a:ext cx="2990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71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Выручка и среднее количество кристаллов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7A8A88-C215-407E-8AC2-908D8F97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4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547154"/>
              </p:ext>
            </p:extLst>
          </p:nvPr>
        </p:nvGraphicFramePr>
        <p:xfrm>
          <a:off x="3876675" y="971863"/>
          <a:ext cx="7630515" cy="4711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244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2498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86888" y="138352"/>
            <a:ext cx="112696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Анализ средних платежей по когортам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09777" y="5590120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2E6FF04-C280-4BA2-A64B-C6BE6589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555670"/>
              </p:ext>
            </p:extLst>
          </p:nvPr>
        </p:nvGraphicFramePr>
        <p:xfrm>
          <a:off x="476426" y="1029695"/>
          <a:ext cx="4228924" cy="2333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623">
                  <a:extLst>
                    <a:ext uri="{9D8B030D-6E8A-4147-A177-3AD203B41FA5}">
                      <a16:colId xmlns:a16="http://schemas.microsoft.com/office/drawing/2014/main" val="249978843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3069936583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585073922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171722301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121115830"/>
                    </a:ext>
                  </a:extLst>
                </a:gridCol>
                <a:gridCol w="923926">
                  <a:extLst>
                    <a:ext uri="{9D8B030D-6E8A-4147-A177-3AD203B41FA5}">
                      <a16:colId xmlns:a16="http://schemas.microsoft.com/office/drawing/2014/main" val="4116793158"/>
                    </a:ext>
                  </a:extLst>
                </a:gridCol>
              </a:tblGrid>
              <a:tr h="14426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effectLst/>
                        </a:rPr>
                        <a:t>Когорта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Количество пользователей, чел.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121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Выручка с когорты, руб.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LTV c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человека , руб.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LT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Средняя выручка с человека за месяц,</a:t>
                      </a:r>
                      <a:r>
                        <a:rPr lang="en-US" sz="10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ru-RU" sz="10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руб. </a:t>
                      </a:r>
                      <a:endParaRPr lang="ru-RU" sz="1000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623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01.07.2022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84 168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1185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119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2116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01.08.2022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65 006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855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95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04688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01.09.2022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82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86 312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1053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150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30019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01.10.2022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87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80 844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929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6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155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180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01.11.2022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 80 719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1048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5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210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8221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01.12.2022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83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  82 357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992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248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457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01.01.2023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127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129 700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1021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340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9239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01.02.2023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124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143 247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1155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578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16398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01.03.2023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219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effectLst/>
                        </a:rPr>
                        <a:t>    233 891  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1068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effectLst/>
                        </a:rPr>
                        <a:t>1068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82190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74B69F-969C-4E5A-A0CE-07C5143B1109}"/>
              </a:ext>
            </a:extLst>
          </p:cNvPr>
          <p:cNvSpPr txBox="1"/>
          <p:nvPr/>
        </p:nvSpPr>
        <p:spPr>
          <a:xfrm>
            <a:off x="426892" y="5628380"/>
            <a:ext cx="118194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выручка с человека за один месяц  по когортам растет, что говорит об улучшении самой игры.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этом, не все когорты одинаково «щедрые» на покупку игровых предметов.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Наибольшую  выручку дают игроки более «молодых» когорты  - январь, февраль, март 2023 года.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на эти группы пользователей необходимо направить маркетинговое воздействие в большей степени.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53DBE6B-4DBF-44A0-BB45-AFD79E33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5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475149"/>
              </p:ext>
            </p:extLst>
          </p:nvPr>
        </p:nvGraphicFramePr>
        <p:xfrm>
          <a:off x="4972050" y="958335"/>
          <a:ext cx="7029450" cy="4269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6411962"/>
              </p:ext>
            </p:extLst>
          </p:nvPr>
        </p:nvGraphicFramePr>
        <p:xfrm>
          <a:off x="486888" y="3495639"/>
          <a:ext cx="4218462" cy="2132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1946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9166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61158" y="238038"/>
            <a:ext cx="55118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Loyal MAU/DAU/WAU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765958" y="5260103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A0536BA-8099-49F6-A7FC-1667A70779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721585"/>
              </p:ext>
            </p:extLst>
          </p:nvPr>
        </p:nvGraphicFramePr>
        <p:xfrm>
          <a:off x="461158" y="915146"/>
          <a:ext cx="5015485" cy="4235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D27B1FA-9F3C-4145-BAF1-73F0C60B3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3449067"/>
              </p:ext>
            </p:extLst>
          </p:nvPr>
        </p:nvGraphicFramePr>
        <p:xfrm>
          <a:off x="6176308" y="891660"/>
          <a:ext cx="5443176" cy="4259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7BA6F8-D14E-49FA-9B77-ECBF422C35F3}"/>
              </a:ext>
            </a:extLst>
          </p:cNvPr>
          <p:cNvSpPr txBox="1"/>
          <p:nvPr/>
        </p:nvSpPr>
        <p:spPr>
          <a:xfrm>
            <a:off x="623577" y="5472031"/>
            <a:ext cx="1110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лояльности 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crit_invite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пользователь, пригласивший минимум троих друзей, из которых как минимум один зарегистрировался в игре.</a:t>
            </a:r>
          </a:p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лояльности 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crit_1000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пользователь, который заплатил суммарно больше 1000 рублей за всё время (не строго).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CB75168-44EC-42D1-9AC6-5112B80D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59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9166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539376" y="214552"/>
            <a:ext cx="5423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Loyal MAU/DAU/WAU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461158" y="5326777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6EC3739-A214-460C-BA95-A88D8D8C4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80257"/>
              </p:ext>
            </p:extLst>
          </p:nvPr>
        </p:nvGraphicFramePr>
        <p:xfrm>
          <a:off x="461158" y="950885"/>
          <a:ext cx="5423647" cy="4304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8504C5B2-3830-4B76-82CC-C5B345B4D0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137092"/>
              </p:ext>
            </p:extLst>
          </p:nvPr>
        </p:nvGraphicFramePr>
        <p:xfrm>
          <a:off x="6052495" y="940966"/>
          <a:ext cx="5476875" cy="432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96AA76-D062-40F3-9F3B-C8CC5E1D20BD}"/>
              </a:ext>
            </a:extLst>
          </p:cNvPr>
          <p:cNvSpPr txBox="1"/>
          <p:nvPr/>
        </p:nvSpPr>
        <p:spPr>
          <a:xfrm>
            <a:off x="581714" y="5415432"/>
            <a:ext cx="11105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лояльности 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crit_invite AND crit_1000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пользователь, пригласивший минимум троих друзей, из которых как минимум один зарегистрировался в игре 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заплативший суммарно больше 1000 рублей за всё время (не строго).</a:t>
            </a:r>
          </a:p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лояльности 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crit_invite AND crit_1000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пользователь, пригласивший минимум троих друзей, из которых как минимум один зарегистрировался в игре 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заплативший суммарно больше 1000 рублей за всё время (не строго).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A7C357-24AA-4365-A664-29A57C5E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8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91660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61159" y="238038"/>
            <a:ext cx="5782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Loyal MAU/DAU/WAU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43268" y="5386045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6EBD5C0A-DB3D-4B58-9740-3F2D9249CD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055113"/>
              </p:ext>
            </p:extLst>
          </p:nvPr>
        </p:nvGraphicFramePr>
        <p:xfrm>
          <a:off x="688767" y="1028700"/>
          <a:ext cx="10561123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C1EED5-8DAD-45D6-B27E-2504B8CC8062}"/>
              </a:ext>
            </a:extLst>
          </p:cNvPr>
          <p:cNvSpPr txBox="1"/>
          <p:nvPr/>
        </p:nvSpPr>
        <p:spPr>
          <a:xfrm>
            <a:off x="543268" y="5648774"/>
            <a:ext cx="1110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лояльности </a:t>
            </a:r>
            <a:r>
              <a:rPr lang="en-US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crit_TOP_100</a:t>
            </a:r>
            <a:r>
              <a:rPr lang="ru-RU" sz="1600" b="1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пользователь, который входит в топ-100 пользователей по средним выплатам за один месяц своей жизни.</a:t>
            </a:r>
          </a:p>
          <a:p>
            <a:pPr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Максимальный уровень средней выплаты за месяц – </a:t>
            </a:r>
            <a:r>
              <a:rPr lang="ru-RU" sz="1600" dirty="0" smtClean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5600 рублей.</a:t>
            </a:r>
            <a:endParaRPr lang="ru-RU" sz="1600" dirty="0">
              <a:solidFill>
                <a:srgbClr val="5251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5356C3-754F-413A-B1B3-F2A026AC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84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732272" y="106755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571225" y="390444"/>
            <a:ext cx="67863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Выводы</a:t>
            </a:r>
            <a:endParaRPr lang="en-US" sz="3800" b="1" dirty="0">
              <a:solidFill>
                <a:srgbClr val="5251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lfaen" panose="010A0502050306030303" pitchFamily="18" charset="0"/>
            </a:endParaRP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43268" y="5982564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65FAB6-5F7E-421E-9479-9E51CC9B8A3A}"/>
              </a:ext>
            </a:extLst>
          </p:cNvPr>
          <p:cNvSpPr txBox="1"/>
          <p:nvPr/>
        </p:nvSpPr>
        <p:spPr>
          <a:xfrm>
            <a:off x="732272" y="1128706"/>
            <a:ext cx="10494949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Пользовательская база игры растет благодаря маркетинговым кампаниям.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Текущая клиентская база за счет приглашений может составлять в среднем 315 человек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Маркетинговые акции в январе и марте 2023г. были необходимы, так как пользовательская и сессионная активности в 2022 году снижались.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выявлены проблемные моменты в данных, связанные с отсутствием информации об окончании сессии, которые необходимо устранить.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Увидели, что стимуляция игроков к покупке самого популярного игрового продукта в разы увеличили выручку  и пользовательскую базу.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Разбив пользователей на когорты, определили, что выручка увеличилась за счет «щедрых» игроков, зашедших в январе-марте 2023 года.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rgbClr val="525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Сегментировали месячных лояльных пользователей по разным критериям и увидели, что реакция на маркетинговые акции лояльного пользователя аналогична общему MAU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2B690C-E543-47D7-AB32-8A1FFDCE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795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23131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2204605" y="1687020"/>
            <a:ext cx="76346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БЛАГОДАРЮ</a:t>
            </a:r>
          </a:p>
          <a:p>
            <a:pPr algn="ctr"/>
            <a:r>
              <a:rPr lang="ru-RU" sz="6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 за </a:t>
            </a:r>
          </a:p>
          <a:p>
            <a:pPr algn="ctr"/>
            <a:r>
              <a:rPr lang="ru-RU" sz="6600" b="1" dirty="0">
                <a:solidFill>
                  <a:srgbClr val="5251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ВНИМАНИЕ!</a:t>
            </a:r>
            <a:endParaRPr lang="ru-RU" sz="3800" b="1" dirty="0">
              <a:solidFill>
                <a:srgbClr val="5251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lfaen" panose="010A0502050306030303" pitchFamily="18" charset="0"/>
            </a:endParaRP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42145" y="616630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 flipV="1">
            <a:off x="2584428" y="6553082"/>
            <a:ext cx="7254799" cy="19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 flipV="1">
            <a:off x="2585233" y="288833"/>
            <a:ext cx="6791325" cy="398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4" name="Рисунок 13" descr="Квадратная академическая шапочка со сплошной заливкой">
            <a:extLst>
              <a:ext uri="{FF2B5EF4-FFF2-40B4-BE49-F238E27FC236}">
                <a16:creationId xmlns:a16="http://schemas.microsoft.com/office/drawing/2014/main" id="{67724652-D1B6-49FF-B2A4-D39B93E430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30790" y="170649"/>
            <a:ext cx="550105" cy="5501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5146622" y="530115"/>
            <a:ext cx="11693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71215C"/>
                </a:solidFill>
                <a:latin typeface="Sylfaen" panose="010A0502050306030303" pitchFamily="18" charset="0"/>
              </a:rPr>
              <a:t>Skypro</a:t>
            </a:r>
            <a:endParaRPr lang="ru-RU" sz="1300" b="1" dirty="0">
              <a:solidFill>
                <a:srgbClr val="71215C"/>
              </a:solidFill>
              <a:latin typeface="Sylfaen" panose="010A050205030603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4814452" y="6213498"/>
            <a:ext cx="17827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b="1" dirty="0">
                <a:solidFill>
                  <a:srgbClr val="71215C"/>
                </a:solidFill>
                <a:latin typeface="Sylfaen" panose="010A0502050306030303" pitchFamily="18" charset="0"/>
              </a:rPr>
              <a:t>Ноябрь 2025 г.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2944A9A-AEB8-4122-A941-8D52CDB0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08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3814</TotalTime>
  <Words>1495</Words>
  <Application>Microsoft Office PowerPoint</Application>
  <PresentationFormat>Широкоэкранный</PresentationFormat>
  <Paragraphs>505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Sylfaen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Фунтов</dc:creator>
  <cp:lastModifiedBy>Валентин Криштопик</cp:lastModifiedBy>
  <cp:revision>237</cp:revision>
  <dcterms:created xsi:type="dcterms:W3CDTF">2025-07-19T07:40:26Z</dcterms:created>
  <dcterms:modified xsi:type="dcterms:W3CDTF">2025-11-06T11:35:40Z</dcterms:modified>
</cp:coreProperties>
</file>